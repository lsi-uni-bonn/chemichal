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1" r:id="rId3"/>
    <p:sldId id="259" r:id="rId4"/>
    <p:sldId id="256" r:id="rId5"/>
    <p:sldId id="258" r:id="rId6"/>
    <p:sldId id="257" r:id="rId7"/>
  </p:sldIdLst>
  <p:sldSz cx="51206400" cy="51206400"/>
  <p:notesSz cx="6799263" cy="99298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B4E5A2"/>
    <a:srgbClr val="A6CA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6723" autoAdjust="0"/>
  </p:normalViewPr>
  <p:slideViewPr>
    <p:cSldViewPr snapToGrid="0">
      <p:cViewPr>
        <p:scale>
          <a:sx n="10" d="100"/>
          <a:sy n="10" d="100"/>
        </p:scale>
        <p:origin x="3204" y="1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40480" y="8380311"/>
            <a:ext cx="43525440" cy="17827413"/>
          </a:xfrm>
        </p:spPr>
        <p:txBody>
          <a:bodyPr anchor="b"/>
          <a:lstStyle>
            <a:lvl1pPr algn="ctr">
              <a:defRPr sz="3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0" y="26895217"/>
            <a:ext cx="38404800" cy="12363023"/>
          </a:xfrm>
        </p:spPr>
        <p:txBody>
          <a:bodyPr/>
          <a:lstStyle>
            <a:lvl1pPr marL="0" indent="0" algn="ctr">
              <a:buNone/>
              <a:defRPr sz="13440"/>
            </a:lvl1pPr>
            <a:lvl2pPr marL="2560320" indent="0" algn="ctr">
              <a:buNone/>
              <a:defRPr sz="11200"/>
            </a:lvl2pPr>
            <a:lvl3pPr marL="5120640" indent="0" algn="ctr">
              <a:buNone/>
              <a:defRPr sz="10080"/>
            </a:lvl3pPr>
            <a:lvl4pPr marL="7680960" indent="0" algn="ctr">
              <a:buNone/>
              <a:defRPr sz="8960"/>
            </a:lvl4pPr>
            <a:lvl5pPr marL="10241280" indent="0" algn="ctr">
              <a:buNone/>
              <a:defRPr sz="8960"/>
            </a:lvl5pPr>
            <a:lvl6pPr marL="12801600" indent="0" algn="ctr">
              <a:buNone/>
              <a:defRPr sz="8960"/>
            </a:lvl6pPr>
            <a:lvl7pPr marL="15361920" indent="0" algn="ctr">
              <a:buNone/>
              <a:defRPr sz="8960"/>
            </a:lvl7pPr>
            <a:lvl8pPr marL="17922240" indent="0" algn="ctr">
              <a:buNone/>
              <a:defRPr sz="8960"/>
            </a:lvl8pPr>
            <a:lvl9pPr marL="20482560" indent="0" algn="ctr">
              <a:buNone/>
              <a:defRPr sz="89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7EBC-4893-4C67-8E48-D69CA160025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2BB52-6FE4-4B8A-9506-6D19CB7B1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1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7EBC-4893-4C67-8E48-D69CA160025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2BB52-6FE4-4B8A-9506-6D19CB7B1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078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3773" y="12766055"/>
            <a:ext cx="44165520" cy="21300436"/>
          </a:xfrm>
        </p:spPr>
        <p:txBody>
          <a:bodyPr anchor="b"/>
          <a:lstStyle>
            <a:lvl1pPr>
              <a:defRPr sz="3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93773" y="34268002"/>
            <a:ext cx="44165520" cy="11201396"/>
          </a:xfrm>
        </p:spPr>
        <p:txBody>
          <a:bodyPr/>
          <a:lstStyle>
            <a:lvl1pPr marL="0" indent="0">
              <a:buNone/>
              <a:defRPr sz="13440">
                <a:solidFill>
                  <a:schemeClr val="tx1">
                    <a:tint val="82000"/>
                  </a:schemeClr>
                </a:solidFill>
              </a:defRPr>
            </a:lvl1pPr>
            <a:lvl2pPr marL="2560320" indent="0">
              <a:buNone/>
              <a:defRPr sz="11200">
                <a:solidFill>
                  <a:schemeClr val="tx1">
                    <a:tint val="82000"/>
                  </a:schemeClr>
                </a:solidFill>
              </a:defRPr>
            </a:lvl2pPr>
            <a:lvl3pPr marL="5120640" indent="0">
              <a:buNone/>
              <a:defRPr sz="10080">
                <a:solidFill>
                  <a:schemeClr val="tx1">
                    <a:tint val="82000"/>
                  </a:schemeClr>
                </a:solidFill>
              </a:defRPr>
            </a:lvl3pPr>
            <a:lvl4pPr marL="7680960" indent="0">
              <a:buNone/>
              <a:defRPr sz="8960">
                <a:solidFill>
                  <a:schemeClr val="tx1">
                    <a:tint val="82000"/>
                  </a:schemeClr>
                </a:solidFill>
              </a:defRPr>
            </a:lvl4pPr>
            <a:lvl5pPr marL="10241280" indent="0">
              <a:buNone/>
              <a:defRPr sz="8960">
                <a:solidFill>
                  <a:schemeClr val="tx1">
                    <a:tint val="82000"/>
                  </a:schemeClr>
                </a:solidFill>
              </a:defRPr>
            </a:lvl5pPr>
            <a:lvl6pPr marL="12801600" indent="0">
              <a:buNone/>
              <a:defRPr sz="8960">
                <a:solidFill>
                  <a:schemeClr val="tx1">
                    <a:tint val="82000"/>
                  </a:schemeClr>
                </a:solidFill>
              </a:defRPr>
            </a:lvl6pPr>
            <a:lvl7pPr marL="15361920" indent="0">
              <a:buNone/>
              <a:defRPr sz="8960">
                <a:solidFill>
                  <a:schemeClr val="tx1">
                    <a:tint val="82000"/>
                  </a:schemeClr>
                </a:solidFill>
              </a:defRPr>
            </a:lvl7pPr>
            <a:lvl8pPr marL="17922240" indent="0">
              <a:buNone/>
              <a:defRPr sz="8960">
                <a:solidFill>
                  <a:schemeClr val="tx1">
                    <a:tint val="82000"/>
                  </a:schemeClr>
                </a:solidFill>
              </a:defRPr>
            </a:lvl8pPr>
            <a:lvl9pPr marL="20482560" indent="0">
              <a:buNone/>
              <a:defRPr sz="89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7EBC-4893-4C67-8E48-D69CA160025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2BB52-6FE4-4B8A-9506-6D19CB7B1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902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0440" y="13631334"/>
            <a:ext cx="21762720" cy="324899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23240" y="13631334"/>
            <a:ext cx="21762720" cy="324899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7EBC-4893-4C67-8E48-D69CA160025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2BB52-6FE4-4B8A-9506-6D19CB7B1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188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0" y="2726278"/>
            <a:ext cx="44165520" cy="98975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7115" y="12552684"/>
            <a:ext cx="21662704" cy="6151876"/>
          </a:xfrm>
        </p:spPr>
        <p:txBody>
          <a:bodyPr anchor="b"/>
          <a:lstStyle>
            <a:lvl1pPr marL="0" indent="0">
              <a:buNone/>
              <a:defRPr sz="13440" b="1"/>
            </a:lvl1pPr>
            <a:lvl2pPr marL="2560320" indent="0">
              <a:buNone/>
              <a:defRPr sz="11200" b="1"/>
            </a:lvl2pPr>
            <a:lvl3pPr marL="5120640" indent="0">
              <a:buNone/>
              <a:defRPr sz="10080" b="1"/>
            </a:lvl3pPr>
            <a:lvl4pPr marL="7680960" indent="0">
              <a:buNone/>
              <a:defRPr sz="8960" b="1"/>
            </a:lvl4pPr>
            <a:lvl5pPr marL="10241280" indent="0">
              <a:buNone/>
              <a:defRPr sz="8960" b="1"/>
            </a:lvl5pPr>
            <a:lvl6pPr marL="12801600" indent="0">
              <a:buNone/>
              <a:defRPr sz="8960" b="1"/>
            </a:lvl6pPr>
            <a:lvl7pPr marL="15361920" indent="0">
              <a:buNone/>
              <a:defRPr sz="8960" b="1"/>
            </a:lvl7pPr>
            <a:lvl8pPr marL="17922240" indent="0">
              <a:buNone/>
              <a:defRPr sz="8960" b="1"/>
            </a:lvl8pPr>
            <a:lvl9pPr marL="20482560" indent="0">
              <a:buNone/>
              <a:defRPr sz="8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27115" y="18704560"/>
            <a:ext cx="21662704" cy="275115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923243" y="12552684"/>
            <a:ext cx="21769390" cy="6151876"/>
          </a:xfrm>
        </p:spPr>
        <p:txBody>
          <a:bodyPr anchor="b"/>
          <a:lstStyle>
            <a:lvl1pPr marL="0" indent="0">
              <a:buNone/>
              <a:defRPr sz="13440" b="1"/>
            </a:lvl1pPr>
            <a:lvl2pPr marL="2560320" indent="0">
              <a:buNone/>
              <a:defRPr sz="11200" b="1"/>
            </a:lvl2pPr>
            <a:lvl3pPr marL="5120640" indent="0">
              <a:buNone/>
              <a:defRPr sz="10080" b="1"/>
            </a:lvl3pPr>
            <a:lvl4pPr marL="7680960" indent="0">
              <a:buNone/>
              <a:defRPr sz="8960" b="1"/>
            </a:lvl4pPr>
            <a:lvl5pPr marL="10241280" indent="0">
              <a:buNone/>
              <a:defRPr sz="8960" b="1"/>
            </a:lvl5pPr>
            <a:lvl6pPr marL="12801600" indent="0">
              <a:buNone/>
              <a:defRPr sz="8960" b="1"/>
            </a:lvl6pPr>
            <a:lvl7pPr marL="15361920" indent="0">
              <a:buNone/>
              <a:defRPr sz="8960" b="1"/>
            </a:lvl7pPr>
            <a:lvl8pPr marL="17922240" indent="0">
              <a:buNone/>
              <a:defRPr sz="8960" b="1"/>
            </a:lvl8pPr>
            <a:lvl9pPr marL="20482560" indent="0">
              <a:buNone/>
              <a:defRPr sz="8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923243" y="18704560"/>
            <a:ext cx="21769390" cy="275115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7EBC-4893-4C67-8E48-D69CA160025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2BB52-6FE4-4B8A-9506-6D19CB7B1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750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7EBC-4893-4C67-8E48-D69CA160025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2BB52-6FE4-4B8A-9506-6D19CB7B1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508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7EBC-4893-4C67-8E48-D69CA160025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2BB52-6FE4-4B8A-9506-6D19CB7B1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713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0" y="3413760"/>
            <a:ext cx="16515397" cy="11948160"/>
          </a:xfrm>
        </p:spPr>
        <p:txBody>
          <a:bodyPr anchor="b"/>
          <a:lstStyle>
            <a:lvl1pPr>
              <a:defRPr sz="17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69390" y="7372785"/>
            <a:ext cx="25923240" cy="36389733"/>
          </a:xfrm>
        </p:spPr>
        <p:txBody>
          <a:bodyPr/>
          <a:lstStyle>
            <a:lvl1pPr>
              <a:defRPr sz="17920"/>
            </a:lvl1pPr>
            <a:lvl2pPr>
              <a:defRPr sz="15680"/>
            </a:lvl2pPr>
            <a:lvl3pPr>
              <a:defRPr sz="13440"/>
            </a:lvl3pPr>
            <a:lvl4pPr>
              <a:defRPr sz="11200"/>
            </a:lvl4pPr>
            <a:lvl5pPr>
              <a:defRPr sz="11200"/>
            </a:lvl5pPr>
            <a:lvl6pPr>
              <a:defRPr sz="11200"/>
            </a:lvl6pPr>
            <a:lvl7pPr>
              <a:defRPr sz="11200"/>
            </a:lvl7pPr>
            <a:lvl8pPr>
              <a:defRPr sz="11200"/>
            </a:lvl8pPr>
            <a:lvl9pPr>
              <a:defRPr sz="1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0" y="15361920"/>
            <a:ext cx="16515397" cy="28459857"/>
          </a:xfrm>
        </p:spPr>
        <p:txBody>
          <a:bodyPr/>
          <a:lstStyle>
            <a:lvl1pPr marL="0" indent="0">
              <a:buNone/>
              <a:defRPr sz="8960"/>
            </a:lvl1pPr>
            <a:lvl2pPr marL="2560320" indent="0">
              <a:buNone/>
              <a:defRPr sz="7840"/>
            </a:lvl2pPr>
            <a:lvl3pPr marL="5120640" indent="0">
              <a:buNone/>
              <a:defRPr sz="6720"/>
            </a:lvl3pPr>
            <a:lvl4pPr marL="7680960" indent="0">
              <a:buNone/>
              <a:defRPr sz="5600"/>
            </a:lvl4pPr>
            <a:lvl5pPr marL="10241280" indent="0">
              <a:buNone/>
              <a:defRPr sz="5600"/>
            </a:lvl5pPr>
            <a:lvl6pPr marL="12801600" indent="0">
              <a:buNone/>
              <a:defRPr sz="5600"/>
            </a:lvl6pPr>
            <a:lvl7pPr marL="15361920" indent="0">
              <a:buNone/>
              <a:defRPr sz="5600"/>
            </a:lvl7pPr>
            <a:lvl8pPr marL="17922240" indent="0">
              <a:buNone/>
              <a:defRPr sz="5600"/>
            </a:lvl8pPr>
            <a:lvl9pPr marL="20482560" indent="0">
              <a:buNone/>
              <a:defRPr sz="5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7EBC-4893-4C67-8E48-D69CA160025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2BB52-6FE4-4B8A-9506-6D19CB7B1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777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0" y="3413760"/>
            <a:ext cx="16515397" cy="11948160"/>
          </a:xfrm>
        </p:spPr>
        <p:txBody>
          <a:bodyPr anchor="b"/>
          <a:lstStyle>
            <a:lvl1pPr>
              <a:defRPr sz="17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769390" y="7372785"/>
            <a:ext cx="25923240" cy="36389733"/>
          </a:xfrm>
        </p:spPr>
        <p:txBody>
          <a:bodyPr anchor="t"/>
          <a:lstStyle>
            <a:lvl1pPr marL="0" indent="0">
              <a:buNone/>
              <a:defRPr sz="17920"/>
            </a:lvl1pPr>
            <a:lvl2pPr marL="2560320" indent="0">
              <a:buNone/>
              <a:defRPr sz="15680"/>
            </a:lvl2pPr>
            <a:lvl3pPr marL="5120640" indent="0">
              <a:buNone/>
              <a:defRPr sz="13440"/>
            </a:lvl3pPr>
            <a:lvl4pPr marL="7680960" indent="0">
              <a:buNone/>
              <a:defRPr sz="11200"/>
            </a:lvl4pPr>
            <a:lvl5pPr marL="10241280" indent="0">
              <a:buNone/>
              <a:defRPr sz="11200"/>
            </a:lvl5pPr>
            <a:lvl6pPr marL="12801600" indent="0">
              <a:buNone/>
              <a:defRPr sz="11200"/>
            </a:lvl6pPr>
            <a:lvl7pPr marL="15361920" indent="0">
              <a:buNone/>
              <a:defRPr sz="11200"/>
            </a:lvl7pPr>
            <a:lvl8pPr marL="17922240" indent="0">
              <a:buNone/>
              <a:defRPr sz="11200"/>
            </a:lvl8pPr>
            <a:lvl9pPr marL="20482560" indent="0">
              <a:buNone/>
              <a:defRPr sz="1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0" y="15361920"/>
            <a:ext cx="16515397" cy="28459857"/>
          </a:xfrm>
        </p:spPr>
        <p:txBody>
          <a:bodyPr/>
          <a:lstStyle>
            <a:lvl1pPr marL="0" indent="0">
              <a:buNone/>
              <a:defRPr sz="8960"/>
            </a:lvl1pPr>
            <a:lvl2pPr marL="2560320" indent="0">
              <a:buNone/>
              <a:defRPr sz="7840"/>
            </a:lvl2pPr>
            <a:lvl3pPr marL="5120640" indent="0">
              <a:buNone/>
              <a:defRPr sz="6720"/>
            </a:lvl3pPr>
            <a:lvl4pPr marL="7680960" indent="0">
              <a:buNone/>
              <a:defRPr sz="5600"/>
            </a:lvl4pPr>
            <a:lvl5pPr marL="10241280" indent="0">
              <a:buNone/>
              <a:defRPr sz="5600"/>
            </a:lvl5pPr>
            <a:lvl6pPr marL="12801600" indent="0">
              <a:buNone/>
              <a:defRPr sz="5600"/>
            </a:lvl6pPr>
            <a:lvl7pPr marL="15361920" indent="0">
              <a:buNone/>
              <a:defRPr sz="5600"/>
            </a:lvl7pPr>
            <a:lvl8pPr marL="17922240" indent="0">
              <a:buNone/>
              <a:defRPr sz="5600"/>
            </a:lvl8pPr>
            <a:lvl9pPr marL="20482560" indent="0">
              <a:buNone/>
              <a:defRPr sz="5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7EBC-4893-4C67-8E48-D69CA160025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2BB52-6FE4-4B8A-9506-6D19CB7B1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993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7EBC-4893-4C67-8E48-D69CA160025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2BB52-6FE4-4B8A-9506-6D19CB7B1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230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644583" y="2726267"/>
            <a:ext cx="11041380" cy="433950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20443" y="2726267"/>
            <a:ext cx="32484060" cy="433950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7EBC-4893-4C67-8E48-D69CA160025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2BB52-6FE4-4B8A-9506-6D19CB7B1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221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20440" y="2726278"/>
            <a:ext cx="44165520" cy="98975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0440" y="13631334"/>
            <a:ext cx="44165520" cy="324899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20440" y="47460758"/>
            <a:ext cx="11521440" cy="27262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EC7EBC-4893-4C67-8E48-D69CA160025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20" y="47460758"/>
            <a:ext cx="17282160" cy="27262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164520" y="47460758"/>
            <a:ext cx="11521440" cy="27262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92BB52-6FE4-4B8A-9506-6D19CB7B1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453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120640" rtl="0" eaLnBrk="1" latinLnBrk="0" hangingPunct="1">
        <a:lnSpc>
          <a:spcPct val="90000"/>
        </a:lnSpc>
        <a:spcBef>
          <a:spcPct val="0"/>
        </a:spcBef>
        <a:buNone/>
        <a:defRPr sz="24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0160" indent="-1280160" algn="l" defTabSz="5120640" rtl="0" eaLnBrk="1" latinLnBrk="0" hangingPunct="1">
        <a:lnSpc>
          <a:spcPct val="90000"/>
        </a:lnSpc>
        <a:spcBef>
          <a:spcPts val="5600"/>
        </a:spcBef>
        <a:buFont typeface="Arial" panose="020B0604020202020204" pitchFamily="34" charset="0"/>
        <a:buChar char="•"/>
        <a:defRPr sz="15680" kern="1200">
          <a:solidFill>
            <a:schemeClr val="tx1"/>
          </a:solidFill>
          <a:latin typeface="+mn-lt"/>
          <a:ea typeface="+mn-ea"/>
          <a:cs typeface="+mn-cs"/>
        </a:defRPr>
      </a:lvl1pPr>
      <a:lvl2pPr marL="384048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1200" kern="1200">
          <a:solidFill>
            <a:schemeClr val="tx1"/>
          </a:solidFill>
          <a:latin typeface="+mn-lt"/>
          <a:ea typeface="+mn-ea"/>
          <a:cs typeface="+mn-cs"/>
        </a:defRPr>
      </a:lvl3pPr>
      <a:lvl4pPr marL="896112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4pPr>
      <a:lvl5pPr marL="1152144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5pPr>
      <a:lvl6pPr marL="1408176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6pPr>
      <a:lvl7pPr marL="1664208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56032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2pPr>
      <a:lvl3pPr marL="512064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4pPr>
      <a:lvl5pPr marL="1024128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5pPr>
      <a:lvl6pPr marL="1280160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6pPr>
      <a:lvl7pPr marL="1536192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7pPr>
      <a:lvl8pPr marL="1792224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8pPr>
      <a:lvl9pPr marL="2048256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11" Type="http://schemas.openxmlformats.org/officeDocument/2006/relationships/image" Target="../media/image1.png"/><Relationship Id="rId5" Type="http://schemas.openxmlformats.org/officeDocument/2006/relationships/image" Target="../media/image11.png"/><Relationship Id="rId10" Type="http://schemas.openxmlformats.org/officeDocument/2006/relationships/image" Target="../media/image2.png"/><Relationship Id="rId4" Type="http://schemas.openxmlformats.org/officeDocument/2006/relationships/image" Target="../media/image10.svg"/><Relationship Id="rId9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BF4675B-24DA-ECE6-C51C-65069789A359}"/>
              </a:ext>
            </a:extLst>
          </p:cNvPr>
          <p:cNvSpPr/>
          <p:nvPr/>
        </p:nvSpPr>
        <p:spPr>
          <a:xfrm>
            <a:off x="11391508" y="6072480"/>
            <a:ext cx="29944252" cy="516579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D9CB3D1-7BFC-3386-B306-BDBBA5137ABA}"/>
              </a:ext>
            </a:extLst>
          </p:cNvPr>
          <p:cNvSpPr txBox="1"/>
          <p:nvPr/>
        </p:nvSpPr>
        <p:spPr>
          <a:xfrm>
            <a:off x="17784949" y="11546203"/>
            <a:ext cx="171573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rgbClr val="0F0F0F"/>
                </a:solidFill>
                <a:latin typeface="ui-sans-serif"/>
              </a:rPr>
              <a:t>R</a:t>
            </a:r>
            <a:r>
              <a:rPr lang="en-US" sz="5400" b="1" i="0" dirty="0">
                <a:solidFill>
                  <a:srgbClr val="0F0F0F"/>
                </a:solidFill>
                <a:effectLst/>
                <a:latin typeface="ui-sans-serif"/>
              </a:rPr>
              <a:t>ecurrent Molecular Anchor Fragments (Class 1 &amp; 2)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A0315A7-24C0-6048-1034-C950CB14E295}"/>
              </a:ext>
            </a:extLst>
          </p:cNvPr>
          <p:cNvGrpSpPr/>
          <p:nvPr/>
        </p:nvGrpSpPr>
        <p:grpSpPr>
          <a:xfrm>
            <a:off x="12759929" y="12660924"/>
            <a:ext cx="27604980" cy="11960823"/>
            <a:chOff x="12647583" y="12660924"/>
            <a:chExt cx="27604980" cy="11960823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7C07ED87-02E6-769C-8522-F7EA43967144}"/>
                </a:ext>
              </a:extLst>
            </p:cNvPr>
            <p:cNvGrpSpPr/>
            <p:nvPr/>
          </p:nvGrpSpPr>
          <p:grpSpPr>
            <a:xfrm>
              <a:off x="25921308" y="12660924"/>
              <a:ext cx="14331255" cy="10606606"/>
              <a:chOff x="26016215" y="32690065"/>
              <a:chExt cx="14331255" cy="10606606"/>
            </a:xfrm>
          </p:grpSpPr>
          <p:pic>
            <p:nvPicPr>
              <p:cNvPr id="59" name="Picture 58" descr="A red and black molecule&#10;&#10;AI-generated content may be incorrect.">
                <a:extLst>
                  <a:ext uri="{FF2B5EF4-FFF2-40B4-BE49-F238E27FC236}">
                    <a16:creationId xmlns:a16="http://schemas.microsoft.com/office/drawing/2014/main" id="{FF828C6A-DA1B-1C2D-DF20-B453CD4FBA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9899" r="60477" b="34643"/>
              <a:stretch/>
            </p:blipFill>
            <p:spPr>
              <a:xfrm>
                <a:off x="26016215" y="33792057"/>
                <a:ext cx="14331255" cy="3686730"/>
              </a:xfrm>
              <a:prstGeom prst="rect">
                <a:avLst/>
              </a:prstGeom>
            </p:spPr>
          </p:pic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3328C6AB-5D2D-21F5-D316-19C43126EF72}"/>
                  </a:ext>
                </a:extLst>
              </p:cNvPr>
              <p:cNvGrpSpPr/>
              <p:nvPr/>
            </p:nvGrpSpPr>
            <p:grpSpPr>
              <a:xfrm>
                <a:off x="27091192" y="37720664"/>
                <a:ext cx="12181300" cy="1477328"/>
                <a:chOff x="27174716" y="37720664"/>
                <a:chExt cx="12181300" cy="1477328"/>
              </a:xfrm>
            </p:grpSpPr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7D21A72-9214-4047-1740-F895FF59E1E6}"/>
                    </a:ext>
                  </a:extLst>
                </p:cNvPr>
                <p:cNvSpPr txBox="1"/>
                <p:nvPr/>
              </p:nvSpPr>
              <p:spPr>
                <a:xfrm>
                  <a:off x="27174716" y="37720664"/>
                  <a:ext cx="5323362" cy="14773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000" b="1" i="0" dirty="0">
                      <a:solidFill>
                        <a:srgbClr val="0F0F0F"/>
                      </a:solidFill>
                      <a:effectLst/>
                      <a:latin typeface="ui-sans-serif"/>
                    </a:rPr>
                    <a:t>Rank 1</a:t>
                  </a:r>
                </a:p>
                <a:p>
                  <a:pPr algn="ctr"/>
                  <a:r>
                    <a:rPr lang="en-US" sz="3000" b="1" dirty="0">
                      <a:solidFill>
                        <a:srgbClr val="0F0F0F"/>
                      </a:solidFill>
                      <a:latin typeface="ui-sans-serif"/>
                    </a:rPr>
                    <a:t>Anchor occurrence: 0.36</a:t>
                  </a:r>
                </a:p>
                <a:p>
                  <a:pPr algn="ctr"/>
                  <a:r>
                    <a:rPr lang="en-US" sz="3000" b="1" dirty="0">
                      <a:solidFill>
                        <a:srgbClr val="0F0F0F"/>
                      </a:solidFill>
                      <a:latin typeface="ui-sans-serif"/>
                    </a:rPr>
                    <a:t>Substructure occurrence: 0.82</a:t>
                  </a:r>
                  <a:endParaRPr lang="en-US" sz="3000" dirty="0"/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9062DABE-6143-0CF6-47EE-82DED9712869}"/>
                    </a:ext>
                  </a:extLst>
                </p:cNvPr>
                <p:cNvSpPr txBox="1"/>
                <p:nvPr/>
              </p:nvSpPr>
              <p:spPr>
                <a:xfrm>
                  <a:off x="34039249" y="37720664"/>
                  <a:ext cx="5316767" cy="14773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000" b="1" i="0" dirty="0">
                      <a:solidFill>
                        <a:srgbClr val="0F0F0F"/>
                      </a:solidFill>
                      <a:effectLst/>
                      <a:latin typeface="ui-sans-serif"/>
                    </a:rPr>
                    <a:t>Rank 2</a:t>
                  </a:r>
                </a:p>
                <a:p>
                  <a:pPr algn="ctr"/>
                  <a:r>
                    <a:rPr lang="en-US" sz="3000" b="1" dirty="0">
                      <a:solidFill>
                        <a:srgbClr val="0F0F0F"/>
                      </a:solidFill>
                      <a:latin typeface="ui-sans-serif"/>
                    </a:rPr>
                    <a:t>Anchor occurrence: 0.18</a:t>
                  </a:r>
                </a:p>
                <a:p>
                  <a:pPr algn="ctr"/>
                  <a:r>
                    <a:rPr lang="en-US" sz="3000" b="1" dirty="0">
                      <a:solidFill>
                        <a:srgbClr val="0F0F0F"/>
                      </a:solidFill>
                      <a:latin typeface="ui-sans-serif"/>
                    </a:rPr>
                    <a:t>Substructure occurrence: 0.36</a:t>
                  </a:r>
                  <a:endParaRPr lang="en-US" sz="3000" dirty="0"/>
                </a:p>
              </p:txBody>
            </p:sp>
          </p:grp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75CDCAE-E997-6AB6-EE31-7EEA0E2E635E}"/>
                  </a:ext>
                </a:extLst>
              </p:cNvPr>
              <p:cNvSpPr txBox="1"/>
              <p:nvPr/>
            </p:nvSpPr>
            <p:spPr>
              <a:xfrm>
                <a:off x="30026714" y="32690065"/>
                <a:ext cx="631025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5400" b="1" dirty="0"/>
                  <a:t>Class </a:t>
                </a:r>
                <a:r>
                  <a:rPr lang="en-US" sz="5400" b="1" i="0" dirty="0">
                    <a:solidFill>
                      <a:srgbClr val="0F0F0F"/>
                    </a:solidFill>
                    <a:effectLst/>
                    <a:latin typeface="ui-sans-serif"/>
                  </a:rPr>
                  <a:t>PI3K-gamma</a:t>
                </a:r>
                <a:endParaRPr lang="de-DE" sz="5400" b="1" dirty="0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F275191B-4583-8146-851D-EA0FC0A427D2}"/>
                  </a:ext>
                </a:extLst>
              </p:cNvPr>
              <p:cNvSpPr txBox="1"/>
              <p:nvPr/>
            </p:nvSpPr>
            <p:spPr>
              <a:xfrm>
                <a:off x="27101081" y="39664908"/>
                <a:ext cx="12697545" cy="36317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 algn="just"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sz="4400" b="1" dirty="0"/>
                  <a:t> </a:t>
                </a:r>
                <a:r>
                  <a:rPr lang="en-US" sz="4400" dirty="0"/>
                  <a:t>Occurs in </a:t>
                </a:r>
                <a:r>
                  <a:rPr lang="en-US" sz="4400" b="1" dirty="0"/>
                  <a:t>36.4% </a:t>
                </a:r>
                <a:r>
                  <a:rPr lang="en-US" sz="4400" dirty="0"/>
                  <a:t>of anchors. A </a:t>
                </a:r>
                <a:r>
                  <a:rPr lang="en-US" sz="4400" b="1" dirty="0"/>
                  <a:t>substituted </a:t>
                </a:r>
                <a:r>
                  <a:rPr lang="en-US" sz="4400" b="1" dirty="0" err="1"/>
                  <a:t>isoquinoline</a:t>
                </a:r>
                <a:r>
                  <a:rPr lang="en-US" sz="4400" b="1" dirty="0"/>
                  <a:t>/pyrazolo-pyridine core</a:t>
                </a:r>
                <a:r>
                  <a:rPr lang="en-US" sz="4400" dirty="0"/>
                  <a:t>, highly characteristic of PI3K-gamma selective inhibitors.</a:t>
                </a:r>
              </a:p>
              <a:p>
                <a:pPr marL="228600" indent="-228600" algn="just"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sz="4400" b="1" dirty="0"/>
                  <a:t> </a:t>
                </a:r>
                <a:r>
                  <a:rPr lang="en-US" sz="4400" b="1" dirty="0" err="1"/>
                  <a:t>Dihydroisoquinolinone</a:t>
                </a:r>
                <a:r>
                  <a:rPr lang="en-US" sz="4400" b="1" dirty="0"/>
                  <a:t> derivatives</a:t>
                </a:r>
                <a:r>
                  <a:rPr lang="en-US" sz="4400" dirty="0"/>
                  <a:t>, frequently appearing in gamma-selective chemotypes.</a:t>
                </a: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B566DC8D-A751-746E-78CA-6C8E8122C95C}"/>
                </a:ext>
              </a:extLst>
            </p:cNvPr>
            <p:cNvGrpSpPr/>
            <p:nvPr/>
          </p:nvGrpSpPr>
          <p:grpSpPr>
            <a:xfrm>
              <a:off x="12647583" y="12660924"/>
              <a:ext cx="12161520" cy="11960823"/>
              <a:chOff x="12742490" y="32690065"/>
              <a:chExt cx="12161520" cy="11960823"/>
            </a:xfrm>
          </p:grpSpPr>
          <p:pic>
            <p:nvPicPr>
              <p:cNvPr id="57" name="Picture 56" descr="A black and red hexagons&#10;&#10;AI-generated content may be incorrect.">
                <a:extLst>
                  <a:ext uri="{FF2B5EF4-FFF2-40B4-BE49-F238E27FC236}">
                    <a16:creationId xmlns:a16="http://schemas.microsoft.com/office/drawing/2014/main" id="{D31C6E93-8769-C043-E3E6-35F8E48F9A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0622" b="25829"/>
              <a:stretch/>
            </p:blipFill>
            <p:spPr>
              <a:xfrm>
                <a:off x="12970037" y="33436279"/>
                <a:ext cx="11706426" cy="4042508"/>
              </a:xfrm>
              <a:prstGeom prst="rect">
                <a:avLst/>
              </a:prstGeom>
            </p:spPr>
          </p:pic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3B152157-9CC7-F546-D5E7-974890FB190C}"/>
                  </a:ext>
                </a:extLst>
              </p:cNvPr>
              <p:cNvGrpSpPr/>
              <p:nvPr/>
            </p:nvGrpSpPr>
            <p:grpSpPr>
              <a:xfrm>
                <a:off x="13187768" y="37935654"/>
                <a:ext cx="11270964" cy="1477328"/>
                <a:chOff x="13180193" y="37935654"/>
                <a:chExt cx="11270964" cy="1477328"/>
              </a:xfrm>
            </p:grpSpPr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8572CEAB-6935-A767-5441-EE39B0CFE9A6}"/>
                    </a:ext>
                  </a:extLst>
                </p:cNvPr>
                <p:cNvSpPr txBox="1"/>
                <p:nvPr/>
              </p:nvSpPr>
              <p:spPr>
                <a:xfrm>
                  <a:off x="13180193" y="37935654"/>
                  <a:ext cx="5414457" cy="14773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000" b="1" i="0" dirty="0">
                      <a:solidFill>
                        <a:srgbClr val="0F0F0F"/>
                      </a:solidFill>
                      <a:effectLst/>
                      <a:latin typeface="ui-sans-serif"/>
                    </a:rPr>
                    <a:t>Rank 1</a:t>
                  </a:r>
                </a:p>
                <a:p>
                  <a:pPr algn="ctr"/>
                  <a:r>
                    <a:rPr lang="en-US" sz="3000" b="1" dirty="0">
                      <a:solidFill>
                        <a:srgbClr val="0F0F0F"/>
                      </a:solidFill>
                      <a:latin typeface="ui-sans-serif"/>
                    </a:rPr>
                    <a:t>Anchor occurrence: 0.26</a:t>
                  </a:r>
                </a:p>
                <a:p>
                  <a:pPr algn="ctr"/>
                  <a:r>
                    <a:rPr lang="en-US" sz="3000" b="1" dirty="0">
                      <a:solidFill>
                        <a:srgbClr val="0F0F0F"/>
                      </a:solidFill>
                      <a:latin typeface="ui-sans-serif"/>
                    </a:rPr>
                    <a:t>Substructure occurrence: 0.26</a:t>
                  </a:r>
                  <a:endParaRPr lang="en-US" sz="3000" dirty="0"/>
                </a:p>
              </p:txBody>
            </p:sp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CB3D1D01-6B66-4EBF-BA63-15E4A614E261}"/>
                    </a:ext>
                  </a:extLst>
                </p:cNvPr>
                <p:cNvSpPr txBox="1"/>
                <p:nvPr/>
              </p:nvSpPr>
              <p:spPr>
                <a:xfrm>
                  <a:off x="18997991" y="37935654"/>
                  <a:ext cx="5453166" cy="14773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000" b="1" i="0" dirty="0">
                      <a:solidFill>
                        <a:srgbClr val="0F0F0F"/>
                      </a:solidFill>
                      <a:effectLst/>
                      <a:latin typeface="ui-sans-serif"/>
                    </a:rPr>
                    <a:t>Rank 2</a:t>
                  </a:r>
                </a:p>
                <a:p>
                  <a:pPr algn="ctr"/>
                  <a:r>
                    <a:rPr lang="en-US" sz="3000" b="1" dirty="0">
                      <a:solidFill>
                        <a:srgbClr val="0F0F0F"/>
                      </a:solidFill>
                      <a:latin typeface="ui-sans-serif"/>
                    </a:rPr>
                    <a:t>Anchor occurrence: 0.25</a:t>
                  </a:r>
                </a:p>
                <a:p>
                  <a:pPr algn="ctr"/>
                  <a:r>
                    <a:rPr lang="en-US" sz="3000" b="1" dirty="0">
                      <a:solidFill>
                        <a:srgbClr val="0F0F0F"/>
                      </a:solidFill>
                      <a:latin typeface="ui-sans-serif"/>
                    </a:rPr>
                    <a:t>Substructure occurrence: 0.25</a:t>
                  </a:r>
                  <a:endParaRPr lang="en-US" sz="3000" dirty="0"/>
                </a:p>
              </p:txBody>
            </p:sp>
          </p:grp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A5C72D7-D885-252B-9D5B-8FCC3218E83B}"/>
                  </a:ext>
                </a:extLst>
              </p:cNvPr>
              <p:cNvSpPr txBox="1"/>
              <p:nvPr/>
            </p:nvSpPr>
            <p:spPr>
              <a:xfrm>
                <a:off x="15521521" y="32690065"/>
                <a:ext cx="660345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5400" b="1" dirty="0"/>
                  <a:t>Class </a:t>
                </a:r>
                <a:r>
                  <a:rPr lang="en-US" sz="5400" b="1" i="0" dirty="0">
                    <a:solidFill>
                      <a:srgbClr val="0F0F0F"/>
                    </a:solidFill>
                    <a:effectLst/>
                    <a:latin typeface="ui-sans-serif"/>
                  </a:rPr>
                  <a:t>PI3K-delta</a:t>
                </a:r>
                <a:endParaRPr lang="de-DE" sz="5400" b="1" dirty="0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07CA5145-B7E2-1C7C-76AD-CFE78D36AE62}"/>
                  </a:ext>
                </a:extLst>
              </p:cNvPr>
              <p:cNvSpPr txBox="1"/>
              <p:nvPr/>
            </p:nvSpPr>
            <p:spPr>
              <a:xfrm>
                <a:off x="12742490" y="39664908"/>
                <a:ext cx="12161520" cy="49859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 algn="just"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sz="4400" b="1" dirty="0"/>
                  <a:t> </a:t>
                </a:r>
                <a:r>
                  <a:rPr lang="en-US" sz="4400" dirty="0"/>
                  <a:t>Occurs in </a:t>
                </a:r>
                <a:r>
                  <a:rPr lang="en-US" sz="4400" b="1" dirty="0"/>
                  <a:t>26.4% </a:t>
                </a:r>
                <a:r>
                  <a:rPr lang="en-US" sz="4400" dirty="0"/>
                  <a:t>of correctly predicted Class 1 compounds. This </a:t>
                </a:r>
                <a:r>
                  <a:rPr lang="en-US" sz="4400" b="1" dirty="0"/>
                  <a:t>cyano-substituted pyrimidine </a:t>
                </a:r>
                <a:r>
                  <a:rPr lang="en-US" sz="4400" dirty="0"/>
                  <a:t>motif is a classic </a:t>
                </a:r>
                <a:r>
                  <a:rPr lang="en-US" sz="4400" b="1" dirty="0"/>
                  <a:t>kinase hinge-binder.</a:t>
                </a:r>
              </a:p>
              <a:p>
                <a:pPr marL="228600" indent="-228600" algn="just"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sz="4400" b="1" dirty="0"/>
                  <a:t> </a:t>
                </a:r>
                <a:r>
                  <a:rPr lang="en-US" sz="4400" dirty="0"/>
                  <a:t>Occurs in </a:t>
                </a:r>
                <a:r>
                  <a:rPr lang="en-US" sz="4400" b="1" dirty="0"/>
                  <a:t>25.0% </a:t>
                </a:r>
                <a:r>
                  <a:rPr lang="en-US" sz="4400" dirty="0"/>
                  <a:t>of cases. A </a:t>
                </a:r>
                <a:r>
                  <a:rPr lang="en-US" sz="4400" b="1" dirty="0"/>
                  <a:t>diamino-</a:t>
                </a:r>
                <a:r>
                  <a:rPr lang="en-US" sz="4400" b="1" dirty="0" err="1"/>
                  <a:t>cyano</a:t>
                </a:r>
                <a:r>
                  <a:rPr lang="en-US" sz="4400" b="1" dirty="0"/>
                  <a:t> pyrimidine derivative</a:t>
                </a:r>
                <a:r>
                  <a:rPr lang="en-US" sz="4400" dirty="0"/>
                  <a:t>, strongly indicating </a:t>
                </a:r>
                <a:r>
                  <a:rPr lang="en-US" sz="4400" b="1" dirty="0"/>
                  <a:t>hydrogen-bonding interactions </a:t>
                </a:r>
                <a:r>
                  <a:rPr lang="en-US" sz="4400" dirty="0"/>
                  <a:t>with the </a:t>
                </a:r>
                <a:r>
                  <a:rPr lang="en-US" sz="4400" b="1" dirty="0"/>
                  <a:t>hinge region</a:t>
                </a:r>
                <a:r>
                  <a:rPr lang="en-US" sz="4400" dirty="0"/>
                  <a:t>.</a:t>
                </a:r>
              </a:p>
            </p:txBody>
          </p:sp>
        </p:grpSp>
      </p:grp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6C13FBF4-81B4-461D-A19D-5804EED023DD}"/>
              </a:ext>
            </a:extLst>
          </p:cNvPr>
          <p:cNvSpPr/>
          <p:nvPr/>
        </p:nvSpPr>
        <p:spPr>
          <a:xfrm>
            <a:off x="11457622" y="2072967"/>
            <a:ext cx="29944252" cy="3590329"/>
          </a:xfrm>
          <a:prstGeom prst="round2Same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sz="4400" dirty="0">
                <a:solidFill>
                  <a:schemeClr val="tx1"/>
                </a:solidFill>
              </a:rPr>
              <a:t>You are running a reproducibility study for compound selectivity prediction. The goal is to train a Balanced Random Forest Classifier to distinguish PI3K-delta (</a:t>
            </a:r>
            <a:r>
              <a:rPr lang="en-US" sz="4400" dirty="0" err="1">
                <a:solidFill>
                  <a:schemeClr val="tx1"/>
                </a:solidFill>
              </a:rPr>
              <a:t>UniProt</a:t>
            </a:r>
            <a:r>
              <a:rPr lang="en-US" sz="4400" dirty="0">
                <a:solidFill>
                  <a:schemeClr val="tx1"/>
                </a:solidFill>
              </a:rPr>
              <a:t>: O00329) vs PI3K-gamma (</a:t>
            </a:r>
            <a:r>
              <a:rPr lang="en-US" sz="4400" dirty="0" err="1">
                <a:solidFill>
                  <a:schemeClr val="tx1"/>
                </a:solidFill>
              </a:rPr>
              <a:t>UniProt</a:t>
            </a:r>
            <a:r>
              <a:rPr lang="en-US" sz="4400" dirty="0">
                <a:solidFill>
                  <a:schemeClr val="tx1"/>
                </a:solidFill>
              </a:rPr>
              <a:t>:  P48736) selective compounds, evaluate its performance, and identify recurrent molecular anchor fragments that drive the model's correct predictions for each selective class (class 1 &amp; 2) and discuss the chemical insight gained.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65AE2D3-52C5-2D04-D846-EC865A9F4DC7}"/>
              </a:ext>
            </a:extLst>
          </p:cNvPr>
          <p:cNvSpPr/>
          <p:nvPr/>
        </p:nvSpPr>
        <p:spPr>
          <a:xfrm>
            <a:off x="12044361" y="6917439"/>
            <a:ext cx="6499225" cy="1338439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chemeClr val="tx1"/>
                </a:solidFill>
              </a:rPr>
              <a:t>Find dataset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DB85F9D-5273-DCFF-C989-7562C2561479}"/>
              </a:ext>
            </a:extLst>
          </p:cNvPr>
          <p:cNvSpPr/>
          <p:nvPr/>
        </p:nvSpPr>
        <p:spPr>
          <a:xfrm>
            <a:off x="12044361" y="9238208"/>
            <a:ext cx="6499225" cy="1338439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chemeClr val="tx1"/>
                </a:solidFill>
              </a:rPr>
              <a:t>Load dataset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72B3574-1A6E-95E9-EEA3-C496E1B2F4CE}"/>
              </a:ext>
            </a:extLst>
          </p:cNvPr>
          <p:cNvSpPr/>
          <p:nvPr/>
        </p:nvSpPr>
        <p:spPr>
          <a:xfrm>
            <a:off x="19516990" y="9238208"/>
            <a:ext cx="6499225" cy="1338439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chemeClr val="tx1"/>
                </a:solidFill>
              </a:rPr>
              <a:t>Compute features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B67E2D9-9E9D-F863-4BAE-D1ACB7A59896}"/>
              </a:ext>
            </a:extLst>
          </p:cNvPr>
          <p:cNvSpPr/>
          <p:nvPr/>
        </p:nvSpPr>
        <p:spPr>
          <a:xfrm>
            <a:off x="19516990" y="6917439"/>
            <a:ext cx="6499225" cy="1338439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chemeClr val="tx1"/>
                </a:solidFill>
              </a:rPr>
              <a:t>Split dataset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344948B-9127-5D85-04AF-9E27623C51DB}"/>
              </a:ext>
            </a:extLst>
          </p:cNvPr>
          <p:cNvSpPr/>
          <p:nvPr/>
        </p:nvSpPr>
        <p:spPr>
          <a:xfrm>
            <a:off x="27051018" y="6917439"/>
            <a:ext cx="6499225" cy="1338439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chemeClr val="tx1"/>
                </a:solidFill>
              </a:rPr>
              <a:t>Train model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B31298B-CDEF-CDC2-2977-DCA4EAA13569}"/>
              </a:ext>
            </a:extLst>
          </p:cNvPr>
          <p:cNvSpPr/>
          <p:nvPr/>
        </p:nvSpPr>
        <p:spPr>
          <a:xfrm>
            <a:off x="27051018" y="8990043"/>
            <a:ext cx="6499225" cy="1834769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chemeClr val="tx1"/>
                </a:solidFill>
              </a:rPr>
              <a:t>Plot classification</a:t>
            </a:r>
          </a:p>
          <a:p>
            <a:pPr algn="ctr"/>
            <a:r>
              <a:rPr lang="en-US" sz="6000" dirty="0">
                <a:solidFill>
                  <a:schemeClr val="tx1"/>
                </a:solidFill>
              </a:rPr>
              <a:t>results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2D69792-6240-2A88-CEB7-39F07C646BE7}"/>
              </a:ext>
            </a:extLst>
          </p:cNvPr>
          <p:cNvSpPr/>
          <p:nvPr/>
        </p:nvSpPr>
        <p:spPr>
          <a:xfrm>
            <a:off x="34528255" y="8990043"/>
            <a:ext cx="6499225" cy="1834769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chemeClr val="tx1"/>
                </a:solidFill>
              </a:rPr>
              <a:t>Identify recurrent anchor rules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EB09105-A603-3792-FA56-C202D530844E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15293974" y="8255878"/>
            <a:ext cx="0" cy="98233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26109EB-84B7-25A1-4C4D-5E40E7C05280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18543586" y="9907427"/>
            <a:ext cx="973404" cy="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E9E200C-F61C-E3BC-C813-973305E697A5}"/>
              </a:ext>
            </a:extLst>
          </p:cNvPr>
          <p:cNvCxnSpPr>
            <a:cxnSpLocks/>
            <a:stCxn id="8" idx="0"/>
            <a:endCxn id="9" idx="2"/>
          </p:cNvCxnSpPr>
          <p:nvPr/>
        </p:nvCxnSpPr>
        <p:spPr>
          <a:xfrm flipV="1">
            <a:off x="22766603" y="8255878"/>
            <a:ext cx="0" cy="98233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B958271-883F-8940-76BB-8AF8F00A9DC4}"/>
              </a:ext>
            </a:extLst>
          </p:cNvPr>
          <p:cNvCxnSpPr>
            <a:cxnSpLocks/>
          </p:cNvCxnSpPr>
          <p:nvPr/>
        </p:nvCxnSpPr>
        <p:spPr>
          <a:xfrm>
            <a:off x="26016215" y="7586658"/>
            <a:ext cx="103480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4B6177B-6EC6-A0F4-463E-CAAB2559ADE4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30300631" y="8255878"/>
            <a:ext cx="0" cy="73416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17806EB-FC1C-9A83-BF43-2E984DA88F27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33550243" y="9907428"/>
            <a:ext cx="97801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1C29497D-2B90-2BE5-88BB-D67B8144BA05}"/>
              </a:ext>
            </a:extLst>
          </p:cNvPr>
          <p:cNvSpPr/>
          <p:nvPr/>
        </p:nvSpPr>
        <p:spPr>
          <a:xfrm>
            <a:off x="11390334" y="12536218"/>
            <a:ext cx="29946600" cy="1243087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: Top Corners Rounded 74">
            <a:extLst>
              <a:ext uri="{FF2B5EF4-FFF2-40B4-BE49-F238E27FC236}">
                <a16:creationId xmlns:a16="http://schemas.microsoft.com/office/drawing/2014/main" id="{ADA389BC-6277-D00F-8843-FDFC3BF7E611}"/>
              </a:ext>
            </a:extLst>
          </p:cNvPr>
          <p:cNvSpPr/>
          <p:nvPr/>
        </p:nvSpPr>
        <p:spPr>
          <a:xfrm rot="10800000">
            <a:off x="11391509" y="25999205"/>
            <a:ext cx="29944252" cy="6757550"/>
          </a:xfrm>
          <a:prstGeom prst="round2Same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9821E32-A8A6-C518-B031-E9D5E16F9A8D}"/>
              </a:ext>
            </a:extLst>
          </p:cNvPr>
          <p:cNvSpPr txBox="1"/>
          <p:nvPr/>
        </p:nvSpPr>
        <p:spPr>
          <a:xfrm>
            <a:off x="12044361" y="26496566"/>
            <a:ext cx="28852813" cy="597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800"/>
              </a:spcAft>
              <a:buFont typeface="+mj-lt"/>
              <a:buAutoNum type="arabicPeriod"/>
            </a:pPr>
            <a:r>
              <a:rPr lang="en-US" sz="4400" b="1" i="0" dirty="0">
                <a:solidFill>
                  <a:srgbClr val="0F0F0F"/>
                </a:solidFill>
                <a:effectLst/>
                <a:latin typeface="ui-sans-serif"/>
              </a:rPr>
              <a:t>Distinct </a:t>
            </a:r>
            <a:r>
              <a:rPr lang="en-US" sz="4400" i="0" dirty="0">
                <a:solidFill>
                  <a:srgbClr val="0F0F0F"/>
                </a:solidFill>
                <a:effectLst/>
                <a:latin typeface="ui-sans-serif"/>
              </a:rPr>
              <a:t>Chemotypes for Selectivity: The recurrent anchors clearly separate the two selective classes. Class 1 (delta) is driven by cyano-pyrimidine </a:t>
            </a:r>
            <a:r>
              <a:rPr lang="en-US" sz="4400" b="1" i="0" dirty="0">
                <a:solidFill>
                  <a:srgbClr val="0F0F0F"/>
                </a:solidFill>
                <a:effectLst/>
                <a:latin typeface="ui-sans-serif"/>
              </a:rPr>
              <a:t>hinge binders</a:t>
            </a:r>
            <a:r>
              <a:rPr lang="en-US" sz="4400" i="0" dirty="0">
                <a:solidFill>
                  <a:srgbClr val="0F0F0F"/>
                </a:solidFill>
                <a:effectLst/>
                <a:latin typeface="ui-sans-serif"/>
              </a:rPr>
              <a:t>, while Class 2 (gamma) is driven by </a:t>
            </a:r>
            <a:r>
              <a:rPr lang="en-US" sz="4400" i="0" dirty="0" err="1">
                <a:solidFill>
                  <a:srgbClr val="0F0F0F"/>
                </a:solidFill>
                <a:effectLst/>
                <a:latin typeface="ui-sans-serif"/>
              </a:rPr>
              <a:t>isoquinoline</a:t>
            </a:r>
            <a:r>
              <a:rPr lang="en-US" sz="4400" i="0" dirty="0">
                <a:solidFill>
                  <a:srgbClr val="0F0F0F"/>
                </a:solidFill>
                <a:effectLst/>
                <a:latin typeface="ui-sans-serif"/>
              </a:rPr>
              <a:t>/</a:t>
            </a:r>
            <a:r>
              <a:rPr lang="en-US" sz="4400" i="0" dirty="0" err="1">
                <a:solidFill>
                  <a:srgbClr val="0F0F0F"/>
                </a:solidFill>
                <a:effectLst/>
                <a:latin typeface="ui-sans-serif"/>
              </a:rPr>
              <a:t>dihydroisoquinolinone</a:t>
            </a:r>
            <a:r>
              <a:rPr lang="en-US" sz="4400" i="0" dirty="0">
                <a:solidFill>
                  <a:srgbClr val="0F0F0F"/>
                </a:solidFill>
                <a:effectLst/>
                <a:latin typeface="ui-sans-serif"/>
              </a:rPr>
              <a:t> scaffolds. This </a:t>
            </a:r>
            <a:r>
              <a:rPr lang="en-US" sz="4400" b="1" i="0" dirty="0">
                <a:solidFill>
                  <a:srgbClr val="0F0F0F"/>
                </a:solidFill>
                <a:effectLst/>
                <a:latin typeface="ui-sans-serif"/>
              </a:rPr>
              <a:t>aligns with known structure-activity relationships (SAR) in PI3K inhibitor design.</a:t>
            </a:r>
            <a:endParaRPr lang="en-US" sz="4400" i="0" dirty="0">
              <a:solidFill>
                <a:srgbClr val="0F0F0F"/>
              </a:solidFill>
              <a:effectLst/>
              <a:latin typeface="ui-sans-serif"/>
            </a:endParaRPr>
          </a:p>
          <a:p>
            <a:pPr marL="228600" indent="-228600">
              <a:spcAft>
                <a:spcPts val="1800"/>
              </a:spcAft>
              <a:buFont typeface="+mj-lt"/>
              <a:buAutoNum type="arabicPeriod" startAt="2"/>
            </a:pPr>
            <a:r>
              <a:rPr lang="en-US" sz="4400" b="1" i="0" dirty="0">
                <a:solidFill>
                  <a:srgbClr val="0F0F0F"/>
                </a:solidFill>
                <a:effectLst/>
                <a:latin typeface="ui-sans-serif"/>
              </a:rPr>
              <a:t>Hinge Region Mimicry</a:t>
            </a:r>
            <a:r>
              <a:rPr lang="en-US" sz="4400" i="0" dirty="0">
                <a:solidFill>
                  <a:srgbClr val="0F0F0F"/>
                </a:solidFill>
                <a:effectLst/>
                <a:latin typeface="ui-sans-serif"/>
              </a:rPr>
              <a:t>: The high anchor occurrence of cyano-pyrimidines in Class 1 confirms the model has learned the </a:t>
            </a:r>
            <a:r>
              <a:rPr lang="en-US" sz="4400" b="1" i="0" dirty="0">
                <a:solidFill>
                  <a:srgbClr val="0F0F0F"/>
                </a:solidFill>
                <a:effectLst/>
                <a:latin typeface="ui-sans-serif"/>
              </a:rPr>
              <a:t>canonical hydrogen-bonding motif</a:t>
            </a:r>
            <a:r>
              <a:rPr lang="en-US" sz="4400" i="0" dirty="0">
                <a:solidFill>
                  <a:srgbClr val="0F0F0F"/>
                </a:solidFill>
                <a:effectLst/>
                <a:latin typeface="ui-sans-serif"/>
              </a:rPr>
              <a:t> required for PI3K catalytic domain binding.</a:t>
            </a:r>
          </a:p>
          <a:p>
            <a:pPr marL="228600" indent="-228600">
              <a:spcAft>
                <a:spcPts val="1800"/>
              </a:spcAft>
              <a:buFont typeface="+mj-lt"/>
              <a:buAutoNum type="arabicPeriod" startAt="3"/>
            </a:pPr>
            <a:r>
              <a:rPr lang="en-US" sz="4400" b="1" i="0" dirty="0">
                <a:solidFill>
                  <a:srgbClr val="0F0F0F"/>
                </a:solidFill>
                <a:effectLst/>
                <a:latin typeface="ui-sans-serif"/>
              </a:rPr>
              <a:t>Scaffold-Driven Selectivity: </a:t>
            </a:r>
            <a:r>
              <a:rPr lang="en-US" sz="4400" i="0" dirty="0">
                <a:solidFill>
                  <a:srgbClr val="0F0F0F"/>
                </a:solidFill>
                <a:effectLst/>
                <a:latin typeface="ui-sans-serif"/>
              </a:rPr>
              <a:t>The dominance of bicyclic nitrogenous cores (</a:t>
            </a:r>
            <a:r>
              <a:rPr lang="en-US" sz="4400" i="0" dirty="0" err="1">
                <a:solidFill>
                  <a:srgbClr val="0F0F0F"/>
                </a:solidFill>
                <a:effectLst/>
                <a:latin typeface="ui-sans-serif"/>
              </a:rPr>
              <a:t>isoquinolines</a:t>
            </a:r>
            <a:r>
              <a:rPr lang="en-US" sz="4400" i="0" dirty="0">
                <a:solidFill>
                  <a:srgbClr val="0F0F0F"/>
                </a:solidFill>
                <a:effectLst/>
                <a:latin typeface="ui-sans-serif"/>
              </a:rPr>
              <a:t>) in Class 2 suggests that PI3K-gamma selectivity is </a:t>
            </a:r>
            <a:r>
              <a:rPr lang="en-US" sz="4400" b="1" i="0" dirty="0">
                <a:solidFill>
                  <a:srgbClr val="0F0F0F"/>
                </a:solidFill>
                <a:effectLst/>
                <a:latin typeface="ui-sans-serif"/>
              </a:rPr>
              <a:t>heavily scaffold-dependent</a:t>
            </a:r>
            <a:r>
              <a:rPr lang="en-US" sz="4400" i="0" dirty="0">
                <a:solidFill>
                  <a:srgbClr val="0F0F0F"/>
                </a:solidFill>
                <a:effectLst/>
                <a:latin typeface="ui-sans-serif"/>
              </a:rPr>
              <a:t>, likely due to subtle differences in the </a:t>
            </a:r>
            <a:r>
              <a:rPr lang="en-US" sz="4400" b="1" i="0" dirty="0">
                <a:solidFill>
                  <a:srgbClr val="0F0F0F"/>
                </a:solidFill>
                <a:effectLst/>
                <a:latin typeface="ui-sans-serif"/>
              </a:rPr>
              <a:t>gatekeeper residue </a:t>
            </a:r>
            <a:r>
              <a:rPr lang="en-US" sz="4400" i="0" dirty="0">
                <a:solidFill>
                  <a:srgbClr val="0F0F0F"/>
                </a:solidFill>
                <a:effectLst/>
                <a:latin typeface="ui-sans-serif"/>
              </a:rPr>
              <a:t>or </a:t>
            </a:r>
            <a:r>
              <a:rPr lang="en-US" sz="4400" b="1" i="0" dirty="0">
                <a:solidFill>
                  <a:srgbClr val="0F0F0F"/>
                </a:solidFill>
                <a:effectLst/>
                <a:latin typeface="ui-sans-serif"/>
              </a:rPr>
              <a:t>allosteric pocket topology </a:t>
            </a:r>
            <a:r>
              <a:rPr lang="en-US" sz="4400" i="0" dirty="0">
                <a:solidFill>
                  <a:srgbClr val="0F0F0F"/>
                </a:solidFill>
                <a:effectLst/>
                <a:latin typeface="ui-sans-serif"/>
              </a:rPr>
              <a:t>compared to PI3K-delta.</a:t>
            </a:r>
            <a:endParaRPr lang="en-US" sz="44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F75911C-6BD0-922D-B821-7CE96BED0CA3}"/>
              </a:ext>
            </a:extLst>
          </p:cNvPr>
          <p:cNvSpPr txBox="1"/>
          <p:nvPr/>
        </p:nvSpPr>
        <p:spPr>
          <a:xfrm>
            <a:off x="17784949" y="25123614"/>
            <a:ext cx="171573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rgbClr val="0F0F0F"/>
                </a:solidFill>
                <a:latin typeface="ui-sans-serif"/>
              </a:rPr>
              <a:t>Chemical insights &amp; discussion</a:t>
            </a:r>
            <a:endParaRPr lang="en-US" sz="5400" b="1" i="0" dirty="0">
              <a:solidFill>
                <a:srgbClr val="0F0F0F"/>
              </a:solidFill>
              <a:effectLst/>
              <a:latin typeface="ui-sans-serif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E02D07E-FA83-46F7-FBED-29C7C8CFC31A}"/>
              </a:ext>
            </a:extLst>
          </p:cNvPr>
          <p:cNvGrpSpPr/>
          <p:nvPr/>
        </p:nvGrpSpPr>
        <p:grpSpPr>
          <a:xfrm>
            <a:off x="12860226" y="33206377"/>
            <a:ext cx="27221082" cy="923330"/>
            <a:chOff x="13161742" y="35331084"/>
            <a:chExt cx="27221082" cy="923330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72807964-5BD9-B45A-64B0-2645DF88EB3B}"/>
                </a:ext>
              </a:extLst>
            </p:cNvPr>
            <p:cNvSpPr/>
            <p:nvPr/>
          </p:nvSpPr>
          <p:spPr>
            <a:xfrm>
              <a:off x="13161742" y="35440946"/>
              <a:ext cx="1646814" cy="703607"/>
            </a:xfrm>
            <a:prstGeom prst="rect">
              <a:avLst/>
            </a:prstGeom>
            <a:solidFill>
              <a:srgbClr val="A6CA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EACA069E-8CED-5E8A-69B1-E9F4FC24041A}"/>
                </a:ext>
              </a:extLst>
            </p:cNvPr>
            <p:cNvSpPr txBox="1"/>
            <p:nvPr/>
          </p:nvSpPr>
          <p:spPr>
            <a:xfrm>
              <a:off x="13960804" y="35331084"/>
              <a:ext cx="619952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dirty="0"/>
                <a:t>User prompt</a:t>
              </a: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83E7B6A-0D88-EE7A-862D-CD52DE210854}"/>
                </a:ext>
              </a:extLst>
            </p:cNvPr>
            <p:cNvSpPr/>
            <p:nvPr/>
          </p:nvSpPr>
          <p:spPr>
            <a:xfrm>
              <a:off x="25749158" y="35440946"/>
              <a:ext cx="1646814" cy="70360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358AE044-1305-34FC-BBC0-450EF8C6264C}"/>
                </a:ext>
              </a:extLst>
            </p:cNvPr>
            <p:cNvSpPr txBox="1"/>
            <p:nvPr/>
          </p:nvSpPr>
          <p:spPr>
            <a:xfrm>
              <a:off x="26376770" y="35331084"/>
              <a:ext cx="821853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dirty="0"/>
                <a:t>Response &amp; output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350C722C-59C7-EC1B-EC99-E1777E1494CE}"/>
                </a:ext>
              </a:extLst>
            </p:cNvPr>
            <p:cNvSpPr/>
            <p:nvPr/>
          </p:nvSpPr>
          <p:spPr>
            <a:xfrm>
              <a:off x="34204757" y="35440946"/>
              <a:ext cx="1646814" cy="703607"/>
            </a:xfrm>
            <a:prstGeom prst="rect">
              <a:avLst/>
            </a:prstGeom>
            <a:solidFill>
              <a:srgbClr val="B4E5A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24FCF701-8B21-25B2-2AE4-BF962FF75654}"/>
                </a:ext>
              </a:extLst>
            </p:cNvPr>
            <p:cNvSpPr txBox="1"/>
            <p:nvPr/>
          </p:nvSpPr>
          <p:spPr>
            <a:xfrm>
              <a:off x="35326982" y="35331084"/>
              <a:ext cx="505584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dirty="0"/>
                <a:t>Discussion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2B5BA64-5C49-72B3-4807-202BB7511121}"/>
                </a:ext>
              </a:extLst>
            </p:cNvPr>
            <p:cNvSpPr/>
            <p:nvPr/>
          </p:nvSpPr>
          <p:spPr>
            <a:xfrm>
              <a:off x="19941225" y="35440946"/>
              <a:ext cx="1646814" cy="703607"/>
            </a:xfrm>
            <a:prstGeom prst="rect">
              <a:avLst/>
            </a:prstGeom>
            <a:solidFill>
              <a:srgbClr val="D9D9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B838B24-BA64-D5F2-D98D-5C4BC2C2CAD6}"/>
                </a:ext>
              </a:extLst>
            </p:cNvPr>
            <p:cNvSpPr txBox="1"/>
            <p:nvPr/>
          </p:nvSpPr>
          <p:spPr>
            <a:xfrm>
              <a:off x="20283087" y="35331084"/>
              <a:ext cx="619952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dirty="0"/>
                <a:t>Tool calls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44434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97">
            <a:extLst>
              <a:ext uri="{FF2B5EF4-FFF2-40B4-BE49-F238E27FC236}">
                <a16:creationId xmlns:a16="http://schemas.microsoft.com/office/drawing/2014/main" id="{A7F1FF81-F85B-AEE0-1DE8-5EB96DE472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71" t="16772" r="25601" b="34684"/>
          <a:stretch/>
        </p:blipFill>
        <p:spPr>
          <a:xfrm>
            <a:off x="6677917" y="30348496"/>
            <a:ext cx="16999639" cy="4019155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BF4675B-24DA-ECE6-C51C-65069789A359}"/>
              </a:ext>
            </a:extLst>
          </p:cNvPr>
          <p:cNvSpPr/>
          <p:nvPr/>
        </p:nvSpPr>
        <p:spPr>
          <a:xfrm>
            <a:off x="6564917" y="7050566"/>
            <a:ext cx="37071692" cy="516579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D9CB3D1-7BFC-3386-B306-BDBBA5137ABA}"/>
              </a:ext>
            </a:extLst>
          </p:cNvPr>
          <p:cNvSpPr txBox="1"/>
          <p:nvPr/>
        </p:nvSpPr>
        <p:spPr>
          <a:xfrm>
            <a:off x="16522078" y="12574083"/>
            <a:ext cx="171573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rgbClr val="0F0F0F"/>
                </a:solidFill>
                <a:latin typeface="ui-sans-serif"/>
              </a:rPr>
              <a:t>Pair 1: </a:t>
            </a:r>
            <a:r>
              <a:rPr lang="en-US" sz="5400" b="1" dirty="0" err="1">
                <a:solidFill>
                  <a:srgbClr val="0F0F0F"/>
                </a:solidFill>
                <a:latin typeface="ui-sans-serif"/>
              </a:rPr>
              <a:t>MolAnchor</a:t>
            </a:r>
            <a:r>
              <a:rPr lang="en-US" sz="5400" b="1" dirty="0">
                <a:solidFill>
                  <a:srgbClr val="0F0F0F"/>
                </a:solidFill>
                <a:latin typeface="ui-sans-serif"/>
              </a:rPr>
              <a:t> vs SHAP</a:t>
            </a:r>
            <a:endParaRPr lang="en-US" sz="5400" b="1" i="0" dirty="0">
              <a:solidFill>
                <a:srgbClr val="0F0F0F"/>
              </a:solidFill>
              <a:effectLst/>
              <a:latin typeface="ui-sans-serif"/>
            </a:endParaRPr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6C13FBF4-81B4-461D-A19D-5804EED023DD}"/>
              </a:ext>
            </a:extLst>
          </p:cNvPr>
          <p:cNvSpPr/>
          <p:nvPr/>
        </p:nvSpPr>
        <p:spPr>
          <a:xfrm>
            <a:off x="6564918" y="492287"/>
            <a:ext cx="37071691" cy="6053787"/>
          </a:xfrm>
          <a:prstGeom prst="round2Same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6000" dirty="0">
                <a:solidFill>
                  <a:schemeClr val="tx1"/>
                </a:solidFill>
              </a:rPr>
              <a:t>You are running an explainability benchmarking study for compound bioactivity prediction. The goal is to train a Deep Neural Network to distinguish compounds active against the D(2) dopamine receptor (</a:t>
            </a:r>
            <a:r>
              <a:rPr lang="en-US" sz="6000" dirty="0" err="1">
                <a:solidFill>
                  <a:schemeClr val="tx1"/>
                </a:solidFill>
              </a:rPr>
              <a:t>UniProt</a:t>
            </a:r>
            <a:r>
              <a:rPr lang="en-US" sz="6000" dirty="0">
                <a:solidFill>
                  <a:schemeClr val="tx1"/>
                </a:solidFill>
              </a:rPr>
              <a:t> P14416) from inactive compounds, evaluate its performance, and then directly compare two pairs of explainability methods on the same on the same correctly predicted active compound:  </a:t>
            </a:r>
            <a:r>
              <a:rPr lang="en-US" sz="6000" dirty="0" err="1">
                <a:solidFill>
                  <a:schemeClr val="tx1"/>
                </a:solidFill>
              </a:rPr>
              <a:t>Molanchor</a:t>
            </a:r>
            <a:r>
              <a:rPr lang="en-US" sz="6000" dirty="0">
                <a:solidFill>
                  <a:schemeClr val="tx1"/>
                </a:solidFill>
              </a:rPr>
              <a:t> vs SHAP and </a:t>
            </a:r>
            <a:r>
              <a:rPr lang="en-US" sz="6000" dirty="0" err="1">
                <a:solidFill>
                  <a:schemeClr val="tx1"/>
                </a:solidFill>
              </a:rPr>
              <a:t>MolCE</a:t>
            </a:r>
            <a:r>
              <a:rPr lang="en-US" sz="6000" dirty="0">
                <a:solidFill>
                  <a:schemeClr val="tx1"/>
                </a:solidFill>
              </a:rPr>
              <a:t> vs Counterfactuals. Summarize where the methods agree on the structural determinants of the predictions and where they disagree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60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1C29497D-2B90-2BE5-88BB-D67B8144BA05}"/>
              </a:ext>
            </a:extLst>
          </p:cNvPr>
          <p:cNvSpPr/>
          <p:nvPr/>
        </p:nvSpPr>
        <p:spPr>
          <a:xfrm>
            <a:off x="6564918" y="13607274"/>
            <a:ext cx="37071691" cy="1430996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: Top Corners Rounded 74">
            <a:extLst>
              <a:ext uri="{FF2B5EF4-FFF2-40B4-BE49-F238E27FC236}">
                <a16:creationId xmlns:a16="http://schemas.microsoft.com/office/drawing/2014/main" id="{ADA389BC-6277-D00F-8843-FDFC3BF7E611}"/>
              </a:ext>
            </a:extLst>
          </p:cNvPr>
          <p:cNvSpPr/>
          <p:nvPr/>
        </p:nvSpPr>
        <p:spPr>
          <a:xfrm rot="10800000">
            <a:off x="6594255" y="43149687"/>
            <a:ext cx="37013016" cy="7781566"/>
          </a:xfrm>
          <a:prstGeom prst="round2Same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9821E32-A8A6-C518-B031-E9D5E16F9A8D}"/>
              </a:ext>
            </a:extLst>
          </p:cNvPr>
          <p:cNvSpPr txBox="1"/>
          <p:nvPr/>
        </p:nvSpPr>
        <p:spPr>
          <a:xfrm>
            <a:off x="6891932" y="43647051"/>
            <a:ext cx="36417663" cy="8094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200"/>
              </a:spcAft>
              <a:buFont typeface="+mj-lt"/>
              <a:buAutoNum type="arabicPeriod"/>
            </a:pPr>
            <a:r>
              <a:rPr lang="en-US" sz="4400" b="1" i="0" dirty="0">
                <a:solidFill>
                  <a:srgbClr val="0F0F0F"/>
                </a:solidFill>
                <a:effectLst/>
                <a:latin typeface="ui-sans-serif"/>
              </a:rPr>
              <a:t> Convergent Pharmacophore: </a:t>
            </a:r>
            <a:r>
              <a:rPr lang="en-US" sz="4400" i="0" dirty="0">
                <a:solidFill>
                  <a:srgbClr val="0F0F0F"/>
                </a:solidFill>
                <a:effectLst/>
                <a:latin typeface="ui-sans-serif"/>
              </a:rPr>
              <a:t>All four methods agree that the piperazine-benzyl-morpholinone core is the essential pharmacophore for D2 receptor binding.</a:t>
            </a:r>
          </a:p>
          <a:p>
            <a:pPr marL="228600" indent="-228600">
              <a:spcAft>
                <a:spcPts val="1200"/>
              </a:spcAft>
              <a:buFont typeface="+mj-lt"/>
              <a:buAutoNum type="arabicPeriod"/>
            </a:pPr>
            <a:r>
              <a:rPr lang="en-US" sz="4400" b="1" i="0" dirty="0">
                <a:solidFill>
                  <a:srgbClr val="0F0F0F"/>
                </a:solidFill>
                <a:effectLst/>
                <a:latin typeface="ui-sans-serif"/>
              </a:rPr>
              <a:t> Critical Switch: </a:t>
            </a:r>
            <a:r>
              <a:rPr lang="en-US" sz="4400" i="0" dirty="0">
                <a:solidFill>
                  <a:srgbClr val="0F0F0F"/>
                </a:solidFill>
                <a:effectLst/>
                <a:latin typeface="ui-sans-serif"/>
              </a:rPr>
              <a:t>The piperazine nitrogen substituent acts as an "on/off switch"—modifying it can eliminate activity even with the intact core scaffold intact.</a:t>
            </a:r>
          </a:p>
          <a:p>
            <a:pPr marL="228600" indent="-228600">
              <a:spcAft>
                <a:spcPts val="1200"/>
              </a:spcAft>
              <a:buFont typeface="+mj-lt"/>
              <a:buAutoNum type="arabicPeriod"/>
            </a:pPr>
            <a:r>
              <a:rPr lang="en-US" sz="4400" b="1" i="0" dirty="0">
                <a:solidFill>
                  <a:srgbClr val="0F0F0F"/>
                </a:solidFill>
                <a:effectLst/>
                <a:latin typeface="ui-sans-serif"/>
              </a:rPr>
              <a:t> Method Complementarity:</a:t>
            </a:r>
          </a:p>
          <a:p>
            <a:pPr marL="57150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400" b="1" i="0" dirty="0" err="1">
                <a:solidFill>
                  <a:srgbClr val="0F0F0F"/>
                </a:solidFill>
                <a:effectLst/>
                <a:latin typeface="ui-sans-serif"/>
              </a:rPr>
              <a:t>MolAnchor</a:t>
            </a:r>
            <a:r>
              <a:rPr lang="en-US" sz="4400" b="1" i="0" dirty="0">
                <a:solidFill>
                  <a:srgbClr val="0F0F0F"/>
                </a:solidFill>
                <a:effectLst/>
                <a:latin typeface="ui-sans-serif"/>
              </a:rPr>
              <a:t>: </a:t>
            </a:r>
            <a:r>
              <a:rPr lang="en-US" sz="4400" i="0" dirty="0">
                <a:solidFill>
                  <a:srgbClr val="0F0F0F"/>
                </a:solidFill>
                <a:effectLst/>
                <a:latin typeface="ui-sans-serif"/>
              </a:rPr>
              <a:t>Best for identifying dominant fragments with high precision</a:t>
            </a:r>
          </a:p>
          <a:p>
            <a:pPr marL="57150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400" b="1" i="0" dirty="0">
                <a:solidFill>
                  <a:srgbClr val="0F0F0F"/>
                </a:solidFill>
                <a:effectLst/>
                <a:latin typeface="ui-sans-serif"/>
              </a:rPr>
              <a:t>SHAP: </a:t>
            </a:r>
            <a:r>
              <a:rPr lang="en-US" sz="4400" i="0" dirty="0">
                <a:solidFill>
                  <a:srgbClr val="0F0F0F"/>
                </a:solidFill>
                <a:effectLst/>
                <a:latin typeface="ui-sans-serif"/>
              </a:rPr>
              <a:t>Best for revealing distributed importance and negative contributions</a:t>
            </a:r>
          </a:p>
          <a:p>
            <a:pPr marL="57150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400" b="1" i="0" dirty="0" err="1">
                <a:solidFill>
                  <a:srgbClr val="0F0F0F"/>
                </a:solidFill>
                <a:effectLst/>
                <a:latin typeface="ui-sans-serif"/>
              </a:rPr>
              <a:t>MolCE</a:t>
            </a:r>
            <a:r>
              <a:rPr lang="en-US" sz="4400" i="0" dirty="0">
                <a:solidFill>
                  <a:srgbClr val="0F0F0F"/>
                </a:solidFill>
                <a:effectLst/>
                <a:latin typeface="ui-sans-serif"/>
              </a:rPr>
              <a:t>: Best for identifying contrastive features (what distinguishes active from inactive)</a:t>
            </a:r>
          </a:p>
          <a:p>
            <a:pPr marL="57150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400" b="1" i="0" dirty="0">
                <a:solidFill>
                  <a:srgbClr val="0F0F0F"/>
                </a:solidFill>
                <a:effectLst/>
                <a:latin typeface="ui-sans-serif"/>
              </a:rPr>
              <a:t>Counterfactuals: </a:t>
            </a:r>
            <a:r>
              <a:rPr lang="en-US" sz="4400" i="0" dirty="0">
                <a:solidFill>
                  <a:srgbClr val="0F0F0F"/>
                </a:solidFill>
                <a:effectLst/>
                <a:latin typeface="ui-sans-serif"/>
              </a:rPr>
              <a:t>Best for generating actionable structural modifications</a:t>
            </a:r>
          </a:p>
          <a:p>
            <a:pPr marL="742950" indent="-742950">
              <a:spcAft>
                <a:spcPts val="1200"/>
              </a:spcAft>
              <a:buFont typeface="+mj-lt"/>
              <a:buAutoNum type="arabicPeriod" startAt="4"/>
            </a:pPr>
            <a:r>
              <a:rPr lang="en-US" sz="4400" b="1" i="0" dirty="0">
                <a:solidFill>
                  <a:srgbClr val="0F0F0F"/>
                </a:solidFill>
                <a:effectLst/>
                <a:latin typeface="ui-sans-serif"/>
              </a:rPr>
              <a:t>Limitation Insight: </a:t>
            </a:r>
            <a:r>
              <a:rPr lang="en-US" sz="4400" i="0" dirty="0" err="1">
                <a:solidFill>
                  <a:srgbClr val="0F0F0F"/>
                </a:solidFill>
                <a:effectLst/>
                <a:latin typeface="ui-sans-serif"/>
              </a:rPr>
              <a:t>MolAnchor's</a:t>
            </a:r>
            <a:r>
              <a:rPr lang="en-US" sz="4400" i="0" dirty="0">
                <a:solidFill>
                  <a:srgbClr val="0F0F0F"/>
                </a:solidFill>
                <a:effectLst/>
                <a:latin typeface="ui-sans-serif"/>
              </a:rPr>
              <a:t> single-anchor view may oversimplify; SHAP reveals the benzothiazole's positive contribution that </a:t>
            </a:r>
            <a:r>
              <a:rPr lang="en-US" sz="4400" i="0" dirty="0" err="1">
                <a:solidFill>
                  <a:srgbClr val="0F0F0F"/>
                </a:solidFill>
                <a:effectLst/>
                <a:latin typeface="ui-sans-serif"/>
              </a:rPr>
              <a:t>MolAnchor</a:t>
            </a:r>
            <a:r>
              <a:rPr lang="en-US" sz="4400" i="0" dirty="0">
                <a:solidFill>
                  <a:srgbClr val="0F0F0F"/>
                </a:solidFill>
                <a:effectLst/>
                <a:latin typeface="ui-sans-serif"/>
              </a:rPr>
              <a:t> misses. Counterfactuals show that the core scaffold alone is necessary but not sufficient—the N-substituent is the decisive factor.</a:t>
            </a:r>
          </a:p>
          <a:p>
            <a:pPr marL="228600" indent="-228600">
              <a:buFont typeface="+mj-lt"/>
              <a:buAutoNum type="arabicPeriod" startAt="4"/>
            </a:pPr>
            <a:endParaRPr lang="en-US" sz="4400" b="1" i="0" dirty="0">
              <a:solidFill>
                <a:srgbClr val="0F0F0F"/>
              </a:solidFill>
              <a:effectLst/>
              <a:latin typeface="ui-sans-serif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F75911C-6BD0-922D-B821-7CE96BED0CA3}"/>
              </a:ext>
            </a:extLst>
          </p:cNvPr>
          <p:cNvSpPr txBox="1"/>
          <p:nvPr/>
        </p:nvSpPr>
        <p:spPr>
          <a:xfrm>
            <a:off x="16522078" y="42190355"/>
            <a:ext cx="171573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rgbClr val="0F0F0F"/>
                </a:solidFill>
                <a:latin typeface="ui-sans-serif"/>
              </a:rPr>
              <a:t>Key takeaways</a:t>
            </a:r>
            <a:endParaRPr lang="en-US" sz="5400" b="1" i="0" dirty="0">
              <a:solidFill>
                <a:srgbClr val="0F0F0F"/>
              </a:solidFill>
              <a:effectLst/>
              <a:latin typeface="ui-sans-serif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E02D07E-FA83-46F7-FBED-29C7C8CFC31A}"/>
              </a:ext>
            </a:extLst>
          </p:cNvPr>
          <p:cNvGrpSpPr/>
          <p:nvPr/>
        </p:nvGrpSpPr>
        <p:grpSpPr>
          <a:xfrm>
            <a:off x="11490222" y="51440427"/>
            <a:ext cx="27221082" cy="923330"/>
            <a:chOff x="13161742" y="35331084"/>
            <a:chExt cx="27221082" cy="923330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72807964-5BD9-B45A-64B0-2645DF88EB3B}"/>
                </a:ext>
              </a:extLst>
            </p:cNvPr>
            <p:cNvSpPr/>
            <p:nvPr/>
          </p:nvSpPr>
          <p:spPr>
            <a:xfrm>
              <a:off x="13161742" y="35440946"/>
              <a:ext cx="1646814" cy="703607"/>
            </a:xfrm>
            <a:prstGeom prst="rect">
              <a:avLst/>
            </a:prstGeom>
            <a:solidFill>
              <a:srgbClr val="A6CA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EACA069E-8CED-5E8A-69B1-E9F4FC24041A}"/>
                </a:ext>
              </a:extLst>
            </p:cNvPr>
            <p:cNvSpPr txBox="1"/>
            <p:nvPr/>
          </p:nvSpPr>
          <p:spPr>
            <a:xfrm>
              <a:off x="13960804" y="35331084"/>
              <a:ext cx="619952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dirty="0"/>
                <a:t>User prompt</a:t>
              </a: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83E7B6A-0D88-EE7A-862D-CD52DE210854}"/>
                </a:ext>
              </a:extLst>
            </p:cNvPr>
            <p:cNvSpPr/>
            <p:nvPr/>
          </p:nvSpPr>
          <p:spPr>
            <a:xfrm>
              <a:off x="25749158" y="35440946"/>
              <a:ext cx="1646814" cy="70360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358AE044-1305-34FC-BBC0-450EF8C6264C}"/>
                </a:ext>
              </a:extLst>
            </p:cNvPr>
            <p:cNvSpPr txBox="1"/>
            <p:nvPr/>
          </p:nvSpPr>
          <p:spPr>
            <a:xfrm>
              <a:off x="26376770" y="35331084"/>
              <a:ext cx="821853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dirty="0"/>
                <a:t>Response &amp; output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350C722C-59C7-EC1B-EC99-E1777E1494CE}"/>
                </a:ext>
              </a:extLst>
            </p:cNvPr>
            <p:cNvSpPr/>
            <p:nvPr/>
          </p:nvSpPr>
          <p:spPr>
            <a:xfrm>
              <a:off x="34204757" y="35440946"/>
              <a:ext cx="1646814" cy="703607"/>
            </a:xfrm>
            <a:prstGeom prst="rect">
              <a:avLst/>
            </a:prstGeom>
            <a:solidFill>
              <a:srgbClr val="B4E5A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24FCF701-8B21-25B2-2AE4-BF962FF75654}"/>
                </a:ext>
              </a:extLst>
            </p:cNvPr>
            <p:cNvSpPr txBox="1"/>
            <p:nvPr/>
          </p:nvSpPr>
          <p:spPr>
            <a:xfrm>
              <a:off x="35326982" y="35331084"/>
              <a:ext cx="505584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dirty="0"/>
                <a:t>Discussion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2B5BA64-5C49-72B3-4807-202BB7511121}"/>
                </a:ext>
              </a:extLst>
            </p:cNvPr>
            <p:cNvSpPr/>
            <p:nvPr/>
          </p:nvSpPr>
          <p:spPr>
            <a:xfrm>
              <a:off x="19941225" y="35440946"/>
              <a:ext cx="1646814" cy="703607"/>
            </a:xfrm>
            <a:prstGeom prst="rect">
              <a:avLst/>
            </a:prstGeom>
            <a:solidFill>
              <a:srgbClr val="D9D9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B838B24-BA64-D5F2-D98D-5C4BC2C2CAD6}"/>
                </a:ext>
              </a:extLst>
            </p:cNvPr>
            <p:cNvSpPr txBox="1"/>
            <p:nvPr/>
          </p:nvSpPr>
          <p:spPr>
            <a:xfrm>
              <a:off x="20283087" y="35331084"/>
              <a:ext cx="619952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dirty="0"/>
                <a:t>Tool calls</a:t>
              </a: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686AEDAD-7926-E065-5CEF-0258F653ADAC}"/>
              </a:ext>
            </a:extLst>
          </p:cNvPr>
          <p:cNvGrpSpPr/>
          <p:nvPr/>
        </p:nvGrpSpPr>
        <p:grpSpPr>
          <a:xfrm>
            <a:off x="7138763" y="7498381"/>
            <a:ext cx="35924001" cy="4270163"/>
            <a:chOff x="6759986" y="11876103"/>
            <a:chExt cx="35924001" cy="4270163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465AE2D3-52C5-2D04-D846-EC865A9F4DC7}"/>
                </a:ext>
              </a:extLst>
            </p:cNvPr>
            <p:cNvSpPr/>
            <p:nvPr/>
          </p:nvSpPr>
          <p:spPr>
            <a:xfrm>
              <a:off x="6759986" y="12124268"/>
              <a:ext cx="6499225" cy="1338439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dirty="0">
                  <a:solidFill>
                    <a:schemeClr val="tx1"/>
                  </a:solidFill>
                </a:rPr>
                <a:t>Find dataset</a:t>
              </a: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DB85F9D-5273-DCFF-C989-7562C2561479}"/>
                </a:ext>
              </a:extLst>
            </p:cNvPr>
            <p:cNvSpPr/>
            <p:nvPr/>
          </p:nvSpPr>
          <p:spPr>
            <a:xfrm>
              <a:off x="6759986" y="14558075"/>
              <a:ext cx="6499225" cy="1338439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dirty="0">
                  <a:solidFill>
                    <a:schemeClr val="tx1"/>
                  </a:solidFill>
                </a:rPr>
                <a:t>Load dataset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872B3574-1A6E-95E9-EEA3-C496E1B2F4CE}"/>
                </a:ext>
              </a:extLst>
            </p:cNvPr>
            <p:cNvSpPr/>
            <p:nvPr/>
          </p:nvSpPr>
          <p:spPr>
            <a:xfrm>
              <a:off x="14116180" y="14558075"/>
              <a:ext cx="6499225" cy="1338439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dirty="0">
                  <a:solidFill>
                    <a:schemeClr val="tx1"/>
                  </a:solidFill>
                </a:rPr>
                <a:t>Compute features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B67E2D9-9E9D-F863-4BAE-D1ACB7A59896}"/>
                </a:ext>
              </a:extLst>
            </p:cNvPr>
            <p:cNvSpPr/>
            <p:nvPr/>
          </p:nvSpPr>
          <p:spPr>
            <a:xfrm>
              <a:off x="14116180" y="12124268"/>
              <a:ext cx="6499225" cy="1338439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dirty="0">
                  <a:solidFill>
                    <a:schemeClr val="tx1"/>
                  </a:solidFill>
                </a:rPr>
                <a:t>Split dataset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344948B-9127-5D85-04AF-9E27623C51DB}"/>
                </a:ext>
              </a:extLst>
            </p:cNvPr>
            <p:cNvSpPr/>
            <p:nvPr/>
          </p:nvSpPr>
          <p:spPr>
            <a:xfrm>
              <a:off x="21472374" y="12124268"/>
              <a:ext cx="6499225" cy="1338439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dirty="0">
                  <a:solidFill>
                    <a:schemeClr val="tx1"/>
                  </a:solidFill>
                </a:rPr>
                <a:t>Train model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B31298B-CDEF-CDC2-2977-DCA4EAA13569}"/>
                </a:ext>
              </a:extLst>
            </p:cNvPr>
            <p:cNvSpPr/>
            <p:nvPr/>
          </p:nvSpPr>
          <p:spPr>
            <a:xfrm>
              <a:off x="21472374" y="14309910"/>
              <a:ext cx="6499225" cy="1834769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dirty="0">
                  <a:solidFill>
                    <a:schemeClr val="tx1"/>
                  </a:solidFill>
                </a:rPr>
                <a:t>Explain with </a:t>
              </a:r>
              <a:r>
                <a:rPr lang="en-US" sz="6000" dirty="0" err="1">
                  <a:solidFill>
                    <a:schemeClr val="tx1"/>
                  </a:solidFill>
                </a:rPr>
                <a:t>molanchor</a:t>
              </a:r>
              <a:endParaRPr lang="en-US" sz="6000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A2D69792-6240-2A88-CEB7-39F07C646BE7}"/>
                </a:ext>
              </a:extLst>
            </p:cNvPr>
            <p:cNvSpPr/>
            <p:nvPr/>
          </p:nvSpPr>
          <p:spPr>
            <a:xfrm>
              <a:off x="28828568" y="14308322"/>
              <a:ext cx="6499225" cy="183794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dirty="0">
                  <a:solidFill>
                    <a:schemeClr val="tx1"/>
                  </a:solidFill>
                </a:rPr>
                <a:t>Explain smiles with SHAP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0EB09105-A603-3792-FA56-C202D530844E}"/>
                </a:ext>
              </a:extLst>
            </p:cNvPr>
            <p:cNvCxnSpPr>
              <a:cxnSpLocks/>
              <a:stCxn id="3" idx="2"/>
              <a:endCxn id="4" idx="0"/>
            </p:cNvCxnSpPr>
            <p:nvPr/>
          </p:nvCxnSpPr>
          <p:spPr>
            <a:xfrm>
              <a:off x="10009599" y="13462707"/>
              <a:ext cx="0" cy="1095368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26109EB-84B7-25A1-4C4D-5E40E7C05280}"/>
                </a:ext>
              </a:extLst>
            </p:cNvPr>
            <p:cNvCxnSpPr>
              <a:cxnSpLocks/>
              <a:stCxn id="4" idx="3"/>
              <a:endCxn id="8" idx="1"/>
            </p:cNvCxnSpPr>
            <p:nvPr/>
          </p:nvCxnSpPr>
          <p:spPr>
            <a:xfrm>
              <a:off x="13259211" y="15227295"/>
              <a:ext cx="856969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FE9E200C-F61C-E3BC-C813-973305E697A5}"/>
                </a:ext>
              </a:extLst>
            </p:cNvPr>
            <p:cNvCxnSpPr>
              <a:cxnSpLocks/>
              <a:stCxn id="8" idx="0"/>
              <a:endCxn id="9" idx="2"/>
            </p:cNvCxnSpPr>
            <p:nvPr/>
          </p:nvCxnSpPr>
          <p:spPr>
            <a:xfrm flipV="1">
              <a:off x="17365793" y="13462707"/>
              <a:ext cx="0" cy="1095368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6B958271-883F-8940-76BB-8AF8F00A9DC4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 flipV="1">
              <a:off x="20615405" y="12793487"/>
              <a:ext cx="856969" cy="1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4B6177B-6EC6-A0F4-463E-CAAB2559ADE4}"/>
                </a:ext>
              </a:extLst>
            </p:cNvPr>
            <p:cNvCxnSpPr>
              <a:cxnSpLocks/>
              <a:stCxn id="10" idx="2"/>
              <a:endCxn id="12" idx="0"/>
            </p:cNvCxnSpPr>
            <p:nvPr/>
          </p:nvCxnSpPr>
          <p:spPr>
            <a:xfrm>
              <a:off x="24721987" y="13462707"/>
              <a:ext cx="0" cy="847203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617806EB-FC1C-9A83-BF43-2E984DA88F27}"/>
                </a:ext>
              </a:extLst>
            </p:cNvPr>
            <p:cNvCxnSpPr>
              <a:cxnSpLocks/>
              <a:stCxn id="12" idx="3"/>
              <a:endCxn id="13" idx="1"/>
            </p:cNvCxnSpPr>
            <p:nvPr/>
          </p:nvCxnSpPr>
          <p:spPr>
            <a:xfrm flipV="1">
              <a:off x="27971599" y="15227294"/>
              <a:ext cx="856969" cy="1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B9E2F0D2-758C-ADDA-FB1D-86150C43DBFB}"/>
                </a:ext>
              </a:extLst>
            </p:cNvPr>
            <p:cNvSpPr/>
            <p:nvPr/>
          </p:nvSpPr>
          <p:spPr>
            <a:xfrm>
              <a:off x="28828568" y="11876103"/>
              <a:ext cx="6499225" cy="1834769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dirty="0">
                  <a:solidFill>
                    <a:schemeClr val="tx1"/>
                  </a:solidFill>
                </a:rPr>
                <a:t>Explain with </a:t>
              </a:r>
              <a:r>
                <a:rPr lang="en-US" sz="6000" dirty="0" err="1">
                  <a:solidFill>
                    <a:schemeClr val="tx1"/>
                  </a:solidFill>
                </a:rPr>
                <a:t>MolCE</a:t>
              </a:r>
              <a:endParaRPr lang="en-US" sz="6000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B8F65186-81B1-D1B8-C13F-3957238F2887}"/>
                </a:ext>
              </a:extLst>
            </p:cNvPr>
            <p:cNvSpPr/>
            <p:nvPr/>
          </p:nvSpPr>
          <p:spPr>
            <a:xfrm>
              <a:off x="36184762" y="11876103"/>
              <a:ext cx="6499225" cy="1834769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dirty="0">
                  <a:solidFill>
                    <a:schemeClr val="tx1"/>
                  </a:solidFill>
                </a:rPr>
                <a:t>Generate counterfactuals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494FD80-29C3-EE6B-FDB2-9A808DC94B6F}"/>
                </a:ext>
              </a:extLst>
            </p:cNvPr>
            <p:cNvCxnSpPr>
              <a:cxnSpLocks/>
              <a:stCxn id="13" idx="0"/>
              <a:endCxn id="11" idx="2"/>
            </p:cNvCxnSpPr>
            <p:nvPr/>
          </p:nvCxnSpPr>
          <p:spPr>
            <a:xfrm flipV="1">
              <a:off x="32078181" y="13710872"/>
              <a:ext cx="0" cy="59745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87FD3E7C-BE4B-8079-4E21-3CAB73D84A8F}"/>
                </a:ext>
              </a:extLst>
            </p:cNvPr>
            <p:cNvSpPr/>
            <p:nvPr/>
          </p:nvSpPr>
          <p:spPr>
            <a:xfrm>
              <a:off x="36184762" y="14308322"/>
              <a:ext cx="6499225" cy="183794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dirty="0">
                  <a:solidFill>
                    <a:schemeClr val="tx1"/>
                  </a:solidFill>
                </a:rPr>
                <a:t>Get top k bit environments</a:t>
              </a: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6B52E9F8-65B2-1599-AE34-E1A6FD0F09B4}"/>
                </a:ext>
              </a:extLst>
            </p:cNvPr>
            <p:cNvCxnSpPr>
              <a:cxnSpLocks/>
              <a:stCxn id="11" idx="3"/>
              <a:endCxn id="15" idx="1"/>
            </p:cNvCxnSpPr>
            <p:nvPr/>
          </p:nvCxnSpPr>
          <p:spPr>
            <a:xfrm>
              <a:off x="35327793" y="12793488"/>
              <a:ext cx="856969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1E37A21C-5BCA-35D4-54D6-C61119FAA409}"/>
                </a:ext>
              </a:extLst>
            </p:cNvPr>
            <p:cNvCxnSpPr>
              <a:cxnSpLocks/>
              <a:stCxn id="15" idx="2"/>
              <a:endCxn id="34" idx="0"/>
            </p:cNvCxnSpPr>
            <p:nvPr/>
          </p:nvCxnSpPr>
          <p:spPr>
            <a:xfrm>
              <a:off x="39434375" y="13710872"/>
              <a:ext cx="0" cy="59745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375CDCAE-E997-6AB6-EE31-7EEA0E2E635E}"/>
              </a:ext>
            </a:extLst>
          </p:cNvPr>
          <p:cNvSpPr txBox="1"/>
          <p:nvPr/>
        </p:nvSpPr>
        <p:spPr>
          <a:xfrm>
            <a:off x="31448517" y="13705366"/>
            <a:ext cx="63102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/>
              <a:t>SHAP</a:t>
            </a:r>
            <a:endParaRPr lang="de-DE" sz="5400" b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A5C72D7-D885-252B-9D5B-8FCC3218E83B}"/>
              </a:ext>
            </a:extLst>
          </p:cNvPr>
          <p:cNvSpPr txBox="1"/>
          <p:nvPr/>
        </p:nvSpPr>
        <p:spPr>
          <a:xfrm>
            <a:off x="12146227" y="13705366"/>
            <a:ext cx="66034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err="1"/>
              <a:t>MolAnchor</a:t>
            </a:r>
            <a:endParaRPr lang="de-DE" sz="5400" b="1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205590DA-02DC-2BC3-5EB1-2191FD671C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6" t="21016" r="3144" b="22505"/>
          <a:stretch/>
        </p:blipFill>
        <p:spPr>
          <a:xfrm>
            <a:off x="10113408" y="14740867"/>
            <a:ext cx="10669097" cy="6535613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77B645A-806B-0951-E881-FFC87314EA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25" t="17564" r="10242" b="16495"/>
          <a:stretch/>
        </p:blipFill>
        <p:spPr>
          <a:xfrm>
            <a:off x="29190808" y="14586918"/>
            <a:ext cx="10825674" cy="6843510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F75F65F4-FB7F-51FF-4984-C82E951ABDA0}"/>
              </a:ext>
            </a:extLst>
          </p:cNvPr>
          <p:cNvSpPr txBox="1"/>
          <p:nvPr/>
        </p:nvSpPr>
        <p:spPr>
          <a:xfrm>
            <a:off x="7218356" y="21656089"/>
            <a:ext cx="16459200" cy="597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400" b="1" dirty="0"/>
              <a:t>✅ AGREEMENTS (</a:t>
            </a:r>
            <a:r>
              <a:rPr lang="en-US" sz="4400" b="1" dirty="0" err="1"/>
              <a:t>MolAnchor</a:t>
            </a:r>
            <a:r>
              <a:rPr lang="en-US" sz="4400" b="1" dirty="0"/>
              <a:t> ↔ SHAP)</a:t>
            </a:r>
          </a:p>
          <a:p>
            <a:pPr marL="742950" indent="-742950" algn="just">
              <a:spcAft>
                <a:spcPts val="1200"/>
              </a:spcAft>
              <a:buFont typeface="+mj-lt"/>
              <a:buAutoNum type="arabicPeriod"/>
            </a:pPr>
            <a:r>
              <a:rPr lang="en-US" sz="4400" b="1" dirty="0"/>
              <a:t>Core scaffold importance: </a:t>
            </a:r>
            <a:r>
              <a:rPr lang="en-US" sz="4400" dirty="0"/>
              <a:t>Both methods identify the piperazine/benzyl core as critical</a:t>
            </a:r>
          </a:p>
          <a:p>
            <a:pPr marL="742950" indent="-742950" algn="just">
              <a:spcAft>
                <a:spcPts val="1200"/>
              </a:spcAft>
              <a:buFont typeface="+mj-lt"/>
              <a:buAutoNum type="arabicPeriod"/>
            </a:pPr>
            <a:r>
              <a:rPr lang="en-US" sz="4400" b="1" dirty="0"/>
              <a:t>N-methyl motif: </a:t>
            </a:r>
            <a:r>
              <a:rPr lang="en-US" sz="4400" dirty="0"/>
              <a:t>SHAP's top features (Bits 1280, 1791, 1792) all involve the N-methyl/benzyl-dimethylamine region captured by </a:t>
            </a:r>
            <a:r>
              <a:rPr lang="en-US" sz="4400" dirty="0" err="1"/>
              <a:t>MolAnchor's</a:t>
            </a:r>
            <a:r>
              <a:rPr lang="en-US" sz="4400" dirty="0"/>
              <a:t> anchor</a:t>
            </a:r>
          </a:p>
          <a:p>
            <a:pPr marL="742950" indent="-742950" algn="just">
              <a:spcAft>
                <a:spcPts val="1200"/>
              </a:spcAft>
              <a:buFont typeface="+mj-lt"/>
              <a:buAutoNum type="arabicPeriod"/>
            </a:pPr>
            <a:r>
              <a:rPr lang="en-US" sz="4400" b="1" dirty="0"/>
              <a:t>Pharmacophore consensus</a:t>
            </a:r>
            <a:r>
              <a:rPr lang="en-US" sz="4400" dirty="0"/>
              <a:t>: Both confirm the morpholinone-piperazine-benzyl framework is essential for D2 binding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E7006D0-478E-9B07-8E29-CFFE8A3BC008}"/>
              </a:ext>
            </a:extLst>
          </p:cNvPr>
          <p:cNvSpPr txBox="1"/>
          <p:nvPr/>
        </p:nvSpPr>
        <p:spPr>
          <a:xfrm>
            <a:off x="26374045" y="21656089"/>
            <a:ext cx="16459200" cy="597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❌ DISAGREEMENTS (</a:t>
            </a:r>
            <a:r>
              <a:rPr kumimoji="0" lang="en-US" sz="4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MolAnchor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↔ SHAP)</a:t>
            </a:r>
          </a:p>
          <a:p>
            <a:pPr marL="742950" marR="0" lvl="0" indent="-74295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Granularity: </a:t>
            </a:r>
            <a:r>
              <a:rPr kumimoji="0" 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MolAnchor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identifies ONE dominant anchor; SHAP reveals multiple contributing fragments</a:t>
            </a:r>
          </a:p>
          <a:p>
            <a:pPr marL="742950" marR="0" lvl="0" indent="-74295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Peripheral groups: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SHAP highlights the benzothiazole (Bit 885, +5.39) as important, while </a:t>
            </a:r>
            <a:r>
              <a:rPr kumimoji="0" 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MolAnchor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doesn't single it out</a:t>
            </a:r>
          </a:p>
          <a:p>
            <a:pPr marL="742950" marR="0" lvl="0" indent="-74295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Negative contribution: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SHAP identifies thiophene substructure (Bit 552, -5.37) as reducing activity—a nuance </a:t>
            </a:r>
            <a:r>
              <a:rPr kumimoji="0" 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MolAnchor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misses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53B310A-4175-466E-82F8-A8F9C6BF4614}"/>
              </a:ext>
            </a:extLst>
          </p:cNvPr>
          <p:cNvSpPr txBox="1"/>
          <p:nvPr/>
        </p:nvSpPr>
        <p:spPr>
          <a:xfrm>
            <a:off x="16522078" y="28068830"/>
            <a:ext cx="171573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rgbClr val="0F0F0F"/>
                </a:solidFill>
                <a:latin typeface="ui-sans-serif"/>
              </a:rPr>
              <a:t>Pair 2: </a:t>
            </a:r>
            <a:r>
              <a:rPr lang="en-US" sz="5400" b="1" dirty="0" err="1">
                <a:solidFill>
                  <a:srgbClr val="0F0F0F"/>
                </a:solidFill>
                <a:latin typeface="ui-sans-serif"/>
              </a:rPr>
              <a:t>MolCE</a:t>
            </a:r>
            <a:r>
              <a:rPr lang="en-US" sz="5400" b="1" dirty="0">
                <a:solidFill>
                  <a:srgbClr val="0F0F0F"/>
                </a:solidFill>
                <a:latin typeface="ui-sans-serif"/>
              </a:rPr>
              <a:t> vs Counterfactuals</a:t>
            </a:r>
            <a:endParaRPr lang="en-US" sz="5400" b="1" i="0" dirty="0">
              <a:solidFill>
                <a:srgbClr val="0F0F0F"/>
              </a:solidFill>
              <a:effectLst/>
              <a:latin typeface="ui-sans-serif"/>
            </a:endParaRP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682C432F-C7DF-608D-CD06-390CC306E433}"/>
              </a:ext>
            </a:extLst>
          </p:cNvPr>
          <p:cNvSpPr/>
          <p:nvPr/>
        </p:nvSpPr>
        <p:spPr>
          <a:xfrm>
            <a:off x="6564918" y="29051222"/>
            <a:ext cx="37071691" cy="1309937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7BCAA73-24FE-3A3B-D1CF-4920116A858E}"/>
              </a:ext>
            </a:extLst>
          </p:cNvPr>
          <p:cNvSpPr txBox="1"/>
          <p:nvPr/>
        </p:nvSpPr>
        <p:spPr>
          <a:xfrm>
            <a:off x="31448517" y="29149313"/>
            <a:ext cx="63102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/>
              <a:t>Counterfactuals</a:t>
            </a:r>
            <a:endParaRPr lang="de-DE" sz="5400" b="1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161A347-D54E-4609-7680-93A714375D50}"/>
              </a:ext>
            </a:extLst>
          </p:cNvPr>
          <p:cNvSpPr txBox="1"/>
          <p:nvPr/>
        </p:nvSpPr>
        <p:spPr>
          <a:xfrm>
            <a:off x="12146227" y="29149313"/>
            <a:ext cx="66034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err="1"/>
              <a:t>MolCE</a:t>
            </a:r>
            <a:endParaRPr lang="de-DE" sz="5400" b="1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EECBCF4-1A29-9FAE-BC44-BE319FB16DC2}"/>
              </a:ext>
            </a:extLst>
          </p:cNvPr>
          <p:cNvSpPr txBox="1"/>
          <p:nvPr/>
        </p:nvSpPr>
        <p:spPr>
          <a:xfrm>
            <a:off x="7218356" y="35652534"/>
            <a:ext cx="16999638" cy="597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400" b="1" dirty="0">
                <a:latin typeface="Aptos" panose="020B0004020202020204" pitchFamily="34" charset="0"/>
              </a:rPr>
              <a:t>✅ AGREEMENTS (</a:t>
            </a:r>
            <a:r>
              <a:rPr lang="en-US" sz="4400" b="1" i="0" dirty="0" err="1">
                <a:solidFill>
                  <a:srgbClr val="0F0F0F"/>
                </a:solidFill>
                <a:effectLst/>
                <a:latin typeface="Aptos" panose="020B0004020202020204" pitchFamily="34" charset="0"/>
              </a:rPr>
              <a:t>MolCE</a:t>
            </a:r>
            <a:r>
              <a:rPr lang="en-US" sz="4400" b="1" i="0" dirty="0">
                <a:solidFill>
                  <a:srgbClr val="0F0F0F"/>
                </a:solidFill>
                <a:effectLst/>
                <a:latin typeface="Aptos" panose="020B0004020202020204" pitchFamily="34" charset="0"/>
              </a:rPr>
              <a:t> ↔ Counterfactuals</a:t>
            </a:r>
            <a:r>
              <a:rPr lang="en-US" sz="4400" b="1" dirty="0">
                <a:latin typeface="Aptos" panose="020B0004020202020204" pitchFamily="34" charset="0"/>
              </a:rPr>
              <a:t>)</a:t>
            </a:r>
          </a:p>
          <a:p>
            <a:pPr marL="742950" indent="-742950" algn="just">
              <a:spcAft>
                <a:spcPts val="1200"/>
              </a:spcAft>
              <a:buFont typeface="+mj-lt"/>
              <a:buAutoNum type="arabicPeriod"/>
            </a:pPr>
            <a:r>
              <a:rPr lang="en-US" sz="4400" b="1" i="0" dirty="0">
                <a:solidFill>
                  <a:srgbClr val="0F0F0F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en-US" sz="4400" b="1" dirty="0"/>
              <a:t>Piperazine N as critical site: </a:t>
            </a:r>
            <a:r>
              <a:rPr lang="en-US" sz="4400" dirty="0"/>
              <a:t>Both methods identify the piperazine nitrogen substituent as the most impactful site</a:t>
            </a:r>
          </a:p>
          <a:p>
            <a:pPr marL="742950" indent="-742950" algn="just">
              <a:spcAft>
                <a:spcPts val="1200"/>
              </a:spcAft>
              <a:buFont typeface="+mj-lt"/>
              <a:buAutoNum type="arabicPeriod"/>
            </a:pPr>
            <a:r>
              <a:rPr lang="en-US" sz="4400" b="1" dirty="0"/>
              <a:t> Substituent sensitivity: </a:t>
            </a:r>
            <a:r>
              <a:rPr lang="en-US" sz="4400" dirty="0"/>
              <a:t>Both confirm that modifying the piperazine N-substituent can flip the prediction</a:t>
            </a:r>
          </a:p>
          <a:p>
            <a:pPr marL="742950" indent="-742950" algn="just">
              <a:spcAft>
                <a:spcPts val="1200"/>
              </a:spcAft>
              <a:buFont typeface="+mj-lt"/>
              <a:buAutoNum type="arabicPeriod"/>
            </a:pPr>
            <a:r>
              <a:rPr lang="en-US" sz="4400" b="1" dirty="0"/>
              <a:t> Polarity effect: </a:t>
            </a:r>
            <a:r>
              <a:rPr lang="en-US" sz="4400" dirty="0" err="1"/>
              <a:t>MolCE's</a:t>
            </a:r>
            <a:r>
              <a:rPr lang="en-US" sz="4400" dirty="0"/>
              <a:t> contrastive R-groups (polar/charged) align with Counterfactuals showing polar additions eliminate activity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DE8FE82-D510-052C-FDC5-58E137B2D9BC}"/>
              </a:ext>
            </a:extLst>
          </p:cNvPr>
          <p:cNvSpPr txBox="1"/>
          <p:nvPr/>
        </p:nvSpPr>
        <p:spPr>
          <a:xfrm>
            <a:off x="26374045" y="35652534"/>
            <a:ext cx="16767142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❌ DISAGREEMENTS (</a:t>
            </a:r>
            <a:r>
              <a:rPr lang="en-US" sz="4400" b="1" i="0" dirty="0" err="1">
                <a:solidFill>
                  <a:srgbClr val="0F0F0F"/>
                </a:solidFill>
                <a:effectLst/>
                <a:latin typeface="ui-sans-serif"/>
              </a:rPr>
              <a:t>MolCE</a:t>
            </a:r>
            <a:r>
              <a:rPr lang="en-US" sz="4400" b="1" i="0" dirty="0">
                <a:solidFill>
                  <a:srgbClr val="0F0F0F"/>
                </a:solidFill>
                <a:effectLst/>
                <a:latin typeface="ui-sans-serif"/>
              </a:rPr>
              <a:t> ↔ Counterfactuals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</a:t>
            </a:r>
          </a:p>
          <a:p>
            <a:pPr marL="742950" marR="0" lvl="0" indent="-74295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Scaffold importance: </a:t>
            </a:r>
            <a:r>
              <a:rPr kumimoji="0" lang="en-US" sz="4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MolCE</a:t>
            </a:r>
            <a:r>
              <a:rPr kumimoji="0" lang="en-US" sz="4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shows scaffold contrast score = 0.0 (scaffold changes don't matter), while Counterfactuals show substituent changes do matter</a:t>
            </a:r>
          </a:p>
          <a:p>
            <a:pPr marL="742950" marR="0" lvl="0" indent="-74295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Mechanism: </a:t>
            </a:r>
            <a:r>
              <a:rPr kumimoji="0" lang="en-US" sz="4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MolCE</a:t>
            </a:r>
            <a:r>
              <a:rPr kumimoji="0" lang="en-US" sz="4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focuses on contrast (why not inactive?), while Counterfactuals show transformation (how to become inactive?)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6439D96-81F8-F222-FD0A-6CB3EEA18EBC}"/>
              </a:ext>
            </a:extLst>
          </p:cNvPr>
          <p:cNvGrpSpPr/>
          <p:nvPr/>
        </p:nvGrpSpPr>
        <p:grpSpPr>
          <a:xfrm>
            <a:off x="26135503" y="30203702"/>
            <a:ext cx="16963406" cy="4094569"/>
            <a:chOff x="25678303" y="34723809"/>
            <a:chExt cx="16963406" cy="4094569"/>
          </a:xfrm>
        </p:grpSpPr>
        <p:pic>
          <p:nvPicPr>
            <p:cNvPr id="100" name="Picture 99">
              <a:extLst>
                <a:ext uri="{FF2B5EF4-FFF2-40B4-BE49-F238E27FC236}">
                  <a16:creationId xmlns:a16="http://schemas.microsoft.com/office/drawing/2014/main" id="{B1F6B432-D2DB-A370-2458-530FF31A48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881" t="31485" r="52081" b="52476"/>
            <a:stretch/>
          </p:blipFill>
          <p:spPr>
            <a:xfrm>
              <a:off x="25678303" y="34723809"/>
              <a:ext cx="9202228" cy="4094569"/>
            </a:xfrm>
            <a:prstGeom prst="rect">
              <a:avLst/>
            </a:prstGeom>
          </p:spPr>
        </p:pic>
        <p:pic>
          <p:nvPicPr>
            <p:cNvPr id="101" name="Picture 100">
              <a:extLst>
                <a:ext uri="{FF2B5EF4-FFF2-40B4-BE49-F238E27FC236}">
                  <a16:creationId xmlns:a16="http://schemas.microsoft.com/office/drawing/2014/main" id="{02144A18-8CA9-B867-F30C-81AC5EE2D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567" t="30675" r="27299" b="52476"/>
            <a:stretch/>
          </p:blipFill>
          <p:spPr>
            <a:xfrm>
              <a:off x="35089246" y="35101923"/>
              <a:ext cx="7552463" cy="3706321"/>
            </a:xfrm>
            <a:prstGeom prst="rect">
              <a:avLst/>
            </a:prstGeom>
          </p:spPr>
        </p:pic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447066D7-B3FD-7386-0F15-CA073EB9CD5F}"/>
              </a:ext>
            </a:extLst>
          </p:cNvPr>
          <p:cNvSpPr txBox="1"/>
          <p:nvPr/>
        </p:nvSpPr>
        <p:spPr>
          <a:xfrm>
            <a:off x="27209875" y="34408132"/>
            <a:ext cx="57139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i="0" dirty="0">
                <a:solidFill>
                  <a:srgbClr val="0F0F0F"/>
                </a:solidFill>
                <a:effectLst/>
                <a:latin typeface="ui-sans-serif"/>
              </a:rPr>
              <a:t>CF #1 (substituent)</a:t>
            </a:r>
          </a:p>
          <a:p>
            <a:pPr algn="ctr"/>
            <a:r>
              <a:rPr lang="en-US" sz="3000" b="1" dirty="0">
                <a:solidFill>
                  <a:srgbClr val="0F0F0F"/>
                </a:solidFill>
                <a:latin typeface="ui-sans-serif"/>
              </a:rPr>
              <a:t>Predicted class: 0| Similarity: 0.68</a:t>
            </a:r>
            <a:endParaRPr lang="en-US" sz="30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340F736-7968-FDB4-A971-D1E03504210F}"/>
              </a:ext>
            </a:extLst>
          </p:cNvPr>
          <p:cNvSpPr txBox="1"/>
          <p:nvPr/>
        </p:nvSpPr>
        <p:spPr>
          <a:xfrm>
            <a:off x="36183383" y="34408132"/>
            <a:ext cx="57139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i="0" dirty="0">
                <a:solidFill>
                  <a:srgbClr val="0F0F0F"/>
                </a:solidFill>
                <a:effectLst/>
                <a:latin typeface="ui-sans-serif"/>
              </a:rPr>
              <a:t>CF #2 (substituent)</a:t>
            </a:r>
          </a:p>
          <a:p>
            <a:pPr algn="ctr"/>
            <a:r>
              <a:rPr lang="en-US" sz="3000" b="1" dirty="0">
                <a:solidFill>
                  <a:srgbClr val="0F0F0F"/>
                </a:solidFill>
                <a:latin typeface="ui-sans-serif"/>
              </a:rPr>
              <a:t>Predicted class: 0| Similarity: 0.68</a:t>
            </a:r>
            <a:endParaRPr lang="en-US" sz="30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8051128-A1DB-8545-0F40-55389E4B301D}"/>
              </a:ext>
            </a:extLst>
          </p:cNvPr>
          <p:cNvSpPr txBox="1"/>
          <p:nvPr/>
        </p:nvSpPr>
        <p:spPr>
          <a:xfrm>
            <a:off x="8223531" y="34408132"/>
            <a:ext cx="54144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i="0" dirty="0">
                <a:solidFill>
                  <a:srgbClr val="0F0F0F"/>
                </a:solidFill>
                <a:effectLst/>
                <a:latin typeface="ui-sans-serif"/>
              </a:rPr>
              <a:t>Rank 1 | Site 1</a:t>
            </a:r>
          </a:p>
          <a:p>
            <a:pPr algn="ctr"/>
            <a:r>
              <a:rPr lang="en-US" sz="3000" b="1" dirty="0">
                <a:solidFill>
                  <a:srgbClr val="0F0F0F"/>
                </a:solidFill>
                <a:latin typeface="ui-sans-serif"/>
              </a:rPr>
              <a:t>Contrast: 1.00</a:t>
            </a:r>
            <a:endParaRPr lang="en-US" sz="30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021D298-CD48-A056-2501-CA7203875916}"/>
              </a:ext>
            </a:extLst>
          </p:cNvPr>
          <p:cNvSpPr txBox="1"/>
          <p:nvPr/>
        </p:nvSpPr>
        <p:spPr>
          <a:xfrm>
            <a:off x="16969252" y="34408132"/>
            <a:ext cx="54531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i="0" dirty="0">
                <a:solidFill>
                  <a:srgbClr val="0F0F0F"/>
                </a:solidFill>
                <a:effectLst/>
                <a:latin typeface="ui-sans-serif"/>
              </a:rPr>
              <a:t>Rank 2 | Site 1</a:t>
            </a:r>
          </a:p>
          <a:p>
            <a:pPr algn="ctr"/>
            <a:r>
              <a:rPr lang="en-US" sz="3000" b="1" dirty="0">
                <a:solidFill>
                  <a:srgbClr val="0F0F0F"/>
                </a:solidFill>
                <a:latin typeface="ui-sans-serif"/>
              </a:rPr>
              <a:t>Contrast: 1.00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074598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8D94A47-E16E-5FA6-0A1F-80756C21A4F7}"/>
              </a:ext>
            </a:extLst>
          </p:cNvPr>
          <p:cNvSpPr/>
          <p:nvPr/>
        </p:nvSpPr>
        <p:spPr>
          <a:xfrm>
            <a:off x="13691175" y="12224390"/>
            <a:ext cx="23735578" cy="137588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BF4675B-24DA-ECE6-C51C-65069789A359}"/>
              </a:ext>
            </a:extLst>
          </p:cNvPr>
          <p:cNvSpPr/>
          <p:nvPr/>
        </p:nvSpPr>
        <p:spPr>
          <a:xfrm>
            <a:off x="11391508" y="6072480"/>
            <a:ext cx="29944252" cy="516579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655BC70-CD2D-4B35-7ABB-67359B0A388C}"/>
              </a:ext>
            </a:extLst>
          </p:cNvPr>
          <p:cNvGrpSpPr/>
          <p:nvPr/>
        </p:nvGrpSpPr>
        <p:grpSpPr>
          <a:xfrm>
            <a:off x="15275754" y="12336890"/>
            <a:ext cx="22150998" cy="8273962"/>
            <a:chOff x="14459353" y="15708740"/>
            <a:chExt cx="22150998" cy="8273962"/>
          </a:xfrm>
        </p:grpSpPr>
        <p:pic>
          <p:nvPicPr>
            <p:cNvPr id="25" name="Picture 24" descr="A diagram of a confusion matrix&#10;&#10;AI-generated content may be incorrect.">
              <a:extLst>
                <a:ext uri="{FF2B5EF4-FFF2-40B4-BE49-F238E27FC236}">
                  <a16:creationId xmlns:a16="http://schemas.microsoft.com/office/drawing/2014/main" id="{35B53DDB-EACD-148B-0EA7-FF3D0B7D55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4943"/>
            <a:stretch/>
          </p:blipFill>
          <p:spPr>
            <a:xfrm>
              <a:off x="14459353" y="15708740"/>
              <a:ext cx="7978651" cy="8273962"/>
            </a:xfrm>
            <a:prstGeom prst="rect">
              <a:avLst/>
            </a:prstGeom>
          </p:spPr>
        </p:pic>
        <p:pic>
          <p:nvPicPr>
            <p:cNvPr id="27" name="Picture 26" descr="A bar graph with numbers and text&#10;&#10;AI-generated content may be incorrect.">
              <a:extLst>
                <a:ext uri="{FF2B5EF4-FFF2-40B4-BE49-F238E27FC236}">
                  <a16:creationId xmlns:a16="http://schemas.microsoft.com/office/drawing/2014/main" id="{DDA67D64-D306-A0CD-5ECD-8492A850A7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0508" b="17689"/>
            <a:stretch/>
          </p:blipFill>
          <p:spPr>
            <a:xfrm>
              <a:off x="23384827" y="16448659"/>
              <a:ext cx="13225524" cy="6400931"/>
            </a:xfrm>
            <a:prstGeom prst="rect">
              <a:avLst/>
            </a:prstGeom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5BAA39A6-DC6F-57E4-6567-4545559A0C33}"/>
              </a:ext>
            </a:extLst>
          </p:cNvPr>
          <p:cNvSpPr txBox="1"/>
          <p:nvPr/>
        </p:nvSpPr>
        <p:spPr>
          <a:xfrm>
            <a:off x="15275754" y="20470366"/>
            <a:ext cx="22502113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400" b="0" i="0" dirty="0">
                <a:solidFill>
                  <a:srgbClr val="0F0F0F"/>
                </a:solidFill>
                <a:effectLst/>
              </a:rPr>
              <a:t>The Balanced Random Forest model achieved strong performance on the test set: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400" b="1" i="0" dirty="0">
                <a:solidFill>
                  <a:srgbClr val="0F0F0F"/>
                </a:solidFill>
                <a:effectLst/>
              </a:rPr>
              <a:t>Accuracy</a:t>
            </a:r>
            <a:r>
              <a:rPr lang="en-US" sz="4400" b="0" i="0" dirty="0">
                <a:solidFill>
                  <a:srgbClr val="0F0F0F"/>
                </a:solidFill>
                <a:effectLst/>
              </a:rPr>
              <a:t>: 89.3%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400" b="1" i="0" dirty="0">
                <a:solidFill>
                  <a:srgbClr val="0F0F0F"/>
                </a:solidFill>
                <a:effectLst/>
              </a:rPr>
              <a:t>Balanced Accuracy</a:t>
            </a:r>
            <a:r>
              <a:rPr lang="en-US" sz="4400" b="0" i="0" dirty="0">
                <a:solidFill>
                  <a:srgbClr val="0F0F0F"/>
                </a:solidFill>
                <a:effectLst/>
              </a:rPr>
              <a:t>: 84.7%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400" b="1" i="0" dirty="0">
                <a:solidFill>
                  <a:srgbClr val="0F0F0F"/>
                </a:solidFill>
                <a:effectLst/>
              </a:rPr>
              <a:t>MCC</a:t>
            </a:r>
            <a:r>
              <a:rPr lang="en-US" sz="4400" b="0" i="0" dirty="0">
                <a:solidFill>
                  <a:srgbClr val="0F0F0F"/>
                </a:solidFill>
                <a:effectLst/>
              </a:rPr>
              <a:t>: 0.749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400" b="1" i="0" dirty="0">
                <a:solidFill>
                  <a:srgbClr val="0F0F0F"/>
                </a:solidFill>
                <a:effectLst/>
              </a:rPr>
              <a:t>F1 Macro</a:t>
            </a:r>
            <a:r>
              <a:rPr lang="en-US" sz="4400" b="0" i="0" dirty="0">
                <a:solidFill>
                  <a:srgbClr val="0F0F0F"/>
                </a:solidFill>
                <a:effectLst/>
              </a:rPr>
              <a:t>: 0.780</a:t>
            </a:r>
          </a:p>
          <a:p>
            <a:pPr algn="l"/>
            <a:r>
              <a:rPr lang="en-US" sz="4400" b="0" i="0" dirty="0">
                <a:solidFill>
                  <a:srgbClr val="0F0F0F"/>
                </a:solidFill>
                <a:effectLst/>
              </a:rPr>
              <a:t>Class 1 (PI3K-delta selective) and Class 2 (PI3K-gamma selective) show good separation, though Class 2 has fewer samples (15 in test set), which is typical for highly specific selectivity data.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CA22E51-CE03-F50F-0289-6302FC2665E4}"/>
              </a:ext>
            </a:extLst>
          </p:cNvPr>
          <p:cNvSpPr txBox="1"/>
          <p:nvPr/>
        </p:nvSpPr>
        <p:spPr>
          <a:xfrm>
            <a:off x="21392134" y="11362775"/>
            <a:ext cx="9943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5400" b="1" i="0" dirty="0">
                <a:solidFill>
                  <a:srgbClr val="0F0F0F"/>
                </a:solidFill>
                <a:effectLst/>
                <a:latin typeface="ui-sans-serif"/>
              </a:rPr>
              <a:t>Model Performance Evaluation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D9CB3D1-7BFC-3386-B306-BDBBA5137ABA}"/>
              </a:ext>
            </a:extLst>
          </p:cNvPr>
          <p:cNvSpPr txBox="1"/>
          <p:nvPr/>
        </p:nvSpPr>
        <p:spPr>
          <a:xfrm>
            <a:off x="17784949" y="26119453"/>
            <a:ext cx="171573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rgbClr val="0F0F0F"/>
                </a:solidFill>
                <a:latin typeface="ui-sans-serif"/>
              </a:rPr>
              <a:t>R</a:t>
            </a:r>
            <a:r>
              <a:rPr lang="en-US" sz="5400" b="1" i="0" dirty="0">
                <a:solidFill>
                  <a:srgbClr val="0F0F0F"/>
                </a:solidFill>
                <a:effectLst/>
                <a:latin typeface="ui-sans-serif"/>
              </a:rPr>
              <a:t>ecurrent Molecular Anchor Fragments (Class 1 &amp; 2)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C07ED87-02E6-769C-8522-F7EA43967144}"/>
              </a:ext>
            </a:extLst>
          </p:cNvPr>
          <p:cNvGrpSpPr/>
          <p:nvPr/>
        </p:nvGrpSpPr>
        <p:grpSpPr>
          <a:xfrm>
            <a:off x="25921308" y="27870284"/>
            <a:ext cx="14331255" cy="12484043"/>
            <a:chOff x="26016215" y="32690065"/>
            <a:chExt cx="14331255" cy="12484043"/>
          </a:xfrm>
        </p:grpSpPr>
        <p:pic>
          <p:nvPicPr>
            <p:cNvPr id="59" name="Picture 58" descr="A red and black molecule&#10;&#10;AI-generated content may be incorrect.">
              <a:extLst>
                <a:ext uri="{FF2B5EF4-FFF2-40B4-BE49-F238E27FC236}">
                  <a16:creationId xmlns:a16="http://schemas.microsoft.com/office/drawing/2014/main" id="{FF828C6A-DA1B-1C2D-DF20-B453CD4FBA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899" r="60477" b="34643"/>
            <a:stretch/>
          </p:blipFill>
          <p:spPr>
            <a:xfrm>
              <a:off x="26016215" y="33792057"/>
              <a:ext cx="14331255" cy="3686730"/>
            </a:xfrm>
            <a:prstGeom prst="rect">
              <a:avLst/>
            </a:prstGeom>
          </p:spPr>
        </p:pic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3328C6AB-5D2D-21F5-D316-19C43126EF72}"/>
                </a:ext>
              </a:extLst>
            </p:cNvPr>
            <p:cNvGrpSpPr/>
            <p:nvPr/>
          </p:nvGrpSpPr>
          <p:grpSpPr>
            <a:xfrm>
              <a:off x="27091192" y="37720664"/>
              <a:ext cx="12181300" cy="1477328"/>
              <a:chOff x="27174716" y="37720664"/>
              <a:chExt cx="12181300" cy="1477328"/>
            </a:xfrm>
          </p:grpSpPr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7D21A72-9214-4047-1740-F895FF59E1E6}"/>
                  </a:ext>
                </a:extLst>
              </p:cNvPr>
              <p:cNvSpPr txBox="1"/>
              <p:nvPr/>
            </p:nvSpPr>
            <p:spPr>
              <a:xfrm>
                <a:off x="27174716" y="37720664"/>
                <a:ext cx="532336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000" b="1" i="0" dirty="0">
                    <a:solidFill>
                      <a:srgbClr val="0F0F0F"/>
                    </a:solidFill>
                    <a:effectLst/>
                    <a:latin typeface="ui-sans-serif"/>
                  </a:rPr>
                  <a:t>Rank 1</a:t>
                </a:r>
              </a:p>
              <a:p>
                <a:pPr algn="ctr"/>
                <a:r>
                  <a:rPr lang="en-US" sz="3000" b="1" dirty="0">
                    <a:solidFill>
                      <a:srgbClr val="0F0F0F"/>
                    </a:solidFill>
                    <a:latin typeface="ui-sans-serif"/>
                  </a:rPr>
                  <a:t>Anchor occurrence: 0.36</a:t>
                </a:r>
              </a:p>
              <a:p>
                <a:pPr algn="ctr"/>
                <a:r>
                  <a:rPr lang="en-US" sz="3000" b="1" dirty="0">
                    <a:solidFill>
                      <a:srgbClr val="0F0F0F"/>
                    </a:solidFill>
                    <a:latin typeface="ui-sans-serif"/>
                  </a:rPr>
                  <a:t>Substructure occurrence: 0.82</a:t>
                </a:r>
                <a:endParaRPr lang="en-US" sz="3000" dirty="0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062DABE-6143-0CF6-47EE-82DED9712869}"/>
                  </a:ext>
                </a:extLst>
              </p:cNvPr>
              <p:cNvSpPr txBox="1"/>
              <p:nvPr/>
            </p:nvSpPr>
            <p:spPr>
              <a:xfrm>
                <a:off x="34039249" y="37720664"/>
                <a:ext cx="5316767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000" b="1" i="0" dirty="0">
                    <a:solidFill>
                      <a:srgbClr val="0F0F0F"/>
                    </a:solidFill>
                    <a:effectLst/>
                    <a:latin typeface="ui-sans-serif"/>
                  </a:rPr>
                  <a:t>Rank 2</a:t>
                </a:r>
              </a:p>
              <a:p>
                <a:pPr algn="ctr"/>
                <a:r>
                  <a:rPr lang="en-US" sz="3000" b="1" dirty="0">
                    <a:solidFill>
                      <a:srgbClr val="0F0F0F"/>
                    </a:solidFill>
                    <a:latin typeface="ui-sans-serif"/>
                  </a:rPr>
                  <a:t>Anchor occurrence: 0.18</a:t>
                </a:r>
              </a:p>
              <a:p>
                <a:pPr algn="ctr"/>
                <a:r>
                  <a:rPr lang="en-US" sz="3000" b="1" dirty="0">
                    <a:solidFill>
                      <a:srgbClr val="0F0F0F"/>
                    </a:solidFill>
                    <a:latin typeface="ui-sans-serif"/>
                  </a:rPr>
                  <a:t>Substructure occurrence: 0.36</a:t>
                </a:r>
                <a:endParaRPr lang="en-US" sz="3000" dirty="0"/>
              </a:p>
            </p:txBody>
          </p: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75CDCAE-E997-6AB6-EE31-7EEA0E2E635E}"/>
                </a:ext>
              </a:extLst>
            </p:cNvPr>
            <p:cNvSpPr txBox="1"/>
            <p:nvPr/>
          </p:nvSpPr>
          <p:spPr>
            <a:xfrm>
              <a:off x="30026714" y="32690065"/>
              <a:ext cx="631025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b="1" dirty="0"/>
                <a:t>Class </a:t>
              </a:r>
              <a:r>
                <a:rPr lang="en-US" sz="5400" b="1" i="0" dirty="0">
                  <a:solidFill>
                    <a:srgbClr val="0F0F0F"/>
                  </a:solidFill>
                  <a:effectLst/>
                  <a:latin typeface="ui-sans-serif"/>
                </a:rPr>
                <a:t>PI3K-gamma</a:t>
              </a:r>
              <a:endParaRPr lang="de-DE" sz="5400" b="1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275191B-4583-8146-851D-EA0FC0A427D2}"/>
                </a:ext>
              </a:extLst>
            </p:cNvPr>
            <p:cNvSpPr txBox="1"/>
            <p:nvPr/>
          </p:nvSpPr>
          <p:spPr>
            <a:xfrm>
              <a:off x="27101082" y="39664908"/>
              <a:ext cx="12161520" cy="5509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 algn="just">
                <a:buFont typeface="+mj-lt"/>
                <a:buAutoNum type="arabicPeriod"/>
              </a:pPr>
              <a:r>
                <a:rPr lang="en-US" sz="4400" dirty="0"/>
                <a:t> Occurs in 36.4% of anchors. A </a:t>
              </a:r>
              <a:r>
                <a:rPr lang="en-US" sz="4400" b="1" dirty="0"/>
                <a:t>substituted </a:t>
              </a:r>
              <a:r>
                <a:rPr lang="en-US" sz="4400" b="1" dirty="0" err="1"/>
                <a:t>isoquinoline</a:t>
              </a:r>
              <a:r>
                <a:rPr lang="en-US" sz="4400" b="1" dirty="0"/>
                <a:t>/pyrazolo-pyridine core</a:t>
              </a:r>
              <a:r>
                <a:rPr lang="en-US" sz="4400" dirty="0"/>
                <a:t>, highly characteristic of PI3K-gamma selective inhibitors.</a:t>
              </a:r>
            </a:p>
            <a:p>
              <a:pPr marL="228600" indent="-228600" algn="just">
                <a:buFont typeface="+mj-lt"/>
                <a:buAutoNum type="arabicPeriod"/>
              </a:pPr>
              <a:endParaRPr lang="en-US" sz="4400" dirty="0"/>
            </a:p>
            <a:p>
              <a:pPr marL="228600" indent="-228600" algn="just">
                <a:buFont typeface="+mj-lt"/>
                <a:buAutoNum type="arabicPeriod"/>
              </a:pPr>
              <a:r>
                <a:rPr lang="en-US" sz="4400" b="1" dirty="0"/>
                <a:t> </a:t>
              </a:r>
              <a:r>
                <a:rPr lang="en-US" sz="4400" b="1" dirty="0" err="1"/>
                <a:t>Dihydroisoquinolinone</a:t>
              </a:r>
              <a:r>
                <a:rPr lang="en-US" sz="4400" b="1" dirty="0"/>
                <a:t> derivatives</a:t>
              </a:r>
              <a:r>
                <a:rPr lang="en-US" sz="4400" dirty="0"/>
                <a:t>, frequently appearing in gamma-selective chemotypes.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566DC8D-A751-746E-78CA-6C8E8122C95C}"/>
              </a:ext>
            </a:extLst>
          </p:cNvPr>
          <p:cNvGrpSpPr/>
          <p:nvPr/>
        </p:nvGrpSpPr>
        <p:grpSpPr>
          <a:xfrm>
            <a:off x="12647583" y="27870284"/>
            <a:ext cx="12161520" cy="12484043"/>
            <a:chOff x="12742490" y="32690065"/>
            <a:chExt cx="12161520" cy="12484043"/>
          </a:xfrm>
        </p:grpSpPr>
        <p:pic>
          <p:nvPicPr>
            <p:cNvPr id="57" name="Picture 56" descr="A black and red hexagons&#10;&#10;AI-generated content may be incorrect.">
              <a:extLst>
                <a:ext uri="{FF2B5EF4-FFF2-40B4-BE49-F238E27FC236}">
                  <a16:creationId xmlns:a16="http://schemas.microsoft.com/office/drawing/2014/main" id="{D31C6E93-8769-C043-E3E6-35F8E48F9A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0622" b="25829"/>
            <a:stretch/>
          </p:blipFill>
          <p:spPr>
            <a:xfrm>
              <a:off x="12970037" y="33436279"/>
              <a:ext cx="11706426" cy="4042508"/>
            </a:xfrm>
            <a:prstGeom prst="rect">
              <a:avLst/>
            </a:prstGeom>
          </p:spPr>
        </p:pic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3B152157-9CC7-F546-D5E7-974890FB190C}"/>
                </a:ext>
              </a:extLst>
            </p:cNvPr>
            <p:cNvGrpSpPr/>
            <p:nvPr/>
          </p:nvGrpSpPr>
          <p:grpSpPr>
            <a:xfrm>
              <a:off x="13187768" y="37935654"/>
              <a:ext cx="11270964" cy="1477328"/>
              <a:chOff x="13180193" y="37935654"/>
              <a:chExt cx="11270964" cy="1477328"/>
            </a:xfrm>
          </p:grpSpPr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572CEAB-6935-A767-5441-EE39B0CFE9A6}"/>
                  </a:ext>
                </a:extLst>
              </p:cNvPr>
              <p:cNvSpPr txBox="1"/>
              <p:nvPr/>
            </p:nvSpPr>
            <p:spPr>
              <a:xfrm>
                <a:off x="13180193" y="37935654"/>
                <a:ext cx="5414457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000" b="1" i="0" dirty="0">
                    <a:solidFill>
                      <a:srgbClr val="0F0F0F"/>
                    </a:solidFill>
                    <a:effectLst/>
                    <a:latin typeface="ui-sans-serif"/>
                  </a:rPr>
                  <a:t>Rank 1</a:t>
                </a:r>
              </a:p>
              <a:p>
                <a:pPr algn="ctr"/>
                <a:r>
                  <a:rPr lang="en-US" sz="3000" b="1" dirty="0">
                    <a:solidFill>
                      <a:srgbClr val="0F0F0F"/>
                    </a:solidFill>
                    <a:latin typeface="ui-sans-serif"/>
                  </a:rPr>
                  <a:t>Anchor occurrence: 0.26</a:t>
                </a:r>
              </a:p>
              <a:p>
                <a:pPr algn="ctr"/>
                <a:r>
                  <a:rPr lang="en-US" sz="3000" b="1" dirty="0">
                    <a:solidFill>
                      <a:srgbClr val="0F0F0F"/>
                    </a:solidFill>
                    <a:latin typeface="ui-sans-serif"/>
                  </a:rPr>
                  <a:t>Substructure occurrence: 0.26</a:t>
                </a:r>
                <a:endParaRPr lang="en-US" sz="3000" dirty="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B3D1D01-6B66-4EBF-BA63-15E4A614E261}"/>
                  </a:ext>
                </a:extLst>
              </p:cNvPr>
              <p:cNvSpPr txBox="1"/>
              <p:nvPr/>
            </p:nvSpPr>
            <p:spPr>
              <a:xfrm>
                <a:off x="18997991" y="37935654"/>
                <a:ext cx="5453166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000" b="1" i="0" dirty="0">
                    <a:solidFill>
                      <a:srgbClr val="0F0F0F"/>
                    </a:solidFill>
                    <a:effectLst/>
                    <a:latin typeface="ui-sans-serif"/>
                  </a:rPr>
                  <a:t>Rank 2</a:t>
                </a:r>
              </a:p>
              <a:p>
                <a:pPr algn="ctr"/>
                <a:r>
                  <a:rPr lang="en-US" sz="3000" b="1" dirty="0">
                    <a:solidFill>
                      <a:srgbClr val="0F0F0F"/>
                    </a:solidFill>
                    <a:latin typeface="ui-sans-serif"/>
                  </a:rPr>
                  <a:t>Anchor occurrence: 0.25</a:t>
                </a:r>
              </a:p>
              <a:p>
                <a:pPr algn="ctr"/>
                <a:r>
                  <a:rPr lang="en-US" sz="3000" b="1" dirty="0">
                    <a:solidFill>
                      <a:srgbClr val="0F0F0F"/>
                    </a:solidFill>
                    <a:latin typeface="ui-sans-serif"/>
                  </a:rPr>
                  <a:t>Substructure occurrence: 0.25</a:t>
                </a:r>
                <a:endParaRPr lang="en-US" sz="3000" dirty="0"/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A5C72D7-D885-252B-9D5B-8FCC3218E83B}"/>
                </a:ext>
              </a:extLst>
            </p:cNvPr>
            <p:cNvSpPr txBox="1"/>
            <p:nvPr/>
          </p:nvSpPr>
          <p:spPr>
            <a:xfrm>
              <a:off x="15521521" y="32690065"/>
              <a:ext cx="660345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b="1" dirty="0"/>
                <a:t>Class </a:t>
              </a:r>
              <a:r>
                <a:rPr lang="en-US" sz="5400" b="1" i="0" dirty="0">
                  <a:solidFill>
                    <a:srgbClr val="0F0F0F"/>
                  </a:solidFill>
                  <a:effectLst/>
                  <a:latin typeface="ui-sans-serif"/>
                </a:rPr>
                <a:t>PI3K-delta</a:t>
              </a:r>
              <a:endParaRPr lang="de-DE" sz="54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7CA5145-B7E2-1C7C-76AD-CFE78D36AE62}"/>
                </a:ext>
              </a:extLst>
            </p:cNvPr>
            <p:cNvSpPr txBox="1"/>
            <p:nvPr/>
          </p:nvSpPr>
          <p:spPr>
            <a:xfrm>
              <a:off x="12742490" y="39664908"/>
              <a:ext cx="12161520" cy="5509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 algn="just">
                <a:buFont typeface="+mj-lt"/>
                <a:buAutoNum type="arabicPeriod"/>
              </a:pPr>
              <a:r>
                <a:rPr lang="en-US" sz="4400" dirty="0"/>
                <a:t> Occurs in 26.4% of correctly predicted Class 1 compounds. This </a:t>
              </a:r>
              <a:r>
                <a:rPr lang="en-US" sz="4400" b="1" dirty="0"/>
                <a:t>cyano-substituted pyrimidine</a:t>
              </a:r>
              <a:r>
                <a:rPr lang="en-US" sz="4400" dirty="0"/>
                <a:t> motif is a classic </a:t>
              </a:r>
              <a:r>
                <a:rPr lang="en-US" sz="4400" b="1" dirty="0"/>
                <a:t>kinase hinge-binder</a:t>
              </a:r>
              <a:r>
                <a:rPr lang="en-US" sz="4400" dirty="0"/>
                <a:t>.</a:t>
              </a:r>
            </a:p>
            <a:p>
              <a:pPr marL="228600" indent="-228600" algn="just">
                <a:buFont typeface="+mj-lt"/>
                <a:buAutoNum type="arabicPeriod"/>
              </a:pPr>
              <a:endParaRPr lang="en-US" sz="4400" dirty="0"/>
            </a:p>
            <a:p>
              <a:pPr marL="228600" indent="-228600" algn="just">
                <a:buFont typeface="+mj-lt"/>
                <a:buAutoNum type="arabicPeriod"/>
              </a:pPr>
              <a:r>
                <a:rPr lang="en-US" sz="4400" dirty="0"/>
                <a:t> Occurs in 25.0% of cases. A </a:t>
              </a:r>
              <a:r>
                <a:rPr lang="en-US" sz="4400" b="1" dirty="0"/>
                <a:t>diamino-</a:t>
              </a:r>
              <a:r>
                <a:rPr lang="en-US" sz="4400" b="1" dirty="0" err="1"/>
                <a:t>cyano</a:t>
              </a:r>
              <a:r>
                <a:rPr lang="en-US" sz="4400" b="1" dirty="0"/>
                <a:t> pyrimidine derivative</a:t>
              </a:r>
              <a:r>
                <a:rPr lang="en-US" sz="4400" dirty="0"/>
                <a:t>, strongly indicating </a:t>
              </a:r>
              <a:r>
                <a:rPr lang="en-US" sz="4400" b="1" dirty="0"/>
                <a:t>hydrogen-bonding interactions </a:t>
              </a:r>
              <a:r>
                <a:rPr lang="en-US" sz="4400" dirty="0"/>
                <a:t>with the </a:t>
              </a:r>
              <a:r>
                <a:rPr lang="en-US" sz="4400" b="1" dirty="0"/>
                <a:t>hinge region</a:t>
              </a:r>
              <a:r>
                <a:rPr lang="en-US" sz="4400" dirty="0"/>
                <a:t>.</a:t>
              </a:r>
            </a:p>
          </p:txBody>
        </p:sp>
      </p:grp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6C13FBF4-81B4-461D-A19D-5804EED023DD}"/>
              </a:ext>
            </a:extLst>
          </p:cNvPr>
          <p:cNvSpPr/>
          <p:nvPr/>
        </p:nvSpPr>
        <p:spPr>
          <a:xfrm>
            <a:off x="11391508" y="62907"/>
            <a:ext cx="29944252" cy="5373486"/>
          </a:xfrm>
          <a:prstGeom prst="round2Same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1800" dirty="0">
              <a:solidFill>
                <a:schemeClr val="tx1"/>
              </a:solidFill>
            </a:endParaRPr>
          </a:p>
          <a:p>
            <a:pPr algn="just"/>
            <a:r>
              <a:rPr lang="en-US" sz="6000" dirty="0">
                <a:solidFill>
                  <a:schemeClr val="tx1"/>
                </a:solidFill>
              </a:rPr>
              <a:t>You are running a reproducibility study for compound selectivity prediction. The goal is to train a Balanced Random Forest Classifier to distinguish PI3K-delta (</a:t>
            </a:r>
            <a:r>
              <a:rPr lang="en-US" sz="6000" dirty="0" err="1">
                <a:solidFill>
                  <a:schemeClr val="tx1"/>
                </a:solidFill>
              </a:rPr>
              <a:t>UniProt</a:t>
            </a:r>
            <a:r>
              <a:rPr lang="en-US" sz="6000" dirty="0">
                <a:solidFill>
                  <a:schemeClr val="tx1"/>
                </a:solidFill>
              </a:rPr>
              <a:t>: O00329) vs PI3K-gamma (</a:t>
            </a:r>
            <a:r>
              <a:rPr lang="en-US" sz="6000" dirty="0" err="1">
                <a:solidFill>
                  <a:schemeClr val="tx1"/>
                </a:solidFill>
              </a:rPr>
              <a:t>UniProt</a:t>
            </a:r>
            <a:r>
              <a:rPr lang="en-US" sz="6000" dirty="0">
                <a:solidFill>
                  <a:schemeClr val="tx1"/>
                </a:solidFill>
              </a:rPr>
              <a:t>:  P48736) selective compounds, evaluate its performance, and identify recurrent molecular anchor fragments that drive the model's correct predictions for each selective class (class 1 &amp; 2) and discuss the chemical insight gained.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65AE2D3-52C5-2D04-D846-EC865A9F4DC7}"/>
              </a:ext>
            </a:extLst>
          </p:cNvPr>
          <p:cNvSpPr/>
          <p:nvPr/>
        </p:nvSpPr>
        <p:spPr>
          <a:xfrm>
            <a:off x="12044361" y="6917439"/>
            <a:ext cx="6499225" cy="1338439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chemeClr val="tx1"/>
                </a:solidFill>
              </a:rPr>
              <a:t>Find dataset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DB85F9D-5273-DCFF-C989-7562C2561479}"/>
              </a:ext>
            </a:extLst>
          </p:cNvPr>
          <p:cNvSpPr/>
          <p:nvPr/>
        </p:nvSpPr>
        <p:spPr>
          <a:xfrm>
            <a:off x="12044361" y="9238208"/>
            <a:ext cx="6499225" cy="1338439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chemeClr val="tx1"/>
                </a:solidFill>
              </a:rPr>
              <a:t>Load dataset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72B3574-1A6E-95E9-EEA3-C496E1B2F4CE}"/>
              </a:ext>
            </a:extLst>
          </p:cNvPr>
          <p:cNvSpPr/>
          <p:nvPr/>
        </p:nvSpPr>
        <p:spPr>
          <a:xfrm>
            <a:off x="19516990" y="9238208"/>
            <a:ext cx="6499225" cy="1338439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chemeClr val="tx1"/>
                </a:solidFill>
              </a:rPr>
              <a:t>Compute features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B67E2D9-9E9D-F863-4BAE-D1ACB7A59896}"/>
              </a:ext>
            </a:extLst>
          </p:cNvPr>
          <p:cNvSpPr/>
          <p:nvPr/>
        </p:nvSpPr>
        <p:spPr>
          <a:xfrm>
            <a:off x="19516990" y="6917439"/>
            <a:ext cx="6499225" cy="1338439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chemeClr val="tx1"/>
                </a:solidFill>
              </a:rPr>
              <a:t>Split dataset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344948B-9127-5D85-04AF-9E27623C51DB}"/>
              </a:ext>
            </a:extLst>
          </p:cNvPr>
          <p:cNvSpPr/>
          <p:nvPr/>
        </p:nvSpPr>
        <p:spPr>
          <a:xfrm>
            <a:off x="27051018" y="6917439"/>
            <a:ext cx="6499225" cy="1338439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chemeClr val="tx1"/>
                </a:solidFill>
              </a:rPr>
              <a:t>Train model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B31298B-CDEF-CDC2-2977-DCA4EAA13569}"/>
              </a:ext>
            </a:extLst>
          </p:cNvPr>
          <p:cNvSpPr/>
          <p:nvPr/>
        </p:nvSpPr>
        <p:spPr>
          <a:xfrm>
            <a:off x="27051018" y="8990043"/>
            <a:ext cx="6499225" cy="1834769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chemeClr val="tx1"/>
                </a:solidFill>
              </a:rPr>
              <a:t>Plot classification</a:t>
            </a:r>
          </a:p>
          <a:p>
            <a:pPr algn="ctr"/>
            <a:r>
              <a:rPr lang="en-US" sz="6000" dirty="0">
                <a:solidFill>
                  <a:schemeClr val="tx1"/>
                </a:solidFill>
              </a:rPr>
              <a:t>results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2D69792-6240-2A88-CEB7-39F07C646BE7}"/>
              </a:ext>
            </a:extLst>
          </p:cNvPr>
          <p:cNvSpPr/>
          <p:nvPr/>
        </p:nvSpPr>
        <p:spPr>
          <a:xfrm>
            <a:off x="34528255" y="8990043"/>
            <a:ext cx="6499225" cy="1834769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chemeClr val="tx1"/>
                </a:solidFill>
              </a:rPr>
              <a:t>Identify recurrent anchor rules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EB09105-A603-3792-FA56-C202D530844E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15293974" y="8255878"/>
            <a:ext cx="0" cy="98233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26109EB-84B7-25A1-4C4D-5E40E7C05280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18543586" y="9907427"/>
            <a:ext cx="973404" cy="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E9E200C-F61C-E3BC-C813-973305E697A5}"/>
              </a:ext>
            </a:extLst>
          </p:cNvPr>
          <p:cNvCxnSpPr>
            <a:cxnSpLocks/>
            <a:stCxn id="8" idx="0"/>
            <a:endCxn id="9" idx="2"/>
          </p:cNvCxnSpPr>
          <p:nvPr/>
        </p:nvCxnSpPr>
        <p:spPr>
          <a:xfrm flipV="1">
            <a:off x="22766603" y="8255878"/>
            <a:ext cx="0" cy="98233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B958271-883F-8940-76BB-8AF8F00A9DC4}"/>
              </a:ext>
            </a:extLst>
          </p:cNvPr>
          <p:cNvCxnSpPr>
            <a:cxnSpLocks/>
          </p:cNvCxnSpPr>
          <p:nvPr/>
        </p:nvCxnSpPr>
        <p:spPr>
          <a:xfrm>
            <a:off x="26016215" y="7586658"/>
            <a:ext cx="103480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4B6177B-6EC6-A0F4-463E-CAAB2559ADE4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30300631" y="8255878"/>
            <a:ext cx="0" cy="73416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17806EB-FC1C-9A83-BF43-2E984DA88F27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33550243" y="9907428"/>
            <a:ext cx="97801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1C29497D-2B90-2BE5-88BB-D67B8144BA05}"/>
              </a:ext>
            </a:extLst>
          </p:cNvPr>
          <p:cNvSpPr/>
          <p:nvPr/>
        </p:nvSpPr>
        <p:spPr>
          <a:xfrm>
            <a:off x="11390334" y="26961496"/>
            <a:ext cx="29946600" cy="137588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: Top Corners Rounded 74">
            <a:extLst>
              <a:ext uri="{FF2B5EF4-FFF2-40B4-BE49-F238E27FC236}">
                <a16:creationId xmlns:a16="http://schemas.microsoft.com/office/drawing/2014/main" id="{ADA389BC-6277-D00F-8843-FDFC3BF7E611}"/>
              </a:ext>
            </a:extLst>
          </p:cNvPr>
          <p:cNvSpPr/>
          <p:nvPr/>
        </p:nvSpPr>
        <p:spPr>
          <a:xfrm rot="10800000">
            <a:off x="11391508" y="41765163"/>
            <a:ext cx="29944252" cy="7360778"/>
          </a:xfrm>
          <a:prstGeom prst="round2Same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9821E32-A8A6-C518-B031-E9D5E16F9A8D}"/>
              </a:ext>
            </a:extLst>
          </p:cNvPr>
          <p:cNvSpPr txBox="1"/>
          <p:nvPr/>
        </p:nvSpPr>
        <p:spPr>
          <a:xfrm>
            <a:off x="12044361" y="42262524"/>
            <a:ext cx="28852813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sz="4400" b="1" i="0" dirty="0">
                <a:solidFill>
                  <a:srgbClr val="0F0F0F"/>
                </a:solidFill>
                <a:effectLst/>
                <a:latin typeface="ui-sans-serif"/>
              </a:rPr>
              <a:t>Distinct </a:t>
            </a:r>
            <a:r>
              <a:rPr lang="en-US" sz="4400" i="0" dirty="0">
                <a:solidFill>
                  <a:srgbClr val="0F0F0F"/>
                </a:solidFill>
                <a:effectLst/>
                <a:latin typeface="ui-sans-serif"/>
              </a:rPr>
              <a:t>Chemotypes for Selectivity: The recurrent anchors clearly separate the two selective classes. Class 1 (delta) is driven by cyano-pyrimidine </a:t>
            </a:r>
            <a:r>
              <a:rPr lang="en-US" sz="4400" b="1" i="0" dirty="0">
                <a:solidFill>
                  <a:srgbClr val="0F0F0F"/>
                </a:solidFill>
                <a:effectLst/>
                <a:latin typeface="ui-sans-serif"/>
              </a:rPr>
              <a:t>hinge binders</a:t>
            </a:r>
            <a:r>
              <a:rPr lang="en-US" sz="4400" i="0" dirty="0">
                <a:solidFill>
                  <a:srgbClr val="0F0F0F"/>
                </a:solidFill>
                <a:effectLst/>
                <a:latin typeface="ui-sans-serif"/>
              </a:rPr>
              <a:t>, while Class 2 (gamma) is driven by </a:t>
            </a:r>
            <a:r>
              <a:rPr lang="en-US" sz="4400" i="0" dirty="0" err="1">
                <a:solidFill>
                  <a:srgbClr val="0F0F0F"/>
                </a:solidFill>
                <a:effectLst/>
                <a:latin typeface="ui-sans-serif"/>
              </a:rPr>
              <a:t>isoquinoline</a:t>
            </a:r>
            <a:r>
              <a:rPr lang="en-US" sz="4400" i="0" dirty="0">
                <a:solidFill>
                  <a:srgbClr val="0F0F0F"/>
                </a:solidFill>
                <a:effectLst/>
                <a:latin typeface="ui-sans-serif"/>
              </a:rPr>
              <a:t>/</a:t>
            </a:r>
            <a:r>
              <a:rPr lang="en-US" sz="4400" i="0" dirty="0" err="1">
                <a:solidFill>
                  <a:srgbClr val="0F0F0F"/>
                </a:solidFill>
                <a:effectLst/>
                <a:latin typeface="ui-sans-serif"/>
              </a:rPr>
              <a:t>dihydroisoquinolinone</a:t>
            </a:r>
            <a:r>
              <a:rPr lang="en-US" sz="4400" i="0" dirty="0">
                <a:solidFill>
                  <a:srgbClr val="0F0F0F"/>
                </a:solidFill>
                <a:effectLst/>
                <a:latin typeface="ui-sans-serif"/>
              </a:rPr>
              <a:t> scaffolds. This </a:t>
            </a:r>
            <a:r>
              <a:rPr lang="en-US" sz="4400" b="1" i="0" dirty="0">
                <a:solidFill>
                  <a:srgbClr val="0F0F0F"/>
                </a:solidFill>
                <a:effectLst/>
                <a:latin typeface="ui-sans-serif"/>
              </a:rPr>
              <a:t>aligns with known structure-activity relationships (SAR) in PI3K inhibitor design.</a:t>
            </a:r>
          </a:p>
          <a:p>
            <a:endParaRPr lang="en-US" sz="4400" i="0" dirty="0">
              <a:solidFill>
                <a:srgbClr val="0F0F0F"/>
              </a:solidFill>
              <a:effectLst/>
              <a:latin typeface="ui-sans-serif"/>
            </a:endParaRPr>
          </a:p>
          <a:p>
            <a:pPr marL="228600" indent="-228600">
              <a:buFont typeface="+mj-lt"/>
              <a:buAutoNum type="arabicPeriod" startAt="2"/>
            </a:pPr>
            <a:r>
              <a:rPr lang="en-US" sz="4400" b="1" i="0" dirty="0">
                <a:solidFill>
                  <a:srgbClr val="0F0F0F"/>
                </a:solidFill>
                <a:effectLst/>
                <a:latin typeface="ui-sans-serif"/>
              </a:rPr>
              <a:t>Hinge Region Mimicry</a:t>
            </a:r>
            <a:r>
              <a:rPr lang="en-US" sz="4400" i="0" dirty="0">
                <a:solidFill>
                  <a:srgbClr val="0F0F0F"/>
                </a:solidFill>
                <a:effectLst/>
                <a:latin typeface="ui-sans-serif"/>
              </a:rPr>
              <a:t>: The high anchor occurrence of cyano-pyrimidines in Class 1 confirms the model has learned the </a:t>
            </a:r>
            <a:r>
              <a:rPr lang="en-US" sz="4400" b="1" i="0" dirty="0">
                <a:solidFill>
                  <a:srgbClr val="0F0F0F"/>
                </a:solidFill>
                <a:effectLst/>
                <a:latin typeface="ui-sans-serif"/>
              </a:rPr>
              <a:t>canonical hydrogen-bonding motif</a:t>
            </a:r>
            <a:r>
              <a:rPr lang="en-US" sz="4400" i="0" dirty="0">
                <a:solidFill>
                  <a:srgbClr val="0F0F0F"/>
                </a:solidFill>
                <a:effectLst/>
                <a:latin typeface="ui-sans-serif"/>
              </a:rPr>
              <a:t> required for PI3K catalytic domain binding.</a:t>
            </a:r>
          </a:p>
          <a:p>
            <a:endParaRPr lang="en-US" sz="4400" i="0" dirty="0">
              <a:solidFill>
                <a:srgbClr val="0F0F0F"/>
              </a:solidFill>
              <a:effectLst/>
              <a:latin typeface="ui-sans-serif"/>
            </a:endParaRPr>
          </a:p>
          <a:p>
            <a:pPr marL="228600" indent="-228600">
              <a:buFont typeface="+mj-lt"/>
              <a:buAutoNum type="arabicPeriod" startAt="3"/>
            </a:pPr>
            <a:r>
              <a:rPr lang="en-US" sz="4400" b="1" i="0" dirty="0">
                <a:solidFill>
                  <a:srgbClr val="0F0F0F"/>
                </a:solidFill>
                <a:effectLst/>
                <a:latin typeface="ui-sans-serif"/>
              </a:rPr>
              <a:t>Scaffold-Driven Selectivity: </a:t>
            </a:r>
            <a:r>
              <a:rPr lang="en-US" sz="4400" i="0" dirty="0">
                <a:solidFill>
                  <a:srgbClr val="0F0F0F"/>
                </a:solidFill>
                <a:effectLst/>
                <a:latin typeface="ui-sans-serif"/>
              </a:rPr>
              <a:t>The dominance of bicyclic nitrogenous cores (</a:t>
            </a:r>
            <a:r>
              <a:rPr lang="en-US" sz="4400" i="0" dirty="0" err="1">
                <a:solidFill>
                  <a:srgbClr val="0F0F0F"/>
                </a:solidFill>
                <a:effectLst/>
                <a:latin typeface="ui-sans-serif"/>
              </a:rPr>
              <a:t>isoquinolines</a:t>
            </a:r>
            <a:r>
              <a:rPr lang="en-US" sz="4400" i="0" dirty="0">
                <a:solidFill>
                  <a:srgbClr val="0F0F0F"/>
                </a:solidFill>
                <a:effectLst/>
                <a:latin typeface="ui-sans-serif"/>
              </a:rPr>
              <a:t>) in Class 2 suggests that PI3K-gamma selectivity is </a:t>
            </a:r>
            <a:r>
              <a:rPr lang="en-US" sz="4400" b="1" i="0" dirty="0">
                <a:solidFill>
                  <a:srgbClr val="0F0F0F"/>
                </a:solidFill>
                <a:effectLst/>
                <a:latin typeface="ui-sans-serif"/>
              </a:rPr>
              <a:t>heavily scaffold-dependent</a:t>
            </a:r>
            <a:r>
              <a:rPr lang="en-US" sz="4400" i="0" dirty="0">
                <a:solidFill>
                  <a:srgbClr val="0F0F0F"/>
                </a:solidFill>
                <a:effectLst/>
                <a:latin typeface="ui-sans-serif"/>
              </a:rPr>
              <a:t>, likely due to subtle differences in the </a:t>
            </a:r>
            <a:r>
              <a:rPr lang="en-US" sz="4400" b="1" i="0" dirty="0">
                <a:solidFill>
                  <a:srgbClr val="0F0F0F"/>
                </a:solidFill>
                <a:effectLst/>
                <a:latin typeface="ui-sans-serif"/>
              </a:rPr>
              <a:t>gatekeeper residue </a:t>
            </a:r>
            <a:r>
              <a:rPr lang="en-US" sz="4400" i="0" dirty="0">
                <a:solidFill>
                  <a:srgbClr val="0F0F0F"/>
                </a:solidFill>
                <a:effectLst/>
                <a:latin typeface="ui-sans-serif"/>
              </a:rPr>
              <a:t>or </a:t>
            </a:r>
            <a:r>
              <a:rPr lang="en-US" sz="4400" b="1" i="0" dirty="0">
                <a:solidFill>
                  <a:srgbClr val="0F0F0F"/>
                </a:solidFill>
                <a:effectLst/>
                <a:latin typeface="ui-sans-serif"/>
              </a:rPr>
              <a:t>allosteric pocket topology </a:t>
            </a:r>
            <a:r>
              <a:rPr lang="en-US" sz="4400" i="0" dirty="0">
                <a:solidFill>
                  <a:srgbClr val="0F0F0F"/>
                </a:solidFill>
                <a:effectLst/>
                <a:latin typeface="ui-sans-serif"/>
              </a:rPr>
              <a:t>compared to PI3K-delta.</a:t>
            </a:r>
            <a:endParaRPr lang="en-US" sz="44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F75911C-6BD0-922D-B821-7CE96BED0CA3}"/>
              </a:ext>
            </a:extLst>
          </p:cNvPr>
          <p:cNvSpPr txBox="1"/>
          <p:nvPr/>
        </p:nvSpPr>
        <p:spPr>
          <a:xfrm>
            <a:off x="17784949" y="40889572"/>
            <a:ext cx="171573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rgbClr val="0F0F0F"/>
                </a:solidFill>
                <a:latin typeface="ui-sans-serif"/>
              </a:rPr>
              <a:t>Chemical insights &amp; discussion</a:t>
            </a:r>
            <a:endParaRPr lang="en-US" sz="5400" b="1" i="0" dirty="0">
              <a:solidFill>
                <a:srgbClr val="0F0F0F"/>
              </a:solidFill>
              <a:effectLst/>
              <a:latin typeface="ui-sans-serif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72807964-5BD9-B45A-64B0-2645DF88EB3B}"/>
              </a:ext>
            </a:extLst>
          </p:cNvPr>
          <p:cNvSpPr/>
          <p:nvPr/>
        </p:nvSpPr>
        <p:spPr>
          <a:xfrm>
            <a:off x="12044361" y="49996814"/>
            <a:ext cx="2414589" cy="576217"/>
          </a:xfrm>
          <a:prstGeom prst="rect">
            <a:avLst/>
          </a:prstGeom>
          <a:solidFill>
            <a:srgbClr val="A6CA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ACA069E-8CED-5E8A-69B1-E9F4FC24041A}"/>
              </a:ext>
            </a:extLst>
          </p:cNvPr>
          <p:cNvSpPr txBox="1"/>
          <p:nvPr/>
        </p:nvSpPr>
        <p:spPr>
          <a:xfrm>
            <a:off x="13691175" y="49777091"/>
            <a:ext cx="61995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User prompt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83E7B6A-0D88-EE7A-862D-CD52DE210854}"/>
              </a:ext>
            </a:extLst>
          </p:cNvPr>
          <p:cNvSpPr/>
          <p:nvPr/>
        </p:nvSpPr>
        <p:spPr>
          <a:xfrm>
            <a:off x="19563794" y="49996814"/>
            <a:ext cx="2414589" cy="5762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58AE044-1305-34FC-BBC0-450EF8C6264C}"/>
              </a:ext>
            </a:extLst>
          </p:cNvPr>
          <p:cNvSpPr txBox="1"/>
          <p:nvPr/>
        </p:nvSpPr>
        <p:spPr>
          <a:xfrm>
            <a:off x="21704779" y="49777091"/>
            <a:ext cx="82185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 err="1"/>
              <a:t>ChemicHAL</a:t>
            </a:r>
            <a:r>
              <a:rPr lang="en-US" sz="6000" dirty="0"/>
              <a:t> response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50C722C-59C7-EC1B-EC99-E1777E1494CE}"/>
              </a:ext>
            </a:extLst>
          </p:cNvPr>
          <p:cNvSpPr/>
          <p:nvPr/>
        </p:nvSpPr>
        <p:spPr>
          <a:xfrm>
            <a:off x="29883577" y="49996814"/>
            <a:ext cx="2414589" cy="576217"/>
          </a:xfrm>
          <a:prstGeom prst="rect">
            <a:avLst/>
          </a:prstGeom>
          <a:solidFill>
            <a:srgbClr val="B4E5A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4FCF701-8B21-25B2-2AE4-BF962FF75654}"/>
              </a:ext>
            </a:extLst>
          </p:cNvPr>
          <p:cNvSpPr txBox="1"/>
          <p:nvPr/>
        </p:nvSpPr>
        <p:spPr>
          <a:xfrm>
            <a:off x="32541055" y="49777091"/>
            <a:ext cx="82185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 err="1"/>
              <a:t>ChemicHAL</a:t>
            </a:r>
            <a:r>
              <a:rPr lang="en-US" sz="6000" dirty="0"/>
              <a:t> discussion</a:t>
            </a:r>
          </a:p>
        </p:txBody>
      </p:sp>
    </p:spTree>
    <p:extLst>
      <p:ext uri="{BB962C8B-B14F-4D97-AF65-F5344CB8AC3E}">
        <p14:creationId xmlns:p14="http://schemas.microsoft.com/office/powerpoint/2010/main" val="3647094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diagram of a confusion matrix&#10;&#10;AI-generated content may be incorrect.">
            <a:extLst>
              <a:ext uri="{FF2B5EF4-FFF2-40B4-BE49-F238E27FC236}">
                <a16:creationId xmlns:a16="http://schemas.microsoft.com/office/drawing/2014/main" id="{35B53DDB-EACD-148B-0EA7-FF3D0B7D55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943"/>
          <a:stretch/>
        </p:blipFill>
        <p:spPr>
          <a:xfrm>
            <a:off x="693492" y="19461184"/>
            <a:ext cx="7978651" cy="8273962"/>
          </a:xfrm>
          <a:prstGeom prst="rect">
            <a:avLst/>
          </a:prstGeom>
        </p:spPr>
      </p:pic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8D94A47-E16E-5FA6-0A1F-80756C21A4F7}"/>
              </a:ext>
            </a:extLst>
          </p:cNvPr>
          <p:cNvSpPr/>
          <p:nvPr/>
        </p:nvSpPr>
        <p:spPr>
          <a:xfrm>
            <a:off x="693491" y="18597830"/>
            <a:ext cx="22127025" cy="1595313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EB25CD5-A017-BD2B-F176-3CA388103295}"/>
              </a:ext>
            </a:extLst>
          </p:cNvPr>
          <p:cNvSpPr/>
          <p:nvPr/>
        </p:nvSpPr>
        <p:spPr>
          <a:xfrm>
            <a:off x="1633447" y="8198389"/>
            <a:ext cx="17246113" cy="6270664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4400" dirty="0">
              <a:solidFill>
                <a:schemeClr val="tx1"/>
              </a:solidFill>
            </a:endParaRPr>
          </a:p>
          <a:p>
            <a:pPr algn="just"/>
            <a:r>
              <a:rPr lang="en-US" sz="4400" dirty="0">
                <a:solidFill>
                  <a:schemeClr val="tx1"/>
                </a:solidFill>
              </a:rPr>
              <a:t>You are running a reproducibility study for compound selectivity prediction. The goal is to train a Balanced Random Forest Classifier to distinguish PI3K-delta (</a:t>
            </a:r>
            <a:r>
              <a:rPr lang="en-US" sz="4400" dirty="0" err="1">
                <a:solidFill>
                  <a:schemeClr val="tx1"/>
                </a:solidFill>
              </a:rPr>
              <a:t>UniProt</a:t>
            </a:r>
            <a:r>
              <a:rPr lang="en-US" sz="4400" dirty="0">
                <a:solidFill>
                  <a:schemeClr val="tx1"/>
                </a:solidFill>
              </a:rPr>
              <a:t>: O00329) vs PI3K-gamma (</a:t>
            </a:r>
            <a:r>
              <a:rPr lang="en-US" sz="4400" dirty="0" err="1">
                <a:solidFill>
                  <a:schemeClr val="tx1"/>
                </a:solidFill>
              </a:rPr>
              <a:t>UniProt</a:t>
            </a:r>
            <a:r>
              <a:rPr lang="en-US" sz="4400" dirty="0">
                <a:solidFill>
                  <a:schemeClr val="tx1"/>
                </a:solidFill>
              </a:rPr>
              <a:t>:  P48736) selective compounds, evaluate its performance, and identify recurrent molecular anchor fragments that drive the model's correct predictions for each selective class (class 1 &amp; 2) and discuss the chemical insight gained</a:t>
            </a:r>
            <a:r>
              <a:rPr lang="en-US" sz="5400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dirty="0"/>
          </a:p>
        </p:txBody>
      </p:sp>
      <p:pic>
        <p:nvPicPr>
          <p:cNvPr id="7" name="Graphic 6" descr="Customer review with solid fill">
            <a:extLst>
              <a:ext uri="{FF2B5EF4-FFF2-40B4-BE49-F238E27FC236}">
                <a16:creationId xmlns:a16="http://schemas.microsoft.com/office/drawing/2014/main" id="{D7B0435D-F7B8-934A-EEAB-9AFE4BFF1E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56328" y="5398038"/>
            <a:ext cx="2800350" cy="2800350"/>
          </a:xfrm>
          <a:prstGeom prst="rect">
            <a:avLst/>
          </a:prstGeom>
        </p:spPr>
      </p:pic>
      <p:pic>
        <p:nvPicPr>
          <p:cNvPr id="11" name="Graphic 10" descr="Tools with solid fill">
            <a:extLst>
              <a:ext uri="{FF2B5EF4-FFF2-40B4-BE49-F238E27FC236}">
                <a16:creationId xmlns:a16="http://schemas.microsoft.com/office/drawing/2014/main" id="{92D0C0C2-A6A2-3FAB-626E-69F6C32225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037765" y="6360459"/>
            <a:ext cx="2378678" cy="2378678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BF4675B-24DA-ECE6-C51C-65069789A359}"/>
              </a:ext>
            </a:extLst>
          </p:cNvPr>
          <p:cNvSpPr/>
          <p:nvPr/>
        </p:nvSpPr>
        <p:spPr>
          <a:xfrm>
            <a:off x="28854274" y="8802264"/>
            <a:ext cx="9273325" cy="5165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1"/>
                </a:solidFill>
              </a:rPr>
              <a:t>Find dataset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1"/>
                </a:solidFill>
              </a:rPr>
              <a:t>Load dataset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1"/>
                </a:solidFill>
              </a:rPr>
              <a:t>Compute features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1"/>
                </a:solidFill>
              </a:rPr>
              <a:t>Split dataset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1"/>
                </a:solidFill>
              </a:rPr>
              <a:t>Train model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1"/>
                </a:solidFill>
              </a:rPr>
              <a:t>Plot classification results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1"/>
                </a:solidFill>
              </a:rPr>
              <a:t>Identify recurrent anchor rules</a:t>
            </a:r>
          </a:p>
          <a:p>
            <a:pPr algn="ctr"/>
            <a:endParaRPr lang="en-US" dirty="0"/>
          </a:p>
        </p:txBody>
      </p:sp>
      <p:pic>
        <p:nvPicPr>
          <p:cNvPr id="20" name="Graphic 19" descr="Customer review with solid fill">
            <a:extLst>
              <a:ext uri="{FF2B5EF4-FFF2-40B4-BE49-F238E27FC236}">
                <a16:creationId xmlns:a16="http://schemas.microsoft.com/office/drawing/2014/main" id="{CB6AEA3E-2CED-76CE-CC55-238DCE87A3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5147" y="43423310"/>
            <a:ext cx="3110003" cy="3110003"/>
          </a:xfrm>
          <a:prstGeom prst="rect">
            <a:avLst/>
          </a:prstGeom>
        </p:spPr>
      </p:pic>
      <p:pic>
        <p:nvPicPr>
          <p:cNvPr id="21" name="Graphic 20" descr="Tools with solid fill">
            <a:extLst>
              <a:ext uri="{FF2B5EF4-FFF2-40B4-BE49-F238E27FC236}">
                <a16:creationId xmlns:a16="http://schemas.microsoft.com/office/drawing/2014/main" id="{30357586-D891-7B9B-5CE7-CEE2D87E83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33447" y="47095411"/>
            <a:ext cx="2641703" cy="264170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AD7EEF7-AC29-6E82-9961-99B7A43B828C}"/>
              </a:ext>
            </a:extLst>
          </p:cNvPr>
          <p:cNvSpPr txBox="1"/>
          <p:nvPr/>
        </p:nvSpPr>
        <p:spPr>
          <a:xfrm>
            <a:off x="5743575" y="44378146"/>
            <a:ext cx="141160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/>
              <a:t>User prompt to </a:t>
            </a:r>
            <a:r>
              <a:rPr lang="en-US" sz="7200" dirty="0" err="1"/>
              <a:t>ChemicHAL</a:t>
            </a:r>
            <a:endParaRPr lang="en-US" sz="7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C960E6-BF83-97BE-9634-10CAB5F967F9}"/>
              </a:ext>
            </a:extLst>
          </p:cNvPr>
          <p:cNvSpPr txBox="1"/>
          <p:nvPr/>
        </p:nvSpPr>
        <p:spPr>
          <a:xfrm>
            <a:off x="5743575" y="47334044"/>
            <a:ext cx="141160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err="1"/>
              <a:t>ChemicHAL</a:t>
            </a:r>
            <a:r>
              <a:rPr lang="en-US" sz="7200" dirty="0"/>
              <a:t> tools called</a:t>
            </a:r>
          </a:p>
        </p:txBody>
      </p:sp>
      <p:pic>
        <p:nvPicPr>
          <p:cNvPr id="27" name="Picture 26" descr="A bar graph with numbers and text&#10;&#10;AI-generated content may be incorrect.">
            <a:extLst>
              <a:ext uri="{FF2B5EF4-FFF2-40B4-BE49-F238E27FC236}">
                <a16:creationId xmlns:a16="http://schemas.microsoft.com/office/drawing/2014/main" id="{DDA67D64-D306-A0CD-5ECD-8492A850A7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08" b="17689"/>
          <a:stretch/>
        </p:blipFill>
        <p:spPr>
          <a:xfrm>
            <a:off x="8463999" y="20397699"/>
            <a:ext cx="13225524" cy="640093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BAA39A6-DC6F-57E4-6567-4545559A0C33}"/>
              </a:ext>
            </a:extLst>
          </p:cNvPr>
          <p:cNvSpPr txBox="1"/>
          <p:nvPr/>
        </p:nvSpPr>
        <p:spPr>
          <a:xfrm>
            <a:off x="1666244" y="28261810"/>
            <a:ext cx="2002328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400" b="0" i="0" dirty="0">
                <a:solidFill>
                  <a:srgbClr val="0F0F0F"/>
                </a:solidFill>
                <a:effectLst/>
              </a:rPr>
              <a:t>The Balanced Random Forest model achieved strong performance on the test set: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400" b="1" i="0" dirty="0">
                <a:solidFill>
                  <a:srgbClr val="0F0F0F"/>
                </a:solidFill>
                <a:effectLst/>
              </a:rPr>
              <a:t>Accuracy</a:t>
            </a:r>
            <a:r>
              <a:rPr lang="en-US" sz="4400" b="0" i="0" dirty="0">
                <a:solidFill>
                  <a:srgbClr val="0F0F0F"/>
                </a:solidFill>
                <a:effectLst/>
              </a:rPr>
              <a:t>: 89.3%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400" b="1" i="0" dirty="0">
                <a:solidFill>
                  <a:srgbClr val="0F0F0F"/>
                </a:solidFill>
                <a:effectLst/>
              </a:rPr>
              <a:t>Balanced Accuracy</a:t>
            </a:r>
            <a:r>
              <a:rPr lang="en-US" sz="4400" b="0" i="0" dirty="0">
                <a:solidFill>
                  <a:srgbClr val="0F0F0F"/>
                </a:solidFill>
                <a:effectLst/>
              </a:rPr>
              <a:t>: 84.7%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400" b="1" i="0" dirty="0">
                <a:solidFill>
                  <a:srgbClr val="0F0F0F"/>
                </a:solidFill>
                <a:effectLst/>
              </a:rPr>
              <a:t>MCC</a:t>
            </a:r>
            <a:r>
              <a:rPr lang="en-US" sz="4400" b="0" i="0" dirty="0">
                <a:solidFill>
                  <a:srgbClr val="0F0F0F"/>
                </a:solidFill>
                <a:effectLst/>
              </a:rPr>
              <a:t>: 0.749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400" b="1" i="0" dirty="0">
                <a:solidFill>
                  <a:srgbClr val="0F0F0F"/>
                </a:solidFill>
                <a:effectLst/>
              </a:rPr>
              <a:t>F1 Macro</a:t>
            </a:r>
            <a:r>
              <a:rPr lang="en-US" sz="4400" b="0" i="0" dirty="0">
                <a:solidFill>
                  <a:srgbClr val="0F0F0F"/>
                </a:solidFill>
                <a:effectLst/>
              </a:rPr>
              <a:t>: 0.780</a:t>
            </a:r>
          </a:p>
          <a:p>
            <a:pPr algn="l"/>
            <a:r>
              <a:rPr lang="en-US" sz="4400" b="0" i="0" dirty="0">
                <a:solidFill>
                  <a:srgbClr val="0F0F0F"/>
                </a:solidFill>
                <a:effectLst/>
              </a:rPr>
              <a:t>Class 1 (PI3K-delta selective) and Class 2 (PI3K-gamma selective) show good separation, though Class 2 has fewer samples (15 in test set), which is typical for highly specific selectivity data.</a:t>
            </a:r>
          </a:p>
        </p:txBody>
      </p:sp>
      <p:pic>
        <p:nvPicPr>
          <p:cNvPr id="33" name="Graphic 32" descr="Subtitles with solid fill">
            <a:extLst>
              <a:ext uri="{FF2B5EF4-FFF2-40B4-BE49-F238E27FC236}">
                <a16:creationId xmlns:a16="http://schemas.microsoft.com/office/drawing/2014/main" id="{C52E7A92-5E5B-8D10-F20D-87C22621422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30373" y="15977828"/>
            <a:ext cx="2884975" cy="2884975"/>
          </a:xfrm>
          <a:prstGeom prst="rect">
            <a:avLst/>
          </a:prstGeom>
        </p:spPr>
      </p:pic>
      <p:pic>
        <p:nvPicPr>
          <p:cNvPr id="34" name="Graphic 33" descr="Subtitles with solid fill">
            <a:extLst>
              <a:ext uri="{FF2B5EF4-FFF2-40B4-BE49-F238E27FC236}">
                <a16:creationId xmlns:a16="http://schemas.microsoft.com/office/drawing/2014/main" id="{79762F53-3216-6517-D583-06E345BC816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859625" y="43535822"/>
            <a:ext cx="2884975" cy="288497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7E81FB83-7547-28A2-7CD6-3C02D9F62266}"/>
              </a:ext>
            </a:extLst>
          </p:cNvPr>
          <p:cNvSpPr txBox="1"/>
          <p:nvPr/>
        </p:nvSpPr>
        <p:spPr>
          <a:xfrm>
            <a:off x="22744600" y="44372723"/>
            <a:ext cx="141160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err="1"/>
              <a:t>ChemicHAL</a:t>
            </a:r>
            <a:r>
              <a:rPr lang="en-US" sz="7200" dirty="0"/>
              <a:t> Response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F15D1001-4EDE-353E-1E12-A7E7F98D98C9}"/>
              </a:ext>
            </a:extLst>
          </p:cNvPr>
          <p:cNvSpPr/>
          <p:nvPr/>
        </p:nvSpPr>
        <p:spPr>
          <a:xfrm>
            <a:off x="24726167" y="18248251"/>
            <a:ext cx="22543477" cy="1714621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0" name="Graphic 49" descr="Subtitles with solid fill">
            <a:extLst>
              <a:ext uri="{FF2B5EF4-FFF2-40B4-BE49-F238E27FC236}">
                <a16:creationId xmlns:a16="http://schemas.microsoft.com/office/drawing/2014/main" id="{5F915C69-C22F-2AA5-1B17-D827237339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555417" y="15628249"/>
            <a:ext cx="2884975" cy="2884975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1CA22E51-CE03-F50F-0289-6302FC2665E4}"/>
              </a:ext>
            </a:extLst>
          </p:cNvPr>
          <p:cNvSpPr txBox="1"/>
          <p:nvPr/>
        </p:nvSpPr>
        <p:spPr>
          <a:xfrm>
            <a:off x="7072861" y="18773143"/>
            <a:ext cx="9943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5400" b="1" i="0" dirty="0">
                <a:solidFill>
                  <a:srgbClr val="0F0F0F"/>
                </a:solidFill>
                <a:effectLst/>
                <a:latin typeface="ui-sans-serif"/>
              </a:rPr>
              <a:t>Model Performance Evaluation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D9CB3D1-7BFC-3386-B306-BDBBA5137ABA}"/>
              </a:ext>
            </a:extLst>
          </p:cNvPr>
          <p:cNvSpPr txBox="1"/>
          <p:nvPr/>
        </p:nvSpPr>
        <p:spPr>
          <a:xfrm>
            <a:off x="31026405" y="18410119"/>
            <a:ext cx="9943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rgbClr val="0F0F0F"/>
                </a:solidFill>
                <a:latin typeface="ui-sans-serif"/>
              </a:rPr>
              <a:t>R</a:t>
            </a:r>
            <a:r>
              <a:rPr lang="en-US" sz="5400" b="1" i="0" dirty="0">
                <a:solidFill>
                  <a:srgbClr val="0F0F0F"/>
                </a:solidFill>
                <a:effectLst/>
                <a:latin typeface="ui-sans-serif"/>
              </a:rPr>
              <a:t>ecurrent Molecular Anchor Fragments (Class 1 &amp; 2)</a:t>
            </a:r>
          </a:p>
        </p:txBody>
      </p:sp>
      <p:pic>
        <p:nvPicPr>
          <p:cNvPr id="57" name="Picture 56" descr="A black and red hexagons&#10;&#10;AI-generated content may be incorrect.">
            <a:extLst>
              <a:ext uri="{FF2B5EF4-FFF2-40B4-BE49-F238E27FC236}">
                <a16:creationId xmlns:a16="http://schemas.microsoft.com/office/drawing/2014/main" id="{D31C6E93-8769-C043-E3E6-35F8E48F9A7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622" b="25829"/>
          <a:stretch/>
        </p:blipFill>
        <p:spPr>
          <a:xfrm>
            <a:off x="25217677" y="21809773"/>
            <a:ext cx="10517536" cy="3631955"/>
          </a:xfrm>
          <a:prstGeom prst="rect">
            <a:avLst/>
          </a:prstGeom>
        </p:spPr>
      </p:pic>
      <p:pic>
        <p:nvPicPr>
          <p:cNvPr id="59" name="Picture 58" descr="A red and black molecule&#10;&#10;AI-generated content may be incorrect.">
            <a:extLst>
              <a:ext uri="{FF2B5EF4-FFF2-40B4-BE49-F238E27FC236}">
                <a16:creationId xmlns:a16="http://schemas.microsoft.com/office/drawing/2014/main" id="{FF828C6A-DA1B-1C2D-DF20-B453CD4FBA2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99" r="60477" b="34643"/>
          <a:stretch/>
        </p:blipFill>
        <p:spPr>
          <a:xfrm>
            <a:off x="35692258" y="22170466"/>
            <a:ext cx="11314115" cy="2910568"/>
          </a:xfrm>
          <a:prstGeom prst="rect">
            <a:avLst/>
          </a:prstGeom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9CE13C4E-79CE-DA5C-2A96-845AEE2FBFDF}"/>
              </a:ext>
            </a:extLst>
          </p:cNvPr>
          <p:cNvGrpSpPr/>
          <p:nvPr/>
        </p:nvGrpSpPr>
        <p:grpSpPr>
          <a:xfrm>
            <a:off x="25192736" y="25365208"/>
            <a:ext cx="10567418" cy="1477328"/>
            <a:chOff x="23529200" y="26300403"/>
            <a:chExt cx="10567418" cy="1477328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572CEAB-6935-A767-5441-EE39B0CFE9A6}"/>
                </a:ext>
              </a:extLst>
            </p:cNvPr>
            <p:cNvSpPr txBox="1"/>
            <p:nvPr/>
          </p:nvSpPr>
          <p:spPr>
            <a:xfrm>
              <a:off x="23529200" y="26300403"/>
              <a:ext cx="5414457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000" b="1" i="0" dirty="0">
                  <a:solidFill>
                    <a:srgbClr val="0F0F0F"/>
                  </a:solidFill>
                  <a:effectLst/>
                  <a:latin typeface="ui-sans-serif"/>
                </a:rPr>
                <a:t>Rank 1</a:t>
              </a:r>
            </a:p>
            <a:p>
              <a:pPr algn="ctr"/>
              <a:r>
                <a:rPr lang="en-US" sz="3000" b="1" dirty="0">
                  <a:solidFill>
                    <a:srgbClr val="0F0F0F"/>
                  </a:solidFill>
                  <a:latin typeface="ui-sans-serif"/>
                </a:rPr>
                <a:t>Anchor occurrence: 0.26</a:t>
              </a:r>
            </a:p>
            <a:p>
              <a:pPr algn="ctr"/>
              <a:r>
                <a:rPr lang="en-US" sz="3000" b="1" dirty="0">
                  <a:solidFill>
                    <a:srgbClr val="0F0F0F"/>
                  </a:solidFill>
                  <a:latin typeface="ui-sans-serif"/>
                </a:rPr>
                <a:t>Substructure occurrence: 0.26</a:t>
              </a:r>
              <a:endParaRPr lang="en-US" sz="3000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B3D1D01-6B66-4EBF-BA63-15E4A614E261}"/>
                </a:ext>
              </a:extLst>
            </p:cNvPr>
            <p:cNvSpPr txBox="1"/>
            <p:nvPr/>
          </p:nvSpPr>
          <p:spPr>
            <a:xfrm>
              <a:off x="28643452" y="26300403"/>
              <a:ext cx="5453166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000" b="1" i="0" dirty="0">
                  <a:solidFill>
                    <a:srgbClr val="0F0F0F"/>
                  </a:solidFill>
                  <a:effectLst/>
                  <a:latin typeface="ui-sans-serif"/>
                </a:rPr>
                <a:t>Rank 2</a:t>
              </a:r>
            </a:p>
            <a:p>
              <a:pPr algn="ctr"/>
              <a:r>
                <a:rPr lang="en-US" sz="3000" b="1" dirty="0">
                  <a:solidFill>
                    <a:srgbClr val="0F0F0F"/>
                  </a:solidFill>
                  <a:latin typeface="ui-sans-serif"/>
                </a:rPr>
                <a:t>Anchor occurrence: 0.25</a:t>
              </a:r>
            </a:p>
            <a:p>
              <a:pPr algn="ctr"/>
              <a:r>
                <a:rPr lang="en-US" sz="3000" b="1" dirty="0">
                  <a:solidFill>
                    <a:srgbClr val="0F0F0F"/>
                  </a:solidFill>
                  <a:latin typeface="ui-sans-serif"/>
                </a:rPr>
                <a:t>Substructure occurrence: 0.25</a:t>
              </a:r>
              <a:endParaRPr lang="en-US" sz="3000" dirty="0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821A5C7F-5F5F-A4FE-1C50-2D26291CDC2B}"/>
              </a:ext>
            </a:extLst>
          </p:cNvPr>
          <p:cNvGrpSpPr/>
          <p:nvPr/>
        </p:nvGrpSpPr>
        <p:grpSpPr>
          <a:xfrm>
            <a:off x="35937642" y="25365208"/>
            <a:ext cx="10823347" cy="1477328"/>
            <a:chOff x="34281406" y="25702526"/>
            <a:chExt cx="10823347" cy="1477328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7D21A72-9214-4047-1740-F895FF59E1E6}"/>
                </a:ext>
              </a:extLst>
            </p:cNvPr>
            <p:cNvSpPr txBox="1"/>
            <p:nvPr/>
          </p:nvSpPr>
          <p:spPr>
            <a:xfrm>
              <a:off x="34281406" y="25702526"/>
              <a:ext cx="5323362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000" b="1" i="0" dirty="0">
                  <a:solidFill>
                    <a:srgbClr val="0F0F0F"/>
                  </a:solidFill>
                  <a:effectLst/>
                  <a:latin typeface="ui-sans-serif"/>
                </a:rPr>
                <a:t>Rank 1</a:t>
              </a:r>
            </a:p>
            <a:p>
              <a:pPr algn="ctr"/>
              <a:r>
                <a:rPr lang="en-US" sz="3000" b="1" dirty="0">
                  <a:solidFill>
                    <a:srgbClr val="0F0F0F"/>
                  </a:solidFill>
                  <a:latin typeface="ui-sans-serif"/>
                </a:rPr>
                <a:t>Anchor occurrence: 0.36</a:t>
              </a:r>
            </a:p>
            <a:p>
              <a:pPr algn="ctr"/>
              <a:r>
                <a:rPr lang="en-US" sz="3000" b="1" dirty="0">
                  <a:solidFill>
                    <a:srgbClr val="0F0F0F"/>
                  </a:solidFill>
                  <a:latin typeface="ui-sans-serif"/>
                </a:rPr>
                <a:t>Substructure occurrence: 0.82</a:t>
              </a:r>
              <a:endParaRPr lang="en-US" sz="3000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062DABE-6143-0CF6-47EE-82DED9712869}"/>
                </a:ext>
              </a:extLst>
            </p:cNvPr>
            <p:cNvSpPr txBox="1"/>
            <p:nvPr/>
          </p:nvSpPr>
          <p:spPr>
            <a:xfrm>
              <a:off x="39787986" y="25702526"/>
              <a:ext cx="5316767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000" b="1" i="0" dirty="0">
                  <a:solidFill>
                    <a:srgbClr val="0F0F0F"/>
                  </a:solidFill>
                  <a:effectLst/>
                  <a:latin typeface="ui-sans-serif"/>
                </a:rPr>
                <a:t>Rank 2</a:t>
              </a:r>
            </a:p>
            <a:p>
              <a:pPr algn="ctr"/>
              <a:r>
                <a:rPr lang="en-US" sz="3000" b="1" dirty="0">
                  <a:solidFill>
                    <a:srgbClr val="0F0F0F"/>
                  </a:solidFill>
                  <a:latin typeface="ui-sans-serif"/>
                </a:rPr>
                <a:t>Anchor occurrence: 0.18</a:t>
              </a:r>
            </a:p>
            <a:p>
              <a:pPr algn="ctr"/>
              <a:r>
                <a:rPr lang="en-US" sz="3000" b="1" dirty="0">
                  <a:solidFill>
                    <a:srgbClr val="0F0F0F"/>
                  </a:solidFill>
                  <a:latin typeface="ui-sans-serif"/>
                </a:rPr>
                <a:t>Substructure occurrence: 0.36</a:t>
              </a:r>
              <a:endParaRPr lang="en-US" sz="3000" dirty="0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6A5C72D7-D885-252B-9D5B-8FCC3218E83B}"/>
              </a:ext>
            </a:extLst>
          </p:cNvPr>
          <p:cNvSpPr txBox="1"/>
          <p:nvPr/>
        </p:nvSpPr>
        <p:spPr>
          <a:xfrm>
            <a:off x="27174716" y="20760188"/>
            <a:ext cx="66034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/>
              <a:t>Class </a:t>
            </a:r>
            <a:r>
              <a:rPr lang="en-US" sz="5400" b="1" i="0" dirty="0">
                <a:solidFill>
                  <a:srgbClr val="0F0F0F"/>
                </a:solidFill>
                <a:effectLst/>
                <a:latin typeface="ui-sans-serif"/>
              </a:rPr>
              <a:t>PI3K-delta</a:t>
            </a:r>
            <a:endParaRPr lang="de-DE" sz="5400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75CDCAE-E997-6AB6-EE31-7EEA0E2E635E}"/>
              </a:ext>
            </a:extLst>
          </p:cNvPr>
          <p:cNvSpPr txBox="1"/>
          <p:nvPr/>
        </p:nvSpPr>
        <p:spPr>
          <a:xfrm>
            <a:off x="38194187" y="20760188"/>
            <a:ext cx="63102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/>
              <a:t>Class </a:t>
            </a:r>
            <a:r>
              <a:rPr lang="en-US" sz="5400" b="1" i="0" dirty="0">
                <a:solidFill>
                  <a:srgbClr val="0F0F0F"/>
                </a:solidFill>
                <a:effectLst/>
                <a:latin typeface="ui-sans-serif"/>
              </a:rPr>
              <a:t>PI3K-gamma</a:t>
            </a:r>
            <a:endParaRPr lang="de-DE" sz="54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275191B-4583-8146-851D-EA0FC0A427D2}"/>
              </a:ext>
            </a:extLst>
          </p:cNvPr>
          <p:cNvSpPr txBox="1"/>
          <p:nvPr/>
        </p:nvSpPr>
        <p:spPr>
          <a:xfrm>
            <a:off x="36073227" y="27126710"/>
            <a:ext cx="10552176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just">
              <a:buFont typeface="+mj-lt"/>
              <a:buAutoNum type="arabicPeriod"/>
            </a:pPr>
            <a:r>
              <a:rPr lang="en-US" sz="4400" dirty="0"/>
              <a:t>[*]c1ccn2nc(N)c([*])c2n1: Occurs in 36.4% of anchors. A </a:t>
            </a:r>
            <a:r>
              <a:rPr lang="en-US" sz="4400" b="1" dirty="0"/>
              <a:t>substituted </a:t>
            </a:r>
            <a:r>
              <a:rPr lang="en-US" sz="4400" b="1" dirty="0" err="1"/>
              <a:t>isoquinoline</a:t>
            </a:r>
            <a:r>
              <a:rPr lang="en-US" sz="4400" b="1" dirty="0"/>
              <a:t>/pyrazolo-pyridine core</a:t>
            </a:r>
            <a:r>
              <a:rPr lang="en-US" sz="4400" dirty="0"/>
              <a:t>, highly characteristic of PI3K-gamma selective inhibitors.</a:t>
            </a:r>
          </a:p>
          <a:p>
            <a:pPr marL="228600" indent="-228600" algn="just">
              <a:buFont typeface="+mj-lt"/>
              <a:buAutoNum type="arabicPeriod"/>
            </a:pPr>
            <a:endParaRPr lang="en-US" sz="4400" dirty="0"/>
          </a:p>
          <a:p>
            <a:pPr marL="228600" indent="-228600" algn="just">
              <a:buFont typeface="+mj-lt"/>
              <a:buAutoNum type="arabicPeriod"/>
            </a:pPr>
            <a:r>
              <a:rPr lang="en-US" sz="4400" dirty="0"/>
              <a:t>[*]N1Cc2cc([*])cc([*])c2C1=O</a:t>
            </a:r>
            <a:r>
              <a:rPr lang="en-US" sz="4400" b="1" dirty="0"/>
              <a:t>: </a:t>
            </a:r>
            <a:r>
              <a:rPr lang="en-US" sz="4400" b="1" dirty="0" err="1"/>
              <a:t>Dihydroisoquinolinone</a:t>
            </a:r>
            <a:r>
              <a:rPr lang="en-US" sz="4400" b="1" dirty="0"/>
              <a:t> derivatives</a:t>
            </a:r>
            <a:r>
              <a:rPr lang="en-US" sz="4400" dirty="0"/>
              <a:t>, frequently appearing in gamma-selective chemotypes.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7CA5145-B7E2-1C7C-76AD-CFE78D36AE62}"/>
              </a:ext>
            </a:extLst>
          </p:cNvPr>
          <p:cNvSpPr txBox="1"/>
          <p:nvPr/>
        </p:nvSpPr>
        <p:spPr>
          <a:xfrm>
            <a:off x="25376906" y="27084437"/>
            <a:ext cx="10550661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just">
              <a:buFont typeface="+mj-lt"/>
              <a:buAutoNum type="arabicPeriod"/>
            </a:pPr>
            <a:r>
              <a:rPr lang="en-US" sz="4400" dirty="0"/>
              <a:t>[*]c1ncnc(N)c1C#N: Occurs in 26.4% of correctly predicted Class 1 compounds. This </a:t>
            </a:r>
            <a:r>
              <a:rPr lang="en-US" sz="4400" b="1" dirty="0"/>
              <a:t>cyano-substituted pyrimidine</a:t>
            </a:r>
            <a:r>
              <a:rPr lang="en-US" sz="4400" dirty="0"/>
              <a:t> motif is a classic </a:t>
            </a:r>
            <a:r>
              <a:rPr lang="en-US" sz="4400" b="1" dirty="0"/>
              <a:t>kinase hinge-binder</a:t>
            </a:r>
            <a:r>
              <a:rPr lang="en-US" sz="4400" dirty="0"/>
              <a:t>.</a:t>
            </a:r>
          </a:p>
          <a:p>
            <a:pPr marL="228600" indent="-228600" algn="just">
              <a:buFont typeface="+mj-lt"/>
              <a:buAutoNum type="arabicPeriod"/>
            </a:pPr>
            <a:endParaRPr lang="en-US" sz="4400" dirty="0"/>
          </a:p>
          <a:p>
            <a:pPr marL="228600" indent="-228600" algn="just">
              <a:buFont typeface="+mj-lt"/>
              <a:buAutoNum type="arabicPeriod"/>
            </a:pPr>
            <a:r>
              <a:rPr lang="en-US" sz="4400" dirty="0"/>
              <a:t>[*]c1nc(N)</a:t>
            </a:r>
            <a:r>
              <a:rPr lang="en-US" sz="4400" dirty="0" err="1"/>
              <a:t>nc</a:t>
            </a:r>
            <a:r>
              <a:rPr lang="en-US" sz="4400" dirty="0"/>
              <a:t>(N)c1C#N: Occurs in 25.0% of cases. A </a:t>
            </a:r>
            <a:r>
              <a:rPr lang="en-US" sz="4400" b="1" dirty="0"/>
              <a:t>diamino-</a:t>
            </a:r>
            <a:r>
              <a:rPr lang="en-US" sz="4400" b="1" dirty="0" err="1"/>
              <a:t>cyano</a:t>
            </a:r>
            <a:r>
              <a:rPr lang="en-US" sz="4400" b="1" dirty="0"/>
              <a:t> pyrimidine derivative</a:t>
            </a:r>
            <a:r>
              <a:rPr lang="en-US" sz="4400" dirty="0"/>
              <a:t>, strongly indicating </a:t>
            </a:r>
            <a:r>
              <a:rPr lang="en-US" sz="4400" b="1" dirty="0"/>
              <a:t>hydrogen-bonding interactions </a:t>
            </a:r>
            <a:r>
              <a:rPr lang="en-US" sz="4400" dirty="0"/>
              <a:t>with the </a:t>
            </a:r>
            <a:r>
              <a:rPr lang="en-US" sz="4400" b="1" dirty="0"/>
              <a:t>hinge region</a:t>
            </a:r>
            <a:r>
              <a:rPr lang="en-US" sz="4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5803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8D94A47-E16E-5FA6-0A1F-80756C21A4F7}"/>
              </a:ext>
            </a:extLst>
          </p:cNvPr>
          <p:cNvSpPr/>
          <p:nvPr/>
        </p:nvSpPr>
        <p:spPr>
          <a:xfrm>
            <a:off x="11390334" y="12224390"/>
            <a:ext cx="29946600" cy="137588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BF4675B-24DA-ECE6-C51C-65069789A359}"/>
              </a:ext>
            </a:extLst>
          </p:cNvPr>
          <p:cNvSpPr/>
          <p:nvPr/>
        </p:nvSpPr>
        <p:spPr>
          <a:xfrm>
            <a:off x="11391508" y="6072480"/>
            <a:ext cx="29944252" cy="516579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655BC70-CD2D-4B35-7ABB-67359B0A388C}"/>
              </a:ext>
            </a:extLst>
          </p:cNvPr>
          <p:cNvGrpSpPr/>
          <p:nvPr/>
        </p:nvGrpSpPr>
        <p:grpSpPr>
          <a:xfrm>
            <a:off x="15275754" y="12336890"/>
            <a:ext cx="22150998" cy="8273962"/>
            <a:chOff x="14459353" y="15708740"/>
            <a:chExt cx="22150998" cy="8273962"/>
          </a:xfrm>
        </p:grpSpPr>
        <p:pic>
          <p:nvPicPr>
            <p:cNvPr id="25" name="Picture 24" descr="A diagram of a confusion matrix&#10;&#10;AI-generated content may be incorrect.">
              <a:extLst>
                <a:ext uri="{FF2B5EF4-FFF2-40B4-BE49-F238E27FC236}">
                  <a16:creationId xmlns:a16="http://schemas.microsoft.com/office/drawing/2014/main" id="{35B53DDB-EACD-148B-0EA7-FF3D0B7D55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4943"/>
            <a:stretch/>
          </p:blipFill>
          <p:spPr>
            <a:xfrm>
              <a:off x="14459353" y="15708740"/>
              <a:ext cx="7978651" cy="8273962"/>
            </a:xfrm>
            <a:prstGeom prst="rect">
              <a:avLst/>
            </a:prstGeom>
          </p:spPr>
        </p:pic>
        <p:pic>
          <p:nvPicPr>
            <p:cNvPr id="27" name="Picture 26" descr="A bar graph with numbers and text&#10;&#10;AI-generated content may be incorrect.">
              <a:extLst>
                <a:ext uri="{FF2B5EF4-FFF2-40B4-BE49-F238E27FC236}">
                  <a16:creationId xmlns:a16="http://schemas.microsoft.com/office/drawing/2014/main" id="{DDA67D64-D306-A0CD-5ECD-8492A850A7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0508" b="17689"/>
            <a:stretch/>
          </p:blipFill>
          <p:spPr>
            <a:xfrm>
              <a:off x="23384827" y="16448659"/>
              <a:ext cx="13225524" cy="6400931"/>
            </a:xfrm>
            <a:prstGeom prst="rect">
              <a:avLst/>
            </a:prstGeom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5BAA39A6-DC6F-57E4-6567-4545559A0C33}"/>
              </a:ext>
            </a:extLst>
          </p:cNvPr>
          <p:cNvSpPr txBox="1"/>
          <p:nvPr/>
        </p:nvSpPr>
        <p:spPr>
          <a:xfrm>
            <a:off x="15275754" y="20470366"/>
            <a:ext cx="22502113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400" b="0" i="0" dirty="0">
                <a:solidFill>
                  <a:srgbClr val="0F0F0F"/>
                </a:solidFill>
                <a:effectLst/>
              </a:rPr>
              <a:t>The Balanced Random Forest model achieved strong performance on the test set: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400" b="1" i="0" dirty="0">
                <a:solidFill>
                  <a:srgbClr val="0F0F0F"/>
                </a:solidFill>
                <a:effectLst/>
              </a:rPr>
              <a:t>Accuracy</a:t>
            </a:r>
            <a:r>
              <a:rPr lang="en-US" sz="4400" b="0" i="0" dirty="0">
                <a:solidFill>
                  <a:srgbClr val="0F0F0F"/>
                </a:solidFill>
                <a:effectLst/>
              </a:rPr>
              <a:t>: 89.3%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400" b="1" i="0" dirty="0">
                <a:solidFill>
                  <a:srgbClr val="0F0F0F"/>
                </a:solidFill>
                <a:effectLst/>
              </a:rPr>
              <a:t>Balanced Accuracy</a:t>
            </a:r>
            <a:r>
              <a:rPr lang="en-US" sz="4400" b="0" i="0" dirty="0">
                <a:solidFill>
                  <a:srgbClr val="0F0F0F"/>
                </a:solidFill>
                <a:effectLst/>
              </a:rPr>
              <a:t>: 84.7%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400" b="1" i="0" dirty="0">
                <a:solidFill>
                  <a:srgbClr val="0F0F0F"/>
                </a:solidFill>
                <a:effectLst/>
              </a:rPr>
              <a:t>MCC</a:t>
            </a:r>
            <a:r>
              <a:rPr lang="en-US" sz="4400" b="0" i="0" dirty="0">
                <a:solidFill>
                  <a:srgbClr val="0F0F0F"/>
                </a:solidFill>
                <a:effectLst/>
              </a:rPr>
              <a:t>: 0.749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400" b="1" i="0" dirty="0">
                <a:solidFill>
                  <a:srgbClr val="0F0F0F"/>
                </a:solidFill>
                <a:effectLst/>
              </a:rPr>
              <a:t>F1 Macro</a:t>
            </a:r>
            <a:r>
              <a:rPr lang="en-US" sz="4400" b="0" i="0" dirty="0">
                <a:solidFill>
                  <a:srgbClr val="0F0F0F"/>
                </a:solidFill>
                <a:effectLst/>
              </a:rPr>
              <a:t>: 0.780</a:t>
            </a:r>
          </a:p>
          <a:p>
            <a:pPr algn="l"/>
            <a:r>
              <a:rPr lang="en-US" sz="4400" b="0" i="0" dirty="0">
                <a:solidFill>
                  <a:srgbClr val="0F0F0F"/>
                </a:solidFill>
                <a:effectLst/>
              </a:rPr>
              <a:t>Class 1 (PI3K-delta selective) and Class 2 (PI3K-gamma selective) show good separation, though Class 2 has fewer samples (15 in test set), which is typical for highly specific selectivity data.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CA22E51-CE03-F50F-0289-6302FC2665E4}"/>
              </a:ext>
            </a:extLst>
          </p:cNvPr>
          <p:cNvSpPr txBox="1"/>
          <p:nvPr/>
        </p:nvSpPr>
        <p:spPr>
          <a:xfrm>
            <a:off x="21392134" y="11362775"/>
            <a:ext cx="9943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5400" b="1" i="0" dirty="0">
                <a:solidFill>
                  <a:srgbClr val="0F0F0F"/>
                </a:solidFill>
                <a:effectLst/>
                <a:latin typeface="ui-sans-serif"/>
              </a:rPr>
              <a:t>Model Performance Evaluation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D9CB3D1-7BFC-3386-B306-BDBBA5137ABA}"/>
              </a:ext>
            </a:extLst>
          </p:cNvPr>
          <p:cNvSpPr txBox="1"/>
          <p:nvPr/>
        </p:nvSpPr>
        <p:spPr>
          <a:xfrm>
            <a:off x="17784949" y="26119453"/>
            <a:ext cx="171573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rgbClr val="0F0F0F"/>
                </a:solidFill>
                <a:latin typeface="ui-sans-serif"/>
              </a:rPr>
              <a:t>R</a:t>
            </a:r>
            <a:r>
              <a:rPr lang="en-US" sz="5400" b="1" i="0" dirty="0">
                <a:solidFill>
                  <a:srgbClr val="0F0F0F"/>
                </a:solidFill>
                <a:effectLst/>
                <a:latin typeface="ui-sans-serif"/>
              </a:rPr>
              <a:t>ecurrent Molecular Anchor Fragments (Class 1 &amp; 2)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C07ED87-02E6-769C-8522-F7EA43967144}"/>
              </a:ext>
            </a:extLst>
          </p:cNvPr>
          <p:cNvGrpSpPr/>
          <p:nvPr/>
        </p:nvGrpSpPr>
        <p:grpSpPr>
          <a:xfrm>
            <a:off x="25921308" y="27870284"/>
            <a:ext cx="14331255" cy="12484043"/>
            <a:chOff x="26016215" y="32690065"/>
            <a:chExt cx="14331255" cy="12484043"/>
          </a:xfrm>
        </p:grpSpPr>
        <p:pic>
          <p:nvPicPr>
            <p:cNvPr id="59" name="Picture 58" descr="A red and black molecule&#10;&#10;AI-generated content may be incorrect.">
              <a:extLst>
                <a:ext uri="{FF2B5EF4-FFF2-40B4-BE49-F238E27FC236}">
                  <a16:creationId xmlns:a16="http://schemas.microsoft.com/office/drawing/2014/main" id="{FF828C6A-DA1B-1C2D-DF20-B453CD4FBA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899" r="60477" b="34643"/>
            <a:stretch/>
          </p:blipFill>
          <p:spPr>
            <a:xfrm>
              <a:off x="26016215" y="33792057"/>
              <a:ext cx="14331255" cy="3686730"/>
            </a:xfrm>
            <a:prstGeom prst="rect">
              <a:avLst/>
            </a:prstGeom>
          </p:spPr>
        </p:pic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3328C6AB-5D2D-21F5-D316-19C43126EF72}"/>
                </a:ext>
              </a:extLst>
            </p:cNvPr>
            <p:cNvGrpSpPr/>
            <p:nvPr/>
          </p:nvGrpSpPr>
          <p:grpSpPr>
            <a:xfrm>
              <a:off x="27091192" y="37720664"/>
              <a:ext cx="12181300" cy="1477328"/>
              <a:chOff x="27174716" y="37720664"/>
              <a:chExt cx="12181300" cy="1477328"/>
            </a:xfrm>
          </p:grpSpPr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7D21A72-9214-4047-1740-F895FF59E1E6}"/>
                  </a:ext>
                </a:extLst>
              </p:cNvPr>
              <p:cNvSpPr txBox="1"/>
              <p:nvPr/>
            </p:nvSpPr>
            <p:spPr>
              <a:xfrm>
                <a:off x="27174716" y="37720664"/>
                <a:ext cx="532336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000" b="1" i="0" dirty="0">
                    <a:solidFill>
                      <a:srgbClr val="0F0F0F"/>
                    </a:solidFill>
                    <a:effectLst/>
                    <a:latin typeface="ui-sans-serif"/>
                  </a:rPr>
                  <a:t>Rank 1</a:t>
                </a:r>
              </a:p>
              <a:p>
                <a:pPr algn="ctr"/>
                <a:r>
                  <a:rPr lang="en-US" sz="3000" b="1" dirty="0">
                    <a:solidFill>
                      <a:srgbClr val="0F0F0F"/>
                    </a:solidFill>
                    <a:latin typeface="ui-sans-serif"/>
                  </a:rPr>
                  <a:t>Anchor occurrence: 0.36</a:t>
                </a:r>
              </a:p>
              <a:p>
                <a:pPr algn="ctr"/>
                <a:r>
                  <a:rPr lang="en-US" sz="3000" b="1" dirty="0">
                    <a:solidFill>
                      <a:srgbClr val="0F0F0F"/>
                    </a:solidFill>
                    <a:latin typeface="ui-sans-serif"/>
                  </a:rPr>
                  <a:t>Substructure occurrence: 0.82</a:t>
                </a:r>
                <a:endParaRPr lang="en-US" sz="3000" dirty="0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062DABE-6143-0CF6-47EE-82DED9712869}"/>
                  </a:ext>
                </a:extLst>
              </p:cNvPr>
              <p:cNvSpPr txBox="1"/>
              <p:nvPr/>
            </p:nvSpPr>
            <p:spPr>
              <a:xfrm>
                <a:off x="34039249" y="37720664"/>
                <a:ext cx="5316767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000" b="1" i="0" dirty="0">
                    <a:solidFill>
                      <a:srgbClr val="0F0F0F"/>
                    </a:solidFill>
                    <a:effectLst/>
                    <a:latin typeface="ui-sans-serif"/>
                  </a:rPr>
                  <a:t>Rank 2</a:t>
                </a:r>
              </a:p>
              <a:p>
                <a:pPr algn="ctr"/>
                <a:r>
                  <a:rPr lang="en-US" sz="3000" b="1" dirty="0">
                    <a:solidFill>
                      <a:srgbClr val="0F0F0F"/>
                    </a:solidFill>
                    <a:latin typeface="ui-sans-serif"/>
                  </a:rPr>
                  <a:t>Anchor occurrence: 0.18</a:t>
                </a:r>
              </a:p>
              <a:p>
                <a:pPr algn="ctr"/>
                <a:r>
                  <a:rPr lang="en-US" sz="3000" b="1" dirty="0">
                    <a:solidFill>
                      <a:srgbClr val="0F0F0F"/>
                    </a:solidFill>
                    <a:latin typeface="ui-sans-serif"/>
                  </a:rPr>
                  <a:t>Substructure occurrence: 0.36</a:t>
                </a:r>
                <a:endParaRPr lang="en-US" sz="3000" dirty="0"/>
              </a:p>
            </p:txBody>
          </p: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75CDCAE-E997-6AB6-EE31-7EEA0E2E635E}"/>
                </a:ext>
              </a:extLst>
            </p:cNvPr>
            <p:cNvSpPr txBox="1"/>
            <p:nvPr/>
          </p:nvSpPr>
          <p:spPr>
            <a:xfrm>
              <a:off x="30026714" y="32690065"/>
              <a:ext cx="631025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b="1" dirty="0"/>
                <a:t>Class </a:t>
              </a:r>
              <a:r>
                <a:rPr lang="en-US" sz="5400" b="1" i="0" dirty="0">
                  <a:solidFill>
                    <a:srgbClr val="0F0F0F"/>
                  </a:solidFill>
                  <a:effectLst/>
                  <a:latin typeface="ui-sans-serif"/>
                </a:rPr>
                <a:t>PI3K-gamma</a:t>
              </a:r>
              <a:endParaRPr lang="de-DE" sz="5400" b="1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275191B-4583-8146-851D-EA0FC0A427D2}"/>
                </a:ext>
              </a:extLst>
            </p:cNvPr>
            <p:cNvSpPr txBox="1"/>
            <p:nvPr/>
          </p:nvSpPr>
          <p:spPr>
            <a:xfrm>
              <a:off x="27101082" y="39664908"/>
              <a:ext cx="12161520" cy="5509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 algn="just">
                <a:buFont typeface="+mj-lt"/>
                <a:buAutoNum type="arabicPeriod"/>
              </a:pPr>
              <a:r>
                <a:rPr lang="en-US" sz="4400" dirty="0"/>
                <a:t> Occurs in 36.4% of anchors. A </a:t>
              </a:r>
              <a:r>
                <a:rPr lang="en-US" sz="4400" b="1" dirty="0"/>
                <a:t>substituted </a:t>
              </a:r>
              <a:r>
                <a:rPr lang="en-US" sz="4400" b="1" dirty="0" err="1"/>
                <a:t>isoquinoline</a:t>
              </a:r>
              <a:r>
                <a:rPr lang="en-US" sz="4400" b="1" dirty="0"/>
                <a:t>/pyrazolo-pyridine core</a:t>
              </a:r>
              <a:r>
                <a:rPr lang="en-US" sz="4400" dirty="0"/>
                <a:t>, highly characteristic of PI3K-gamma selective inhibitors.</a:t>
              </a:r>
            </a:p>
            <a:p>
              <a:pPr marL="228600" indent="-228600" algn="just">
                <a:buFont typeface="+mj-lt"/>
                <a:buAutoNum type="arabicPeriod"/>
              </a:pPr>
              <a:endParaRPr lang="en-US" sz="4400" dirty="0"/>
            </a:p>
            <a:p>
              <a:pPr marL="228600" indent="-228600" algn="just">
                <a:buFont typeface="+mj-lt"/>
                <a:buAutoNum type="arabicPeriod"/>
              </a:pPr>
              <a:r>
                <a:rPr lang="en-US" sz="4400" b="1" dirty="0"/>
                <a:t> </a:t>
              </a:r>
              <a:r>
                <a:rPr lang="en-US" sz="4400" b="1" dirty="0" err="1"/>
                <a:t>Dihydroisoquinolinone</a:t>
              </a:r>
              <a:r>
                <a:rPr lang="en-US" sz="4400" b="1" dirty="0"/>
                <a:t> derivatives</a:t>
              </a:r>
              <a:r>
                <a:rPr lang="en-US" sz="4400" dirty="0"/>
                <a:t>, frequently appearing in gamma-selective chemotypes.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566DC8D-A751-746E-78CA-6C8E8122C95C}"/>
              </a:ext>
            </a:extLst>
          </p:cNvPr>
          <p:cNvGrpSpPr/>
          <p:nvPr/>
        </p:nvGrpSpPr>
        <p:grpSpPr>
          <a:xfrm>
            <a:off x="12647583" y="27870284"/>
            <a:ext cx="12161520" cy="12484043"/>
            <a:chOff x="12742490" y="32690065"/>
            <a:chExt cx="12161520" cy="12484043"/>
          </a:xfrm>
        </p:grpSpPr>
        <p:pic>
          <p:nvPicPr>
            <p:cNvPr id="57" name="Picture 56" descr="A black and red hexagons&#10;&#10;AI-generated content may be incorrect.">
              <a:extLst>
                <a:ext uri="{FF2B5EF4-FFF2-40B4-BE49-F238E27FC236}">
                  <a16:creationId xmlns:a16="http://schemas.microsoft.com/office/drawing/2014/main" id="{D31C6E93-8769-C043-E3E6-35F8E48F9A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0622" b="25829"/>
            <a:stretch/>
          </p:blipFill>
          <p:spPr>
            <a:xfrm>
              <a:off x="12970037" y="33436279"/>
              <a:ext cx="11706426" cy="4042508"/>
            </a:xfrm>
            <a:prstGeom prst="rect">
              <a:avLst/>
            </a:prstGeom>
          </p:spPr>
        </p:pic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3B152157-9CC7-F546-D5E7-974890FB190C}"/>
                </a:ext>
              </a:extLst>
            </p:cNvPr>
            <p:cNvGrpSpPr/>
            <p:nvPr/>
          </p:nvGrpSpPr>
          <p:grpSpPr>
            <a:xfrm>
              <a:off x="13187768" y="37935654"/>
              <a:ext cx="11270964" cy="1477328"/>
              <a:chOff x="13180193" y="37935654"/>
              <a:chExt cx="11270964" cy="1477328"/>
            </a:xfrm>
          </p:grpSpPr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572CEAB-6935-A767-5441-EE39B0CFE9A6}"/>
                  </a:ext>
                </a:extLst>
              </p:cNvPr>
              <p:cNvSpPr txBox="1"/>
              <p:nvPr/>
            </p:nvSpPr>
            <p:spPr>
              <a:xfrm>
                <a:off x="13180193" y="37935654"/>
                <a:ext cx="5414457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000" b="1" i="0" dirty="0">
                    <a:solidFill>
                      <a:srgbClr val="0F0F0F"/>
                    </a:solidFill>
                    <a:effectLst/>
                    <a:latin typeface="ui-sans-serif"/>
                  </a:rPr>
                  <a:t>Rank 1</a:t>
                </a:r>
              </a:p>
              <a:p>
                <a:pPr algn="ctr"/>
                <a:r>
                  <a:rPr lang="en-US" sz="3000" b="1" dirty="0">
                    <a:solidFill>
                      <a:srgbClr val="0F0F0F"/>
                    </a:solidFill>
                    <a:latin typeface="ui-sans-serif"/>
                  </a:rPr>
                  <a:t>Anchor occurrence: 0.26</a:t>
                </a:r>
              </a:p>
              <a:p>
                <a:pPr algn="ctr"/>
                <a:r>
                  <a:rPr lang="en-US" sz="3000" b="1" dirty="0">
                    <a:solidFill>
                      <a:srgbClr val="0F0F0F"/>
                    </a:solidFill>
                    <a:latin typeface="ui-sans-serif"/>
                  </a:rPr>
                  <a:t>Substructure occurrence: 0.26</a:t>
                </a:r>
                <a:endParaRPr lang="en-US" sz="3000" dirty="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B3D1D01-6B66-4EBF-BA63-15E4A614E261}"/>
                  </a:ext>
                </a:extLst>
              </p:cNvPr>
              <p:cNvSpPr txBox="1"/>
              <p:nvPr/>
            </p:nvSpPr>
            <p:spPr>
              <a:xfrm>
                <a:off x="18997991" y="37935654"/>
                <a:ext cx="5453166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000" b="1" i="0" dirty="0">
                    <a:solidFill>
                      <a:srgbClr val="0F0F0F"/>
                    </a:solidFill>
                    <a:effectLst/>
                    <a:latin typeface="ui-sans-serif"/>
                  </a:rPr>
                  <a:t>Rank 2</a:t>
                </a:r>
              </a:p>
              <a:p>
                <a:pPr algn="ctr"/>
                <a:r>
                  <a:rPr lang="en-US" sz="3000" b="1" dirty="0">
                    <a:solidFill>
                      <a:srgbClr val="0F0F0F"/>
                    </a:solidFill>
                    <a:latin typeface="ui-sans-serif"/>
                  </a:rPr>
                  <a:t>Anchor occurrence: 0.25</a:t>
                </a:r>
              </a:p>
              <a:p>
                <a:pPr algn="ctr"/>
                <a:r>
                  <a:rPr lang="en-US" sz="3000" b="1" dirty="0">
                    <a:solidFill>
                      <a:srgbClr val="0F0F0F"/>
                    </a:solidFill>
                    <a:latin typeface="ui-sans-serif"/>
                  </a:rPr>
                  <a:t>Substructure occurrence: 0.25</a:t>
                </a:r>
                <a:endParaRPr lang="en-US" sz="3000" dirty="0"/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A5C72D7-D885-252B-9D5B-8FCC3218E83B}"/>
                </a:ext>
              </a:extLst>
            </p:cNvPr>
            <p:cNvSpPr txBox="1"/>
            <p:nvPr/>
          </p:nvSpPr>
          <p:spPr>
            <a:xfrm>
              <a:off x="15521521" y="32690065"/>
              <a:ext cx="660345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b="1" dirty="0"/>
                <a:t>Class </a:t>
              </a:r>
              <a:r>
                <a:rPr lang="en-US" sz="5400" b="1" i="0" dirty="0">
                  <a:solidFill>
                    <a:srgbClr val="0F0F0F"/>
                  </a:solidFill>
                  <a:effectLst/>
                  <a:latin typeface="ui-sans-serif"/>
                </a:rPr>
                <a:t>PI3K-delta</a:t>
              </a:r>
              <a:endParaRPr lang="de-DE" sz="54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7CA5145-B7E2-1C7C-76AD-CFE78D36AE62}"/>
                </a:ext>
              </a:extLst>
            </p:cNvPr>
            <p:cNvSpPr txBox="1"/>
            <p:nvPr/>
          </p:nvSpPr>
          <p:spPr>
            <a:xfrm>
              <a:off x="12742490" y="39664908"/>
              <a:ext cx="12161520" cy="5509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 algn="just">
                <a:buFont typeface="+mj-lt"/>
                <a:buAutoNum type="arabicPeriod"/>
              </a:pPr>
              <a:r>
                <a:rPr lang="en-US" sz="4400" dirty="0"/>
                <a:t> Occurs in 26.4% of correctly predicted Class 1 compounds. This </a:t>
              </a:r>
              <a:r>
                <a:rPr lang="en-US" sz="4400" b="1" dirty="0"/>
                <a:t>cyano-substituted pyrimidine</a:t>
              </a:r>
              <a:r>
                <a:rPr lang="en-US" sz="4400" dirty="0"/>
                <a:t> motif is a classic </a:t>
              </a:r>
              <a:r>
                <a:rPr lang="en-US" sz="4400" b="1" dirty="0"/>
                <a:t>kinase hinge-binder</a:t>
              </a:r>
              <a:r>
                <a:rPr lang="en-US" sz="4400" dirty="0"/>
                <a:t>.</a:t>
              </a:r>
            </a:p>
            <a:p>
              <a:pPr marL="228600" indent="-228600" algn="just">
                <a:buFont typeface="+mj-lt"/>
                <a:buAutoNum type="arabicPeriod"/>
              </a:pPr>
              <a:endParaRPr lang="en-US" sz="4400" dirty="0"/>
            </a:p>
            <a:p>
              <a:pPr marL="228600" indent="-228600" algn="just">
                <a:buFont typeface="+mj-lt"/>
                <a:buAutoNum type="arabicPeriod"/>
              </a:pPr>
              <a:r>
                <a:rPr lang="en-US" sz="4400" dirty="0"/>
                <a:t> Occurs in 25.0% of cases. A </a:t>
              </a:r>
              <a:r>
                <a:rPr lang="en-US" sz="4400" b="1" dirty="0"/>
                <a:t>diamino-</a:t>
              </a:r>
              <a:r>
                <a:rPr lang="en-US" sz="4400" b="1" dirty="0" err="1"/>
                <a:t>cyano</a:t>
              </a:r>
              <a:r>
                <a:rPr lang="en-US" sz="4400" b="1" dirty="0"/>
                <a:t> pyrimidine derivative</a:t>
              </a:r>
              <a:r>
                <a:rPr lang="en-US" sz="4400" dirty="0"/>
                <a:t>, strongly indicating </a:t>
              </a:r>
              <a:r>
                <a:rPr lang="en-US" sz="4400" b="1" dirty="0"/>
                <a:t>hydrogen-bonding interactions </a:t>
              </a:r>
              <a:r>
                <a:rPr lang="en-US" sz="4400" dirty="0"/>
                <a:t>with the </a:t>
              </a:r>
              <a:r>
                <a:rPr lang="en-US" sz="4400" b="1" dirty="0"/>
                <a:t>hinge region</a:t>
              </a:r>
              <a:r>
                <a:rPr lang="en-US" sz="4400" dirty="0"/>
                <a:t>.</a:t>
              </a:r>
            </a:p>
          </p:txBody>
        </p:sp>
      </p:grp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6C13FBF4-81B4-461D-A19D-5804EED023DD}"/>
              </a:ext>
            </a:extLst>
          </p:cNvPr>
          <p:cNvSpPr/>
          <p:nvPr/>
        </p:nvSpPr>
        <p:spPr>
          <a:xfrm>
            <a:off x="11391508" y="62907"/>
            <a:ext cx="29944252" cy="5373486"/>
          </a:xfrm>
          <a:prstGeom prst="round2Same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1800" dirty="0">
              <a:solidFill>
                <a:schemeClr val="tx1"/>
              </a:solidFill>
            </a:endParaRPr>
          </a:p>
          <a:p>
            <a:pPr algn="just"/>
            <a:r>
              <a:rPr lang="en-US" sz="6000" dirty="0">
                <a:solidFill>
                  <a:schemeClr val="tx1"/>
                </a:solidFill>
              </a:rPr>
              <a:t>You are running a reproducibility study for compound selectivity prediction. The goal is to train a Balanced Random Forest Classifier to distinguish PI3K-delta (</a:t>
            </a:r>
            <a:r>
              <a:rPr lang="en-US" sz="6000" dirty="0" err="1">
                <a:solidFill>
                  <a:schemeClr val="tx1"/>
                </a:solidFill>
              </a:rPr>
              <a:t>UniProt</a:t>
            </a:r>
            <a:r>
              <a:rPr lang="en-US" sz="6000" dirty="0">
                <a:solidFill>
                  <a:schemeClr val="tx1"/>
                </a:solidFill>
              </a:rPr>
              <a:t>: O00329) vs PI3K-gamma (</a:t>
            </a:r>
            <a:r>
              <a:rPr lang="en-US" sz="6000" dirty="0" err="1">
                <a:solidFill>
                  <a:schemeClr val="tx1"/>
                </a:solidFill>
              </a:rPr>
              <a:t>UniProt</a:t>
            </a:r>
            <a:r>
              <a:rPr lang="en-US" sz="6000" dirty="0">
                <a:solidFill>
                  <a:schemeClr val="tx1"/>
                </a:solidFill>
              </a:rPr>
              <a:t>:  P48736) selective compounds, evaluate its performance, and identify recurrent molecular anchor fragments that drive the model's correct predictions for each selective class (class 1 &amp; 2) and discuss the chemical insight gained.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65AE2D3-52C5-2D04-D846-EC865A9F4DC7}"/>
              </a:ext>
            </a:extLst>
          </p:cNvPr>
          <p:cNvSpPr/>
          <p:nvPr/>
        </p:nvSpPr>
        <p:spPr>
          <a:xfrm>
            <a:off x="12044361" y="6917439"/>
            <a:ext cx="6499225" cy="1338439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chemeClr val="tx1"/>
                </a:solidFill>
              </a:rPr>
              <a:t>Find dataset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DB85F9D-5273-DCFF-C989-7562C2561479}"/>
              </a:ext>
            </a:extLst>
          </p:cNvPr>
          <p:cNvSpPr/>
          <p:nvPr/>
        </p:nvSpPr>
        <p:spPr>
          <a:xfrm>
            <a:off x="12044361" y="9238208"/>
            <a:ext cx="6499225" cy="1338439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chemeClr val="tx1"/>
                </a:solidFill>
              </a:rPr>
              <a:t>Load dataset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72B3574-1A6E-95E9-EEA3-C496E1B2F4CE}"/>
              </a:ext>
            </a:extLst>
          </p:cNvPr>
          <p:cNvSpPr/>
          <p:nvPr/>
        </p:nvSpPr>
        <p:spPr>
          <a:xfrm>
            <a:off x="19516990" y="9238208"/>
            <a:ext cx="6499225" cy="1338439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chemeClr val="tx1"/>
                </a:solidFill>
              </a:rPr>
              <a:t>Compute features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B67E2D9-9E9D-F863-4BAE-D1ACB7A59896}"/>
              </a:ext>
            </a:extLst>
          </p:cNvPr>
          <p:cNvSpPr/>
          <p:nvPr/>
        </p:nvSpPr>
        <p:spPr>
          <a:xfrm>
            <a:off x="19516990" y="6917439"/>
            <a:ext cx="6499225" cy="1338439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chemeClr val="tx1"/>
                </a:solidFill>
              </a:rPr>
              <a:t>Split dataset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344948B-9127-5D85-04AF-9E27623C51DB}"/>
              </a:ext>
            </a:extLst>
          </p:cNvPr>
          <p:cNvSpPr/>
          <p:nvPr/>
        </p:nvSpPr>
        <p:spPr>
          <a:xfrm>
            <a:off x="27051018" y="6917439"/>
            <a:ext cx="6499225" cy="1338439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chemeClr val="tx1"/>
                </a:solidFill>
              </a:rPr>
              <a:t>Train model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B31298B-CDEF-CDC2-2977-DCA4EAA13569}"/>
              </a:ext>
            </a:extLst>
          </p:cNvPr>
          <p:cNvSpPr/>
          <p:nvPr/>
        </p:nvSpPr>
        <p:spPr>
          <a:xfrm>
            <a:off x="27051018" y="8990043"/>
            <a:ext cx="6499225" cy="1834769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chemeClr val="tx1"/>
                </a:solidFill>
              </a:rPr>
              <a:t>Plot classification</a:t>
            </a:r>
          </a:p>
          <a:p>
            <a:pPr algn="ctr"/>
            <a:r>
              <a:rPr lang="en-US" sz="6000" dirty="0">
                <a:solidFill>
                  <a:schemeClr val="tx1"/>
                </a:solidFill>
              </a:rPr>
              <a:t>results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2D69792-6240-2A88-CEB7-39F07C646BE7}"/>
              </a:ext>
            </a:extLst>
          </p:cNvPr>
          <p:cNvSpPr/>
          <p:nvPr/>
        </p:nvSpPr>
        <p:spPr>
          <a:xfrm>
            <a:off x="34528255" y="8990043"/>
            <a:ext cx="6499225" cy="1834769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chemeClr val="tx1"/>
                </a:solidFill>
              </a:rPr>
              <a:t>Identify recurrent anchor rules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EB09105-A603-3792-FA56-C202D530844E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15293974" y="8255878"/>
            <a:ext cx="0" cy="98233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26109EB-84B7-25A1-4C4D-5E40E7C05280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18543586" y="9907427"/>
            <a:ext cx="973404" cy="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E9E200C-F61C-E3BC-C813-973305E697A5}"/>
              </a:ext>
            </a:extLst>
          </p:cNvPr>
          <p:cNvCxnSpPr>
            <a:cxnSpLocks/>
            <a:stCxn id="8" idx="0"/>
            <a:endCxn id="9" idx="2"/>
          </p:cNvCxnSpPr>
          <p:nvPr/>
        </p:nvCxnSpPr>
        <p:spPr>
          <a:xfrm flipV="1">
            <a:off x="22766603" y="8255878"/>
            <a:ext cx="0" cy="98233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B958271-883F-8940-76BB-8AF8F00A9DC4}"/>
              </a:ext>
            </a:extLst>
          </p:cNvPr>
          <p:cNvCxnSpPr>
            <a:cxnSpLocks/>
          </p:cNvCxnSpPr>
          <p:nvPr/>
        </p:nvCxnSpPr>
        <p:spPr>
          <a:xfrm>
            <a:off x="26016215" y="7586658"/>
            <a:ext cx="103480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4B6177B-6EC6-A0F4-463E-CAAB2559ADE4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30300631" y="8255878"/>
            <a:ext cx="0" cy="73416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17806EB-FC1C-9A83-BF43-2E984DA88F27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33550243" y="9907428"/>
            <a:ext cx="97801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1C29497D-2B90-2BE5-88BB-D67B8144BA05}"/>
              </a:ext>
            </a:extLst>
          </p:cNvPr>
          <p:cNvSpPr/>
          <p:nvPr/>
        </p:nvSpPr>
        <p:spPr>
          <a:xfrm>
            <a:off x="11390334" y="26961496"/>
            <a:ext cx="29946600" cy="137588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: Top Corners Rounded 74">
            <a:extLst>
              <a:ext uri="{FF2B5EF4-FFF2-40B4-BE49-F238E27FC236}">
                <a16:creationId xmlns:a16="http://schemas.microsoft.com/office/drawing/2014/main" id="{ADA389BC-6277-D00F-8843-FDFC3BF7E611}"/>
              </a:ext>
            </a:extLst>
          </p:cNvPr>
          <p:cNvSpPr/>
          <p:nvPr/>
        </p:nvSpPr>
        <p:spPr>
          <a:xfrm rot="10800000">
            <a:off x="11391508" y="41765163"/>
            <a:ext cx="29944252" cy="7360778"/>
          </a:xfrm>
          <a:prstGeom prst="round2Same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9821E32-A8A6-C518-B031-E9D5E16F9A8D}"/>
              </a:ext>
            </a:extLst>
          </p:cNvPr>
          <p:cNvSpPr txBox="1"/>
          <p:nvPr/>
        </p:nvSpPr>
        <p:spPr>
          <a:xfrm>
            <a:off x="12044361" y="42262524"/>
            <a:ext cx="28852813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sz="4400" b="1" i="0" dirty="0">
                <a:solidFill>
                  <a:srgbClr val="0F0F0F"/>
                </a:solidFill>
                <a:effectLst/>
                <a:latin typeface="ui-sans-serif"/>
              </a:rPr>
              <a:t>Distinct </a:t>
            </a:r>
            <a:r>
              <a:rPr lang="en-US" sz="4400" i="0" dirty="0">
                <a:solidFill>
                  <a:srgbClr val="0F0F0F"/>
                </a:solidFill>
                <a:effectLst/>
                <a:latin typeface="ui-sans-serif"/>
              </a:rPr>
              <a:t>Chemotypes for Selectivity: The recurrent anchors clearly separate the two selective classes. Class 1 (delta) is driven by cyano-pyrimidine </a:t>
            </a:r>
            <a:r>
              <a:rPr lang="en-US" sz="4400" b="1" i="0" dirty="0">
                <a:solidFill>
                  <a:srgbClr val="0F0F0F"/>
                </a:solidFill>
                <a:effectLst/>
                <a:latin typeface="ui-sans-serif"/>
              </a:rPr>
              <a:t>hinge binders</a:t>
            </a:r>
            <a:r>
              <a:rPr lang="en-US" sz="4400" i="0" dirty="0">
                <a:solidFill>
                  <a:srgbClr val="0F0F0F"/>
                </a:solidFill>
                <a:effectLst/>
                <a:latin typeface="ui-sans-serif"/>
              </a:rPr>
              <a:t>, while Class 2 (gamma) is driven by </a:t>
            </a:r>
            <a:r>
              <a:rPr lang="en-US" sz="4400" i="0" dirty="0" err="1">
                <a:solidFill>
                  <a:srgbClr val="0F0F0F"/>
                </a:solidFill>
                <a:effectLst/>
                <a:latin typeface="ui-sans-serif"/>
              </a:rPr>
              <a:t>isoquinoline</a:t>
            </a:r>
            <a:r>
              <a:rPr lang="en-US" sz="4400" i="0" dirty="0">
                <a:solidFill>
                  <a:srgbClr val="0F0F0F"/>
                </a:solidFill>
                <a:effectLst/>
                <a:latin typeface="ui-sans-serif"/>
              </a:rPr>
              <a:t>/</a:t>
            </a:r>
            <a:r>
              <a:rPr lang="en-US" sz="4400" i="0" dirty="0" err="1">
                <a:solidFill>
                  <a:srgbClr val="0F0F0F"/>
                </a:solidFill>
                <a:effectLst/>
                <a:latin typeface="ui-sans-serif"/>
              </a:rPr>
              <a:t>dihydroisoquinolinone</a:t>
            </a:r>
            <a:r>
              <a:rPr lang="en-US" sz="4400" i="0" dirty="0">
                <a:solidFill>
                  <a:srgbClr val="0F0F0F"/>
                </a:solidFill>
                <a:effectLst/>
                <a:latin typeface="ui-sans-serif"/>
              </a:rPr>
              <a:t> scaffolds. This </a:t>
            </a:r>
            <a:r>
              <a:rPr lang="en-US" sz="4400" b="1" i="0" dirty="0">
                <a:solidFill>
                  <a:srgbClr val="0F0F0F"/>
                </a:solidFill>
                <a:effectLst/>
                <a:latin typeface="ui-sans-serif"/>
              </a:rPr>
              <a:t>aligns with known structure-activity relationships (SAR) in PI3K inhibitor design.</a:t>
            </a:r>
          </a:p>
          <a:p>
            <a:endParaRPr lang="en-US" sz="4400" i="0" dirty="0">
              <a:solidFill>
                <a:srgbClr val="0F0F0F"/>
              </a:solidFill>
              <a:effectLst/>
              <a:latin typeface="ui-sans-serif"/>
            </a:endParaRPr>
          </a:p>
          <a:p>
            <a:pPr marL="228600" indent="-228600">
              <a:buFont typeface="+mj-lt"/>
              <a:buAutoNum type="arabicPeriod" startAt="2"/>
            </a:pPr>
            <a:r>
              <a:rPr lang="en-US" sz="4400" b="1" i="0" dirty="0">
                <a:solidFill>
                  <a:srgbClr val="0F0F0F"/>
                </a:solidFill>
                <a:effectLst/>
                <a:latin typeface="ui-sans-serif"/>
              </a:rPr>
              <a:t>Hinge Region Mimicry</a:t>
            </a:r>
            <a:r>
              <a:rPr lang="en-US" sz="4400" i="0" dirty="0">
                <a:solidFill>
                  <a:srgbClr val="0F0F0F"/>
                </a:solidFill>
                <a:effectLst/>
                <a:latin typeface="ui-sans-serif"/>
              </a:rPr>
              <a:t>: The high anchor occurrence of cyano-pyrimidines in Class 1 confirms the model has learned the </a:t>
            </a:r>
            <a:r>
              <a:rPr lang="en-US" sz="4400" b="1" i="0" dirty="0">
                <a:solidFill>
                  <a:srgbClr val="0F0F0F"/>
                </a:solidFill>
                <a:effectLst/>
                <a:latin typeface="ui-sans-serif"/>
              </a:rPr>
              <a:t>canonical hydrogen-bonding motif</a:t>
            </a:r>
            <a:r>
              <a:rPr lang="en-US" sz="4400" i="0" dirty="0">
                <a:solidFill>
                  <a:srgbClr val="0F0F0F"/>
                </a:solidFill>
                <a:effectLst/>
                <a:latin typeface="ui-sans-serif"/>
              </a:rPr>
              <a:t> required for PI3K catalytic domain binding.</a:t>
            </a:r>
          </a:p>
          <a:p>
            <a:endParaRPr lang="en-US" sz="4400" i="0" dirty="0">
              <a:solidFill>
                <a:srgbClr val="0F0F0F"/>
              </a:solidFill>
              <a:effectLst/>
              <a:latin typeface="ui-sans-serif"/>
            </a:endParaRPr>
          </a:p>
          <a:p>
            <a:pPr marL="228600" indent="-228600">
              <a:buFont typeface="+mj-lt"/>
              <a:buAutoNum type="arabicPeriod" startAt="3"/>
            </a:pPr>
            <a:r>
              <a:rPr lang="en-US" sz="4400" b="1" i="0" dirty="0">
                <a:solidFill>
                  <a:srgbClr val="0F0F0F"/>
                </a:solidFill>
                <a:effectLst/>
                <a:latin typeface="ui-sans-serif"/>
              </a:rPr>
              <a:t>Scaffold-Driven Selectivity: </a:t>
            </a:r>
            <a:r>
              <a:rPr lang="en-US" sz="4400" i="0" dirty="0">
                <a:solidFill>
                  <a:srgbClr val="0F0F0F"/>
                </a:solidFill>
                <a:effectLst/>
                <a:latin typeface="ui-sans-serif"/>
              </a:rPr>
              <a:t>The dominance of bicyclic nitrogenous cores (</a:t>
            </a:r>
            <a:r>
              <a:rPr lang="en-US" sz="4400" i="0" dirty="0" err="1">
                <a:solidFill>
                  <a:srgbClr val="0F0F0F"/>
                </a:solidFill>
                <a:effectLst/>
                <a:latin typeface="ui-sans-serif"/>
              </a:rPr>
              <a:t>isoquinolines</a:t>
            </a:r>
            <a:r>
              <a:rPr lang="en-US" sz="4400" i="0" dirty="0">
                <a:solidFill>
                  <a:srgbClr val="0F0F0F"/>
                </a:solidFill>
                <a:effectLst/>
                <a:latin typeface="ui-sans-serif"/>
              </a:rPr>
              <a:t>) in Class 2 suggests that PI3K-gamma selectivity is </a:t>
            </a:r>
            <a:r>
              <a:rPr lang="en-US" sz="4400" b="1" i="0" dirty="0">
                <a:solidFill>
                  <a:srgbClr val="0F0F0F"/>
                </a:solidFill>
                <a:effectLst/>
                <a:latin typeface="ui-sans-serif"/>
              </a:rPr>
              <a:t>heavily scaffold-dependent</a:t>
            </a:r>
            <a:r>
              <a:rPr lang="en-US" sz="4400" i="0" dirty="0">
                <a:solidFill>
                  <a:srgbClr val="0F0F0F"/>
                </a:solidFill>
                <a:effectLst/>
                <a:latin typeface="ui-sans-serif"/>
              </a:rPr>
              <a:t>, likely due to subtle differences in the </a:t>
            </a:r>
            <a:r>
              <a:rPr lang="en-US" sz="4400" b="1" i="0" dirty="0">
                <a:solidFill>
                  <a:srgbClr val="0F0F0F"/>
                </a:solidFill>
                <a:effectLst/>
                <a:latin typeface="ui-sans-serif"/>
              </a:rPr>
              <a:t>gatekeeper residue </a:t>
            </a:r>
            <a:r>
              <a:rPr lang="en-US" sz="4400" i="0" dirty="0">
                <a:solidFill>
                  <a:srgbClr val="0F0F0F"/>
                </a:solidFill>
                <a:effectLst/>
                <a:latin typeface="ui-sans-serif"/>
              </a:rPr>
              <a:t>or </a:t>
            </a:r>
            <a:r>
              <a:rPr lang="en-US" sz="4400" b="1" i="0" dirty="0">
                <a:solidFill>
                  <a:srgbClr val="0F0F0F"/>
                </a:solidFill>
                <a:effectLst/>
                <a:latin typeface="ui-sans-serif"/>
              </a:rPr>
              <a:t>allosteric pocket topology </a:t>
            </a:r>
            <a:r>
              <a:rPr lang="en-US" sz="4400" i="0" dirty="0">
                <a:solidFill>
                  <a:srgbClr val="0F0F0F"/>
                </a:solidFill>
                <a:effectLst/>
                <a:latin typeface="ui-sans-serif"/>
              </a:rPr>
              <a:t>compared to PI3K-delta.</a:t>
            </a:r>
            <a:endParaRPr lang="en-US" sz="44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F75911C-6BD0-922D-B821-7CE96BED0CA3}"/>
              </a:ext>
            </a:extLst>
          </p:cNvPr>
          <p:cNvSpPr txBox="1"/>
          <p:nvPr/>
        </p:nvSpPr>
        <p:spPr>
          <a:xfrm>
            <a:off x="17784949" y="40889572"/>
            <a:ext cx="171573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rgbClr val="0F0F0F"/>
                </a:solidFill>
                <a:latin typeface="ui-sans-serif"/>
              </a:rPr>
              <a:t>Chemical insights &amp; discussion</a:t>
            </a:r>
            <a:endParaRPr lang="en-US" sz="5400" b="1" i="0" dirty="0">
              <a:solidFill>
                <a:srgbClr val="0F0F0F"/>
              </a:solidFill>
              <a:effectLst/>
              <a:latin typeface="ui-sans-serif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72807964-5BD9-B45A-64B0-2645DF88EB3B}"/>
              </a:ext>
            </a:extLst>
          </p:cNvPr>
          <p:cNvSpPr/>
          <p:nvPr/>
        </p:nvSpPr>
        <p:spPr>
          <a:xfrm>
            <a:off x="12044361" y="49996814"/>
            <a:ext cx="2414589" cy="576217"/>
          </a:xfrm>
          <a:prstGeom prst="rect">
            <a:avLst/>
          </a:prstGeom>
          <a:solidFill>
            <a:srgbClr val="A6CA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ACA069E-8CED-5E8A-69B1-E9F4FC24041A}"/>
              </a:ext>
            </a:extLst>
          </p:cNvPr>
          <p:cNvSpPr txBox="1"/>
          <p:nvPr/>
        </p:nvSpPr>
        <p:spPr>
          <a:xfrm>
            <a:off x="13691175" y="49777091"/>
            <a:ext cx="61995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User prompt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83E7B6A-0D88-EE7A-862D-CD52DE210854}"/>
              </a:ext>
            </a:extLst>
          </p:cNvPr>
          <p:cNvSpPr/>
          <p:nvPr/>
        </p:nvSpPr>
        <p:spPr>
          <a:xfrm>
            <a:off x="19563794" y="49996814"/>
            <a:ext cx="2414589" cy="5762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58AE044-1305-34FC-BBC0-450EF8C6264C}"/>
              </a:ext>
            </a:extLst>
          </p:cNvPr>
          <p:cNvSpPr txBox="1"/>
          <p:nvPr/>
        </p:nvSpPr>
        <p:spPr>
          <a:xfrm>
            <a:off x="21704779" y="49777091"/>
            <a:ext cx="82185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 err="1"/>
              <a:t>ChemicHAL</a:t>
            </a:r>
            <a:r>
              <a:rPr lang="en-US" sz="6000" dirty="0"/>
              <a:t> response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50C722C-59C7-EC1B-EC99-E1777E1494CE}"/>
              </a:ext>
            </a:extLst>
          </p:cNvPr>
          <p:cNvSpPr/>
          <p:nvPr/>
        </p:nvSpPr>
        <p:spPr>
          <a:xfrm>
            <a:off x="29883577" y="49996814"/>
            <a:ext cx="2414589" cy="576217"/>
          </a:xfrm>
          <a:prstGeom prst="rect">
            <a:avLst/>
          </a:prstGeom>
          <a:solidFill>
            <a:srgbClr val="B4E5A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4FCF701-8B21-25B2-2AE4-BF962FF75654}"/>
              </a:ext>
            </a:extLst>
          </p:cNvPr>
          <p:cNvSpPr txBox="1"/>
          <p:nvPr/>
        </p:nvSpPr>
        <p:spPr>
          <a:xfrm>
            <a:off x="32541055" y="49777091"/>
            <a:ext cx="82185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 err="1"/>
              <a:t>ChemicHAL</a:t>
            </a:r>
            <a:r>
              <a:rPr lang="en-US" sz="6000" dirty="0"/>
              <a:t> discussion</a:t>
            </a:r>
          </a:p>
        </p:txBody>
      </p:sp>
    </p:spTree>
    <p:extLst>
      <p:ext uri="{BB962C8B-B14F-4D97-AF65-F5344CB8AC3E}">
        <p14:creationId xmlns:p14="http://schemas.microsoft.com/office/powerpoint/2010/main" val="2350157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 descr="Tools with solid fill">
            <a:extLst>
              <a:ext uri="{FF2B5EF4-FFF2-40B4-BE49-F238E27FC236}">
                <a16:creationId xmlns:a16="http://schemas.microsoft.com/office/drawing/2014/main" id="{92D0C0C2-A6A2-3FAB-626E-69F6C32225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950453" y="1078277"/>
            <a:ext cx="3155389" cy="3155389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BF4675B-24DA-ECE6-C51C-65069789A359}"/>
              </a:ext>
            </a:extLst>
          </p:cNvPr>
          <p:cNvSpPr/>
          <p:nvPr/>
        </p:nvSpPr>
        <p:spPr>
          <a:xfrm>
            <a:off x="28524808" y="4828544"/>
            <a:ext cx="12006681" cy="817245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600" dirty="0">
                <a:solidFill>
                  <a:schemeClr val="tx1"/>
                </a:solidFill>
              </a:rPr>
              <a:t>Find dataset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600" dirty="0">
                <a:solidFill>
                  <a:schemeClr val="tx1"/>
                </a:solidFill>
              </a:rPr>
              <a:t>Load dataset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600" dirty="0">
                <a:solidFill>
                  <a:schemeClr val="tx1"/>
                </a:solidFill>
              </a:rPr>
              <a:t>Compute features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600" dirty="0">
                <a:solidFill>
                  <a:schemeClr val="tx1"/>
                </a:solidFill>
              </a:rPr>
              <a:t>Split dataset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600" dirty="0">
                <a:solidFill>
                  <a:schemeClr val="tx1"/>
                </a:solidFill>
              </a:rPr>
              <a:t>Train model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600" dirty="0">
                <a:solidFill>
                  <a:schemeClr val="tx1"/>
                </a:solidFill>
              </a:rPr>
              <a:t>Plot classification results</a:t>
            </a:r>
          </a:p>
          <a:p>
            <a:pPr algn="ctr"/>
            <a:endParaRPr lang="en-US" dirty="0"/>
          </a:p>
        </p:txBody>
      </p: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586B1B68-9835-8617-AB39-A668D6F7FF64}"/>
              </a:ext>
            </a:extLst>
          </p:cNvPr>
          <p:cNvSpPr/>
          <p:nvPr/>
        </p:nvSpPr>
        <p:spPr>
          <a:xfrm>
            <a:off x="1078892" y="3228975"/>
            <a:ext cx="23667058" cy="11316962"/>
          </a:xfrm>
          <a:prstGeom prst="wedgeRoundRectCallou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You are running a reproducibility study for compound selectivity prediction. The goal is to train a Balanced Random Forest Classifier to distinguish PI3K-delta (</a:t>
            </a:r>
            <a:r>
              <a:rPr kumimoji="0" lang="en-US" sz="7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UniProt</a:t>
            </a: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O00329) vs PI3K-gamma (</a:t>
            </a:r>
            <a:r>
              <a:rPr kumimoji="0" lang="en-US" sz="7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UniProt</a:t>
            </a: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 P48736) selective compounds, evaluate its performance, and identify recurrent molecular anchor fragments that drive the model's correct predictions for each selective class (class 1 &amp; 2) and discuss the chemical insight gained.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C8250D2-72DC-7FB8-4802-642FDE1816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6194" y="15972794"/>
            <a:ext cx="8089606" cy="10510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500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2179</Words>
  <Application>Microsoft Office PowerPoint</Application>
  <PresentationFormat>Custom</PresentationFormat>
  <Paragraphs>231</Paragraphs>
  <Slides>6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Alec Lamens</dc:creator>
  <cp:lastModifiedBy>Alec Lamens</cp:lastModifiedBy>
  <cp:revision>23</cp:revision>
  <cp:lastPrinted>2026-05-05T07:49:20Z</cp:lastPrinted>
  <dcterms:created xsi:type="dcterms:W3CDTF">2026-05-04T13:41:34Z</dcterms:created>
  <dcterms:modified xsi:type="dcterms:W3CDTF">2026-05-18T13:51:54Z</dcterms:modified>
</cp:coreProperties>
</file>