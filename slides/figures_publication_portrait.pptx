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7_3B29D0D4.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60" r:id="rId2"/>
    <p:sldId id="264" r:id="rId3"/>
    <p:sldId id="262" r:id="rId4"/>
    <p:sldId id="263" r:id="rId5"/>
    <p:sldId id="261" r:id="rId6"/>
    <p:sldId id="259" r:id="rId7"/>
    <p:sldId id="256" r:id="rId8"/>
    <p:sldId id="258" r:id="rId9"/>
    <p:sldId id="257" r:id="rId10"/>
  </p:sldIdLst>
  <p:sldSz cx="51206400" cy="51206400"/>
  <p:notesSz cx="6799263" cy="99298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7F0A02B-DB40-739F-1AF0-60F3482E4FEE}" name="Andrea Mastropietro" initials="AM" userId="fa0ef2cf5e723ca2"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a:srgbClr val="FFFFFF"/>
    <a:srgbClr val="B4E5A2"/>
    <a:srgbClr val="A6CA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80" autoAdjust="0"/>
    <p:restoredTop sz="96723" autoAdjust="0"/>
  </p:normalViewPr>
  <p:slideViewPr>
    <p:cSldViewPr snapToGrid="0">
      <p:cViewPr>
        <p:scale>
          <a:sx n="30" d="100"/>
          <a:sy n="30" d="100"/>
        </p:scale>
        <p:origin x="0" y="-24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8/10/relationships/authors" Target="author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omments/modernComment_107_3B29D0D4.xml><?xml version="1.0" encoding="utf-8"?>
<p188:cmLst xmlns:a="http://schemas.openxmlformats.org/drawingml/2006/main" xmlns:r="http://schemas.openxmlformats.org/officeDocument/2006/relationships" xmlns:p188="http://schemas.microsoft.com/office/powerpoint/2018/8/main">
  <p188:cm id="{5066163D-011F-4B49-BC29-FE114401C618}" authorId="{17F0A02B-DB40-739F-1AF0-60F3482E4FEE}" created="2026-06-04T09:56:54.076">
    <ac:deMkLst xmlns:ac="http://schemas.microsoft.com/office/drawing/2013/main/command">
      <pc:docMk xmlns:pc="http://schemas.microsoft.com/office/powerpoint/2013/main/command"/>
      <pc:sldMk xmlns:pc="http://schemas.microsoft.com/office/powerpoint/2013/main/command" cId="992596180" sldId="263"/>
      <ac:spMk id="14" creationId="{7E2204B4-3CAB-B64F-B1B6-FF85B7944E02}"/>
    </ac:deMkLst>
    <p188:txBody>
      <a:bodyPr/>
      <a:lstStyle/>
      <a:p>
        <a:r>
          <a:rPr lang="en-US"/>
          <a:t>Check the calls on LM Studio</a:t>
        </a:r>
      </a:p>
    </p188:txBody>
  </p188:cm>
  <p188:cm id="{E4367BCB-9A05-4695-88E5-BF9084064E7F}" authorId="{17F0A02B-DB40-739F-1AF0-60F3482E4FEE}" created="2026-06-04T10:38:03.469">
    <ac:deMkLst xmlns:ac="http://schemas.microsoft.com/office/drawing/2013/main/command">
      <pc:docMk xmlns:pc="http://schemas.microsoft.com/office/powerpoint/2013/main/command"/>
      <pc:sldMk xmlns:pc="http://schemas.microsoft.com/office/powerpoint/2013/main/command" cId="992596180" sldId="263"/>
      <ac:picMk id="24" creationId="{3FF8A2E5-55C8-9DBB-654A-0F5D4F4597B8}"/>
    </ac:deMkLst>
    <p188:txBody>
      <a:bodyPr/>
      <a:lstStyle/>
      <a:p>
        <a:r>
          <a:rPr lang="en-US"/>
          <a:t>Take  high res fig on LM studio</a:t>
        </a:r>
      </a:p>
    </p188:txBody>
  </p188:cm>
  <p188:cm id="{C20F0285-4B80-4D99-A6D6-09E9C1FE9658}" authorId="{17F0A02B-DB40-739F-1AF0-60F3482E4FEE}" created="2026-06-04T10:59:41.234">
    <ac:deMkLst xmlns:ac="http://schemas.microsoft.com/office/drawing/2013/main/command">
      <pc:docMk xmlns:pc="http://schemas.microsoft.com/office/powerpoint/2013/main/command"/>
      <pc:sldMk xmlns:pc="http://schemas.microsoft.com/office/powerpoint/2013/main/command" cId="992596180" sldId="263"/>
      <ac:spMk id="42" creationId="{6FBE7F73-CA36-D770-57B8-7155D016E50D}"/>
    </ac:deMkLst>
    <p188:txBody>
      <a:bodyPr/>
      <a:lstStyle/>
      <a:p>
        <a:r>
          <a:rPr lang="en-US"/>
          <a:t>Add reprompt part and new conclusion. aGent focues on diffeence becausedd asked, and ignores similariteis even if those are there.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840480" y="8380311"/>
            <a:ext cx="43525440" cy="17827413"/>
          </a:xfrm>
        </p:spPr>
        <p:txBody>
          <a:bodyPr anchor="b"/>
          <a:lstStyle>
            <a:lvl1pPr algn="ctr">
              <a:defRPr sz="33600"/>
            </a:lvl1pPr>
          </a:lstStyle>
          <a:p>
            <a:r>
              <a:rPr lang="en-US"/>
              <a:t>Click to edit Master title style</a:t>
            </a:r>
            <a:endParaRPr lang="en-US" dirty="0"/>
          </a:p>
        </p:txBody>
      </p:sp>
      <p:sp>
        <p:nvSpPr>
          <p:cNvPr id="3" name="Subtitle 2"/>
          <p:cNvSpPr>
            <a:spLocks noGrp="1"/>
          </p:cNvSpPr>
          <p:nvPr>
            <p:ph type="subTitle" idx="1"/>
          </p:nvPr>
        </p:nvSpPr>
        <p:spPr>
          <a:xfrm>
            <a:off x="6400800" y="26895217"/>
            <a:ext cx="38404800" cy="12363023"/>
          </a:xfrm>
        </p:spPr>
        <p:txBody>
          <a:bodyPr/>
          <a:lstStyle>
            <a:lvl1pPr marL="0" indent="0" algn="ctr">
              <a:buNone/>
              <a:defRPr sz="13440"/>
            </a:lvl1pPr>
            <a:lvl2pPr marL="2560320" indent="0" algn="ctr">
              <a:buNone/>
              <a:defRPr sz="11200"/>
            </a:lvl2pPr>
            <a:lvl3pPr marL="5120640" indent="0" algn="ctr">
              <a:buNone/>
              <a:defRPr sz="10080"/>
            </a:lvl3pPr>
            <a:lvl4pPr marL="7680960" indent="0" algn="ctr">
              <a:buNone/>
              <a:defRPr sz="8960"/>
            </a:lvl4pPr>
            <a:lvl5pPr marL="10241280" indent="0" algn="ctr">
              <a:buNone/>
              <a:defRPr sz="8960"/>
            </a:lvl5pPr>
            <a:lvl6pPr marL="12801600" indent="0" algn="ctr">
              <a:buNone/>
              <a:defRPr sz="8960"/>
            </a:lvl6pPr>
            <a:lvl7pPr marL="15361920" indent="0" algn="ctr">
              <a:buNone/>
              <a:defRPr sz="8960"/>
            </a:lvl7pPr>
            <a:lvl8pPr marL="17922240" indent="0" algn="ctr">
              <a:buNone/>
              <a:defRPr sz="8960"/>
            </a:lvl8pPr>
            <a:lvl9pPr marL="20482560" indent="0" algn="ctr">
              <a:buNone/>
              <a:defRPr sz="896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BEC7EBC-4893-4C67-8E48-D69CA1600258}"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392BB52-6FE4-4B8A-9506-6D19CB7B124D}" type="slidenum">
              <a:rPr lang="en-US" smtClean="0"/>
              <a:t>‹#›</a:t>
            </a:fld>
            <a:endParaRPr lang="en-US"/>
          </a:p>
        </p:txBody>
      </p:sp>
    </p:spTree>
    <p:extLst>
      <p:ext uri="{BB962C8B-B14F-4D97-AF65-F5344CB8AC3E}">
        <p14:creationId xmlns:p14="http://schemas.microsoft.com/office/powerpoint/2010/main" val="4031135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BEC7EBC-4893-4C67-8E48-D69CA1600258}"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392BB52-6FE4-4B8A-9506-6D19CB7B124D}" type="slidenum">
              <a:rPr lang="en-US" smtClean="0"/>
              <a:t>‹#›</a:t>
            </a:fld>
            <a:endParaRPr lang="en-US"/>
          </a:p>
        </p:txBody>
      </p:sp>
    </p:spTree>
    <p:extLst>
      <p:ext uri="{BB962C8B-B14F-4D97-AF65-F5344CB8AC3E}">
        <p14:creationId xmlns:p14="http://schemas.microsoft.com/office/powerpoint/2010/main" val="5590788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493773" y="12766055"/>
            <a:ext cx="44165520" cy="21300436"/>
          </a:xfrm>
        </p:spPr>
        <p:txBody>
          <a:bodyPr anchor="b"/>
          <a:lstStyle>
            <a:lvl1pPr>
              <a:defRPr sz="33600"/>
            </a:lvl1pPr>
          </a:lstStyle>
          <a:p>
            <a:r>
              <a:rPr lang="en-US"/>
              <a:t>Click to edit Master title style</a:t>
            </a:r>
            <a:endParaRPr lang="en-US" dirty="0"/>
          </a:p>
        </p:txBody>
      </p:sp>
      <p:sp>
        <p:nvSpPr>
          <p:cNvPr id="3" name="Text Placeholder 2"/>
          <p:cNvSpPr>
            <a:spLocks noGrp="1"/>
          </p:cNvSpPr>
          <p:nvPr>
            <p:ph type="body" idx="1"/>
          </p:nvPr>
        </p:nvSpPr>
        <p:spPr>
          <a:xfrm>
            <a:off x="3493773" y="34268002"/>
            <a:ext cx="44165520" cy="11201396"/>
          </a:xfrm>
        </p:spPr>
        <p:txBody>
          <a:bodyPr/>
          <a:lstStyle>
            <a:lvl1pPr marL="0" indent="0">
              <a:buNone/>
              <a:defRPr sz="13440">
                <a:solidFill>
                  <a:schemeClr val="tx1">
                    <a:tint val="82000"/>
                  </a:schemeClr>
                </a:solidFill>
              </a:defRPr>
            </a:lvl1pPr>
            <a:lvl2pPr marL="2560320" indent="0">
              <a:buNone/>
              <a:defRPr sz="11200">
                <a:solidFill>
                  <a:schemeClr val="tx1">
                    <a:tint val="82000"/>
                  </a:schemeClr>
                </a:solidFill>
              </a:defRPr>
            </a:lvl2pPr>
            <a:lvl3pPr marL="5120640" indent="0">
              <a:buNone/>
              <a:defRPr sz="10080">
                <a:solidFill>
                  <a:schemeClr val="tx1">
                    <a:tint val="82000"/>
                  </a:schemeClr>
                </a:solidFill>
              </a:defRPr>
            </a:lvl3pPr>
            <a:lvl4pPr marL="7680960" indent="0">
              <a:buNone/>
              <a:defRPr sz="8960">
                <a:solidFill>
                  <a:schemeClr val="tx1">
                    <a:tint val="82000"/>
                  </a:schemeClr>
                </a:solidFill>
              </a:defRPr>
            </a:lvl4pPr>
            <a:lvl5pPr marL="10241280" indent="0">
              <a:buNone/>
              <a:defRPr sz="8960">
                <a:solidFill>
                  <a:schemeClr val="tx1">
                    <a:tint val="82000"/>
                  </a:schemeClr>
                </a:solidFill>
              </a:defRPr>
            </a:lvl5pPr>
            <a:lvl6pPr marL="12801600" indent="0">
              <a:buNone/>
              <a:defRPr sz="8960">
                <a:solidFill>
                  <a:schemeClr val="tx1">
                    <a:tint val="82000"/>
                  </a:schemeClr>
                </a:solidFill>
              </a:defRPr>
            </a:lvl6pPr>
            <a:lvl7pPr marL="15361920" indent="0">
              <a:buNone/>
              <a:defRPr sz="8960">
                <a:solidFill>
                  <a:schemeClr val="tx1">
                    <a:tint val="82000"/>
                  </a:schemeClr>
                </a:solidFill>
              </a:defRPr>
            </a:lvl7pPr>
            <a:lvl8pPr marL="17922240" indent="0">
              <a:buNone/>
              <a:defRPr sz="8960">
                <a:solidFill>
                  <a:schemeClr val="tx1">
                    <a:tint val="82000"/>
                  </a:schemeClr>
                </a:solidFill>
              </a:defRPr>
            </a:lvl8pPr>
            <a:lvl9pPr marL="20482560" indent="0">
              <a:buNone/>
              <a:defRPr sz="896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BEC7EBC-4893-4C67-8E48-D69CA1600258}"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392BB52-6FE4-4B8A-9506-6D19CB7B124D}" type="slidenum">
              <a:rPr lang="en-US" smtClean="0"/>
              <a:t>‹#›</a:t>
            </a:fld>
            <a:endParaRPr lang="en-US"/>
          </a:p>
        </p:txBody>
      </p:sp>
    </p:spTree>
    <p:extLst>
      <p:ext uri="{BB962C8B-B14F-4D97-AF65-F5344CB8AC3E}">
        <p14:creationId xmlns:p14="http://schemas.microsoft.com/office/powerpoint/2010/main" val="34019021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3520440" y="13631334"/>
            <a:ext cx="21762720" cy="3248999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25923240" y="13631334"/>
            <a:ext cx="21762720" cy="3248999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BEC7EBC-4893-4C67-8E48-D69CA1600258}" type="datetimeFigureOut">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392BB52-6FE4-4B8A-9506-6D19CB7B124D}" type="slidenum">
              <a:rPr lang="en-US" smtClean="0"/>
              <a:t>‹#›</a:t>
            </a:fld>
            <a:endParaRPr lang="en-US"/>
          </a:p>
        </p:txBody>
      </p:sp>
    </p:spTree>
    <p:extLst>
      <p:ext uri="{BB962C8B-B14F-4D97-AF65-F5344CB8AC3E}">
        <p14:creationId xmlns:p14="http://schemas.microsoft.com/office/powerpoint/2010/main" val="42161887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527110" y="2726278"/>
            <a:ext cx="44165520" cy="9897537"/>
          </a:xfrm>
        </p:spPr>
        <p:txBody>
          <a:bodyPr/>
          <a:lstStyle/>
          <a:p>
            <a:r>
              <a:rPr lang="en-US"/>
              <a:t>Click to edit Master title style</a:t>
            </a:r>
            <a:endParaRPr lang="en-US" dirty="0"/>
          </a:p>
        </p:txBody>
      </p:sp>
      <p:sp>
        <p:nvSpPr>
          <p:cNvPr id="3" name="Text Placeholder 2"/>
          <p:cNvSpPr>
            <a:spLocks noGrp="1"/>
          </p:cNvSpPr>
          <p:nvPr>
            <p:ph type="body" idx="1"/>
          </p:nvPr>
        </p:nvSpPr>
        <p:spPr>
          <a:xfrm>
            <a:off x="3527115" y="12552684"/>
            <a:ext cx="21662704" cy="6151876"/>
          </a:xfrm>
        </p:spPr>
        <p:txBody>
          <a:bodyPr anchor="b"/>
          <a:lstStyle>
            <a:lvl1pPr marL="0" indent="0">
              <a:buNone/>
              <a:defRPr sz="13440" b="1"/>
            </a:lvl1pPr>
            <a:lvl2pPr marL="2560320" indent="0">
              <a:buNone/>
              <a:defRPr sz="11200" b="1"/>
            </a:lvl2pPr>
            <a:lvl3pPr marL="5120640" indent="0">
              <a:buNone/>
              <a:defRPr sz="10080" b="1"/>
            </a:lvl3pPr>
            <a:lvl4pPr marL="7680960" indent="0">
              <a:buNone/>
              <a:defRPr sz="8960" b="1"/>
            </a:lvl4pPr>
            <a:lvl5pPr marL="10241280" indent="0">
              <a:buNone/>
              <a:defRPr sz="8960" b="1"/>
            </a:lvl5pPr>
            <a:lvl6pPr marL="12801600" indent="0">
              <a:buNone/>
              <a:defRPr sz="8960" b="1"/>
            </a:lvl6pPr>
            <a:lvl7pPr marL="15361920" indent="0">
              <a:buNone/>
              <a:defRPr sz="8960" b="1"/>
            </a:lvl7pPr>
            <a:lvl8pPr marL="17922240" indent="0">
              <a:buNone/>
              <a:defRPr sz="8960" b="1"/>
            </a:lvl8pPr>
            <a:lvl9pPr marL="20482560" indent="0">
              <a:buNone/>
              <a:defRPr sz="8960" b="1"/>
            </a:lvl9pPr>
          </a:lstStyle>
          <a:p>
            <a:pPr lvl="0"/>
            <a:r>
              <a:rPr lang="en-US"/>
              <a:t>Click to edit Master text styles</a:t>
            </a:r>
          </a:p>
        </p:txBody>
      </p:sp>
      <p:sp>
        <p:nvSpPr>
          <p:cNvPr id="4" name="Content Placeholder 3"/>
          <p:cNvSpPr>
            <a:spLocks noGrp="1"/>
          </p:cNvSpPr>
          <p:nvPr>
            <p:ph sz="half" idx="2"/>
          </p:nvPr>
        </p:nvSpPr>
        <p:spPr>
          <a:xfrm>
            <a:off x="3527115" y="18704560"/>
            <a:ext cx="21662704" cy="2751159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25923243" y="12552684"/>
            <a:ext cx="21769390" cy="6151876"/>
          </a:xfrm>
        </p:spPr>
        <p:txBody>
          <a:bodyPr anchor="b"/>
          <a:lstStyle>
            <a:lvl1pPr marL="0" indent="0">
              <a:buNone/>
              <a:defRPr sz="13440" b="1"/>
            </a:lvl1pPr>
            <a:lvl2pPr marL="2560320" indent="0">
              <a:buNone/>
              <a:defRPr sz="11200" b="1"/>
            </a:lvl2pPr>
            <a:lvl3pPr marL="5120640" indent="0">
              <a:buNone/>
              <a:defRPr sz="10080" b="1"/>
            </a:lvl3pPr>
            <a:lvl4pPr marL="7680960" indent="0">
              <a:buNone/>
              <a:defRPr sz="8960" b="1"/>
            </a:lvl4pPr>
            <a:lvl5pPr marL="10241280" indent="0">
              <a:buNone/>
              <a:defRPr sz="8960" b="1"/>
            </a:lvl5pPr>
            <a:lvl6pPr marL="12801600" indent="0">
              <a:buNone/>
              <a:defRPr sz="8960" b="1"/>
            </a:lvl6pPr>
            <a:lvl7pPr marL="15361920" indent="0">
              <a:buNone/>
              <a:defRPr sz="8960" b="1"/>
            </a:lvl7pPr>
            <a:lvl8pPr marL="17922240" indent="0">
              <a:buNone/>
              <a:defRPr sz="8960" b="1"/>
            </a:lvl8pPr>
            <a:lvl9pPr marL="20482560" indent="0">
              <a:buNone/>
              <a:defRPr sz="8960" b="1"/>
            </a:lvl9pPr>
          </a:lstStyle>
          <a:p>
            <a:pPr lvl="0"/>
            <a:r>
              <a:rPr lang="en-US"/>
              <a:t>Click to edit Master text styles</a:t>
            </a:r>
          </a:p>
        </p:txBody>
      </p:sp>
      <p:sp>
        <p:nvSpPr>
          <p:cNvPr id="6" name="Content Placeholder 5"/>
          <p:cNvSpPr>
            <a:spLocks noGrp="1"/>
          </p:cNvSpPr>
          <p:nvPr>
            <p:ph sz="quarter" idx="4"/>
          </p:nvPr>
        </p:nvSpPr>
        <p:spPr>
          <a:xfrm>
            <a:off x="25923243" y="18704560"/>
            <a:ext cx="21769390" cy="2751159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BEC7EBC-4893-4C67-8E48-D69CA1600258}" type="datetimeFigureOut">
              <a:rPr lang="en-US" smtClean="0"/>
              <a:t>6/9/2026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392BB52-6FE4-4B8A-9506-6D19CB7B124D}" type="slidenum">
              <a:rPr lang="en-US" smtClean="0"/>
              <a:t>‹#›</a:t>
            </a:fld>
            <a:endParaRPr lang="en-US"/>
          </a:p>
        </p:txBody>
      </p:sp>
    </p:spTree>
    <p:extLst>
      <p:ext uri="{BB962C8B-B14F-4D97-AF65-F5344CB8AC3E}">
        <p14:creationId xmlns:p14="http://schemas.microsoft.com/office/powerpoint/2010/main" val="29797501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BEC7EBC-4893-4C67-8E48-D69CA1600258}" type="datetimeFigureOut">
              <a:rPr lang="en-US" smtClean="0"/>
              <a:t>6/9/2026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392BB52-6FE4-4B8A-9506-6D19CB7B124D}" type="slidenum">
              <a:rPr lang="en-US" smtClean="0"/>
              <a:t>‹#›</a:t>
            </a:fld>
            <a:endParaRPr lang="en-US"/>
          </a:p>
        </p:txBody>
      </p:sp>
    </p:spTree>
    <p:extLst>
      <p:ext uri="{BB962C8B-B14F-4D97-AF65-F5344CB8AC3E}">
        <p14:creationId xmlns:p14="http://schemas.microsoft.com/office/powerpoint/2010/main" val="5375089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BEC7EBC-4893-4C67-8E48-D69CA1600258}" type="datetimeFigureOut">
              <a:rPr lang="en-US" smtClean="0"/>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392BB52-6FE4-4B8A-9506-6D19CB7B124D}" type="slidenum">
              <a:rPr lang="en-US" smtClean="0"/>
              <a:t>‹#›</a:t>
            </a:fld>
            <a:endParaRPr lang="en-US"/>
          </a:p>
        </p:txBody>
      </p:sp>
    </p:spTree>
    <p:extLst>
      <p:ext uri="{BB962C8B-B14F-4D97-AF65-F5344CB8AC3E}">
        <p14:creationId xmlns:p14="http://schemas.microsoft.com/office/powerpoint/2010/main" val="42597135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527110" y="3413760"/>
            <a:ext cx="16515397" cy="11948160"/>
          </a:xfrm>
        </p:spPr>
        <p:txBody>
          <a:bodyPr anchor="b"/>
          <a:lstStyle>
            <a:lvl1pPr>
              <a:defRPr sz="17920"/>
            </a:lvl1pPr>
          </a:lstStyle>
          <a:p>
            <a:r>
              <a:rPr lang="en-US"/>
              <a:t>Click to edit Master title style</a:t>
            </a:r>
            <a:endParaRPr lang="en-US" dirty="0"/>
          </a:p>
        </p:txBody>
      </p:sp>
      <p:sp>
        <p:nvSpPr>
          <p:cNvPr id="3" name="Content Placeholder 2"/>
          <p:cNvSpPr>
            <a:spLocks noGrp="1"/>
          </p:cNvSpPr>
          <p:nvPr>
            <p:ph idx="1"/>
          </p:nvPr>
        </p:nvSpPr>
        <p:spPr>
          <a:xfrm>
            <a:off x="21769390" y="7372785"/>
            <a:ext cx="25923240" cy="36389733"/>
          </a:xfrm>
        </p:spPr>
        <p:txBody>
          <a:bodyPr/>
          <a:lstStyle>
            <a:lvl1pPr>
              <a:defRPr sz="17920"/>
            </a:lvl1pPr>
            <a:lvl2pPr>
              <a:defRPr sz="15680"/>
            </a:lvl2pPr>
            <a:lvl3pPr>
              <a:defRPr sz="13440"/>
            </a:lvl3pPr>
            <a:lvl4pPr>
              <a:defRPr sz="11200"/>
            </a:lvl4pPr>
            <a:lvl5pPr>
              <a:defRPr sz="11200"/>
            </a:lvl5pPr>
            <a:lvl6pPr>
              <a:defRPr sz="11200"/>
            </a:lvl6pPr>
            <a:lvl7pPr>
              <a:defRPr sz="11200"/>
            </a:lvl7pPr>
            <a:lvl8pPr>
              <a:defRPr sz="11200"/>
            </a:lvl8pPr>
            <a:lvl9pPr>
              <a:defRPr sz="1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527110" y="15361920"/>
            <a:ext cx="16515397" cy="28459857"/>
          </a:xfrm>
        </p:spPr>
        <p:txBody>
          <a:bodyPr/>
          <a:lstStyle>
            <a:lvl1pPr marL="0" indent="0">
              <a:buNone/>
              <a:defRPr sz="8960"/>
            </a:lvl1pPr>
            <a:lvl2pPr marL="2560320" indent="0">
              <a:buNone/>
              <a:defRPr sz="7840"/>
            </a:lvl2pPr>
            <a:lvl3pPr marL="5120640" indent="0">
              <a:buNone/>
              <a:defRPr sz="6720"/>
            </a:lvl3pPr>
            <a:lvl4pPr marL="7680960" indent="0">
              <a:buNone/>
              <a:defRPr sz="5600"/>
            </a:lvl4pPr>
            <a:lvl5pPr marL="10241280" indent="0">
              <a:buNone/>
              <a:defRPr sz="5600"/>
            </a:lvl5pPr>
            <a:lvl6pPr marL="12801600" indent="0">
              <a:buNone/>
              <a:defRPr sz="5600"/>
            </a:lvl6pPr>
            <a:lvl7pPr marL="15361920" indent="0">
              <a:buNone/>
              <a:defRPr sz="5600"/>
            </a:lvl7pPr>
            <a:lvl8pPr marL="17922240" indent="0">
              <a:buNone/>
              <a:defRPr sz="5600"/>
            </a:lvl8pPr>
            <a:lvl9pPr marL="20482560" indent="0">
              <a:buNone/>
              <a:defRPr sz="5600"/>
            </a:lvl9pPr>
          </a:lstStyle>
          <a:p>
            <a:pPr lvl="0"/>
            <a:r>
              <a:rPr lang="en-US"/>
              <a:t>Click to edit Master text styles</a:t>
            </a:r>
          </a:p>
        </p:txBody>
      </p:sp>
      <p:sp>
        <p:nvSpPr>
          <p:cNvPr id="5" name="Date Placeholder 4"/>
          <p:cNvSpPr>
            <a:spLocks noGrp="1"/>
          </p:cNvSpPr>
          <p:nvPr>
            <p:ph type="dt" sz="half" idx="10"/>
          </p:nvPr>
        </p:nvSpPr>
        <p:spPr/>
        <p:txBody>
          <a:bodyPr/>
          <a:lstStyle/>
          <a:p>
            <a:fld id="{DBEC7EBC-4893-4C67-8E48-D69CA1600258}" type="datetimeFigureOut">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392BB52-6FE4-4B8A-9506-6D19CB7B124D}" type="slidenum">
              <a:rPr lang="en-US" smtClean="0"/>
              <a:t>‹#›</a:t>
            </a:fld>
            <a:endParaRPr lang="en-US"/>
          </a:p>
        </p:txBody>
      </p:sp>
    </p:spTree>
    <p:extLst>
      <p:ext uri="{BB962C8B-B14F-4D97-AF65-F5344CB8AC3E}">
        <p14:creationId xmlns:p14="http://schemas.microsoft.com/office/powerpoint/2010/main" val="32327774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527110" y="3413760"/>
            <a:ext cx="16515397" cy="11948160"/>
          </a:xfrm>
        </p:spPr>
        <p:txBody>
          <a:bodyPr anchor="b"/>
          <a:lstStyle>
            <a:lvl1pPr>
              <a:defRPr sz="17920"/>
            </a:lvl1pPr>
          </a:lstStyle>
          <a:p>
            <a:r>
              <a:rPr lang="en-US"/>
              <a:t>Click to edit Master title style</a:t>
            </a:r>
            <a:endParaRPr lang="en-US" dirty="0"/>
          </a:p>
        </p:txBody>
      </p:sp>
      <p:sp>
        <p:nvSpPr>
          <p:cNvPr id="3" name="Picture Placeholder 2"/>
          <p:cNvSpPr>
            <a:spLocks noGrp="1" noChangeAspect="1"/>
          </p:cNvSpPr>
          <p:nvPr>
            <p:ph type="pic" idx="1"/>
          </p:nvPr>
        </p:nvSpPr>
        <p:spPr>
          <a:xfrm>
            <a:off x="21769390" y="7372785"/>
            <a:ext cx="25923240" cy="36389733"/>
          </a:xfrm>
        </p:spPr>
        <p:txBody>
          <a:bodyPr anchor="t"/>
          <a:lstStyle>
            <a:lvl1pPr marL="0" indent="0">
              <a:buNone/>
              <a:defRPr sz="17920"/>
            </a:lvl1pPr>
            <a:lvl2pPr marL="2560320" indent="0">
              <a:buNone/>
              <a:defRPr sz="15680"/>
            </a:lvl2pPr>
            <a:lvl3pPr marL="5120640" indent="0">
              <a:buNone/>
              <a:defRPr sz="13440"/>
            </a:lvl3pPr>
            <a:lvl4pPr marL="7680960" indent="0">
              <a:buNone/>
              <a:defRPr sz="11200"/>
            </a:lvl4pPr>
            <a:lvl5pPr marL="10241280" indent="0">
              <a:buNone/>
              <a:defRPr sz="11200"/>
            </a:lvl5pPr>
            <a:lvl6pPr marL="12801600" indent="0">
              <a:buNone/>
              <a:defRPr sz="11200"/>
            </a:lvl6pPr>
            <a:lvl7pPr marL="15361920" indent="0">
              <a:buNone/>
              <a:defRPr sz="11200"/>
            </a:lvl7pPr>
            <a:lvl8pPr marL="17922240" indent="0">
              <a:buNone/>
              <a:defRPr sz="11200"/>
            </a:lvl8pPr>
            <a:lvl9pPr marL="20482560" indent="0">
              <a:buNone/>
              <a:defRPr sz="11200"/>
            </a:lvl9pPr>
          </a:lstStyle>
          <a:p>
            <a:r>
              <a:rPr lang="en-US"/>
              <a:t>Click icon to add picture</a:t>
            </a:r>
            <a:endParaRPr lang="en-US" dirty="0"/>
          </a:p>
        </p:txBody>
      </p:sp>
      <p:sp>
        <p:nvSpPr>
          <p:cNvPr id="4" name="Text Placeholder 3"/>
          <p:cNvSpPr>
            <a:spLocks noGrp="1"/>
          </p:cNvSpPr>
          <p:nvPr>
            <p:ph type="body" sz="half" idx="2"/>
          </p:nvPr>
        </p:nvSpPr>
        <p:spPr>
          <a:xfrm>
            <a:off x="3527110" y="15361920"/>
            <a:ext cx="16515397" cy="28459857"/>
          </a:xfrm>
        </p:spPr>
        <p:txBody>
          <a:bodyPr/>
          <a:lstStyle>
            <a:lvl1pPr marL="0" indent="0">
              <a:buNone/>
              <a:defRPr sz="8960"/>
            </a:lvl1pPr>
            <a:lvl2pPr marL="2560320" indent="0">
              <a:buNone/>
              <a:defRPr sz="7840"/>
            </a:lvl2pPr>
            <a:lvl3pPr marL="5120640" indent="0">
              <a:buNone/>
              <a:defRPr sz="6720"/>
            </a:lvl3pPr>
            <a:lvl4pPr marL="7680960" indent="0">
              <a:buNone/>
              <a:defRPr sz="5600"/>
            </a:lvl4pPr>
            <a:lvl5pPr marL="10241280" indent="0">
              <a:buNone/>
              <a:defRPr sz="5600"/>
            </a:lvl5pPr>
            <a:lvl6pPr marL="12801600" indent="0">
              <a:buNone/>
              <a:defRPr sz="5600"/>
            </a:lvl6pPr>
            <a:lvl7pPr marL="15361920" indent="0">
              <a:buNone/>
              <a:defRPr sz="5600"/>
            </a:lvl7pPr>
            <a:lvl8pPr marL="17922240" indent="0">
              <a:buNone/>
              <a:defRPr sz="5600"/>
            </a:lvl8pPr>
            <a:lvl9pPr marL="20482560" indent="0">
              <a:buNone/>
              <a:defRPr sz="5600"/>
            </a:lvl9pPr>
          </a:lstStyle>
          <a:p>
            <a:pPr lvl="0"/>
            <a:r>
              <a:rPr lang="en-US"/>
              <a:t>Click to edit Master text styles</a:t>
            </a:r>
          </a:p>
        </p:txBody>
      </p:sp>
      <p:sp>
        <p:nvSpPr>
          <p:cNvPr id="5" name="Date Placeholder 4"/>
          <p:cNvSpPr>
            <a:spLocks noGrp="1"/>
          </p:cNvSpPr>
          <p:nvPr>
            <p:ph type="dt" sz="half" idx="10"/>
          </p:nvPr>
        </p:nvSpPr>
        <p:spPr/>
        <p:txBody>
          <a:bodyPr/>
          <a:lstStyle/>
          <a:p>
            <a:fld id="{DBEC7EBC-4893-4C67-8E48-D69CA1600258}" type="datetimeFigureOut">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392BB52-6FE4-4B8A-9506-6D19CB7B124D}" type="slidenum">
              <a:rPr lang="en-US" smtClean="0"/>
              <a:t>‹#›</a:t>
            </a:fld>
            <a:endParaRPr lang="en-US"/>
          </a:p>
        </p:txBody>
      </p:sp>
    </p:spTree>
    <p:extLst>
      <p:ext uri="{BB962C8B-B14F-4D97-AF65-F5344CB8AC3E}">
        <p14:creationId xmlns:p14="http://schemas.microsoft.com/office/powerpoint/2010/main" val="23699934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BEC7EBC-4893-4C67-8E48-D69CA1600258}"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392BB52-6FE4-4B8A-9506-6D19CB7B124D}" type="slidenum">
              <a:rPr lang="en-US" smtClean="0"/>
              <a:t>‹#›</a:t>
            </a:fld>
            <a:endParaRPr lang="en-US"/>
          </a:p>
        </p:txBody>
      </p:sp>
    </p:spTree>
    <p:extLst>
      <p:ext uri="{BB962C8B-B14F-4D97-AF65-F5344CB8AC3E}">
        <p14:creationId xmlns:p14="http://schemas.microsoft.com/office/powerpoint/2010/main" val="15632305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6644583" y="2726267"/>
            <a:ext cx="11041380" cy="4339505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3520443" y="2726267"/>
            <a:ext cx="32484060" cy="4339505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BEC7EBC-4893-4C67-8E48-D69CA1600258}"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392BB52-6FE4-4B8A-9506-6D19CB7B124D}" type="slidenum">
              <a:rPr lang="en-US" smtClean="0"/>
              <a:t>‹#›</a:t>
            </a:fld>
            <a:endParaRPr lang="en-US"/>
          </a:p>
        </p:txBody>
      </p:sp>
    </p:spTree>
    <p:extLst>
      <p:ext uri="{BB962C8B-B14F-4D97-AF65-F5344CB8AC3E}">
        <p14:creationId xmlns:p14="http://schemas.microsoft.com/office/powerpoint/2010/main" val="29182216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520440" y="2726278"/>
            <a:ext cx="44165520" cy="989753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3520440" y="13631334"/>
            <a:ext cx="44165520" cy="3248999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3520440" y="47460758"/>
            <a:ext cx="11521440" cy="2726267"/>
          </a:xfrm>
          <a:prstGeom prst="rect">
            <a:avLst/>
          </a:prstGeom>
        </p:spPr>
        <p:txBody>
          <a:bodyPr vert="horz" lIns="91440" tIns="45720" rIns="91440" bIns="45720" rtlCol="0" anchor="ctr"/>
          <a:lstStyle>
            <a:lvl1pPr algn="l">
              <a:defRPr sz="6720">
                <a:solidFill>
                  <a:schemeClr val="tx1">
                    <a:tint val="82000"/>
                  </a:schemeClr>
                </a:solidFill>
              </a:defRPr>
            </a:lvl1pPr>
          </a:lstStyle>
          <a:p>
            <a:fld id="{DBEC7EBC-4893-4C67-8E48-D69CA1600258}" type="datetimeFigureOut">
              <a:rPr lang="en-US" smtClean="0"/>
              <a:t>6/9/2026</a:t>
            </a:fld>
            <a:endParaRPr lang="en-US"/>
          </a:p>
        </p:txBody>
      </p:sp>
      <p:sp>
        <p:nvSpPr>
          <p:cNvPr id="5" name="Footer Placeholder 4"/>
          <p:cNvSpPr>
            <a:spLocks noGrp="1"/>
          </p:cNvSpPr>
          <p:nvPr>
            <p:ph type="ftr" sz="quarter" idx="3"/>
          </p:nvPr>
        </p:nvSpPr>
        <p:spPr>
          <a:xfrm>
            <a:off x="16962120" y="47460758"/>
            <a:ext cx="17282160" cy="2726267"/>
          </a:xfrm>
          <a:prstGeom prst="rect">
            <a:avLst/>
          </a:prstGeom>
        </p:spPr>
        <p:txBody>
          <a:bodyPr vert="horz" lIns="91440" tIns="45720" rIns="91440" bIns="45720" rtlCol="0" anchor="ctr"/>
          <a:lstStyle>
            <a:lvl1pPr algn="ctr">
              <a:defRPr sz="672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36164520" y="47460758"/>
            <a:ext cx="11521440" cy="2726267"/>
          </a:xfrm>
          <a:prstGeom prst="rect">
            <a:avLst/>
          </a:prstGeom>
        </p:spPr>
        <p:txBody>
          <a:bodyPr vert="horz" lIns="91440" tIns="45720" rIns="91440" bIns="45720" rtlCol="0" anchor="ctr"/>
          <a:lstStyle>
            <a:lvl1pPr algn="r">
              <a:defRPr sz="6720">
                <a:solidFill>
                  <a:schemeClr val="tx1">
                    <a:tint val="82000"/>
                  </a:schemeClr>
                </a:solidFill>
              </a:defRPr>
            </a:lvl1pPr>
          </a:lstStyle>
          <a:p>
            <a:fld id="{1392BB52-6FE4-4B8A-9506-6D19CB7B124D}" type="slidenum">
              <a:rPr lang="en-US" smtClean="0"/>
              <a:t>‹#›</a:t>
            </a:fld>
            <a:endParaRPr lang="en-US"/>
          </a:p>
        </p:txBody>
      </p:sp>
    </p:spTree>
    <p:extLst>
      <p:ext uri="{BB962C8B-B14F-4D97-AF65-F5344CB8AC3E}">
        <p14:creationId xmlns:p14="http://schemas.microsoft.com/office/powerpoint/2010/main" val="143345339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5120640" rtl="0" eaLnBrk="1" latinLnBrk="0" hangingPunct="1">
        <a:lnSpc>
          <a:spcPct val="90000"/>
        </a:lnSpc>
        <a:spcBef>
          <a:spcPct val="0"/>
        </a:spcBef>
        <a:buNone/>
        <a:defRPr sz="24640" kern="1200">
          <a:solidFill>
            <a:schemeClr val="tx1"/>
          </a:solidFill>
          <a:latin typeface="+mj-lt"/>
          <a:ea typeface="+mj-ea"/>
          <a:cs typeface="+mj-cs"/>
        </a:defRPr>
      </a:lvl1pPr>
    </p:titleStyle>
    <p:bodyStyle>
      <a:lvl1pPr marL="1280160" indent="-1280160" algn="l" defTabSz="5120640" rtl="0" eaLnBrk="1" latinLnBrk="0" hangingPunct="1">
        <a:lnSpc>
          <a:spcPct val="90000"/>
        </a:lnSpc>
        <a:spcBef>
          <a:spcPts val="5600"/>
        </a:spcBef>
        <a:buFont typeface="Arial" panose="020B0604020202020204" pitchFamily="34" charset="0"/>
        <a:buChar char="•"/>
        <a:defRPr sz="15680" kern="1200">
          <a:solidFill>
            <a:schemeClr val="tx1"/>
          </a:solidFill>
          <a:latin typeface="+mn-lt"/>
          <a:ea typeface="+mn-ea"/>
          <a:cs typeface="+mn-cs"/>
        </a:defRPr>
      </a:lvl1pPr>
      <a:lvl2pPr marL="3840480" indent="-1280160" algn="l" defTabSz="5120640" rtl="0" eaLnBrk="1" latinLnBrk="0" hangingPunct="1">
        <a:lnSpc>
          <a:spcPct val="90000"/>
        </a:lnSpc>
        <a:spcBef>
          <a:spcPts val="2800"/>
        </a:spcBef>
        <a:buFont typeface="Arial" panose="020B0604020202020204" pitchFamily="34" charset="0"/>
        <a:buChar char="•"/>
        <a:defRPr sz="13440" kern="1200">
          <a:solidFill>
            <a:schemeClr val="tx1"/>
          </a:solidFill>
          <a:latin typeface="+mn-lt"/>
          <a:ea typeface="+mn-ea"/>
          <a:cs typeface="+mn-cs"/>
        </a:defRPr>
      </a:lvl2pPr>
      <a:lvl3pPr marL="6400800" indent="-1280160" algn="l" defTabSz="5120640" rtl="0" eaLnBrk="1" latinLnBrk="0" hangingPunct="1">
        <a:lnSpc>
          <a:spcPct val="90000"/>
        </a:lnSpc>
        <a:spcBef>
          <a:spcPts val="2800"/>
        </a:spcBef>
        <a:buFont typeface="Arial" panose="020B0604020202020204" pitchFamily="34" charset="0"/>
        <a:buChar char="•"/>
        <a:defRPr sz="11200" kern="1200">
          <a:solidFill>
            <a:schemeClr val="tx1"/>
          </a:solidFill>
          <a:latin typeface="+mn-lt"/>
          <a:ea typeface="+mn-ea"/>
          <a:cs typeface="+mn-cs"/>
        </a:defRPr>
      </a:lvl3pPr>
      <a:lvl4pPr marL="8961120" indent="-1280160" algn="l" defTabSz="5120640" rtl="0" eaLnBrk="1" latinLnBrk="0" hangingPunct="1">
        <a:lnSpc>
          <a:spcPct val="90000"/>
        </a:lnSpc>
        <a:spcBef>
          <a:spcPts val="2800"/>
        </a:spcBef>
        <a:buFont typeface="Arial" panose="020B0604020202020204" pitchFamily="34" charset="0"/>
        <a:buChar char="•"/>
        <a:defRPr sz="10080" kern="1200">
          <a:solidFill>
            <a:schemeClr val="tx1"/>
          </a:solidFill>
          <a:latin typeface="+mn-lt"/>
          <a:ea typeface="+mn-ea"/>
          <a:cs typeface="+mn-cs"/>
        </a:defRPr>
      </a:lvl4pPr>
      <a:lvl5pPr marL="11521440" indent="-1280160" algn="l" defTabSz="5120640" rtl="0" eaLnBrk="1" latinLnBrk="0" hangingPunct="1">
        <a:lnSpc>
          <a:spcPct val="90000"/>
        </a:lnSpc>
        <a:spcBef>
          <a:spcPts val="2800"/>
        </a:spcBef>
        <a:buFont typeface="Arial" panose="020B0604020202020204" pitchFamily="34" charset="0"/>
        <a:buChar char="•"/>
        <a:defRPr sz="10080" kern="1200">
          <a:solidFill>
            <a:schemeClr val="tx1"/>
          </a:solidFill>
          <a:latin typeface="+mn-lt"/>
          <a:ea typeface="+mn-ea"/>
          <a:cs typeface="+mn-cs"/>
        </a:defRPr>
      </a:lvl5pPr>
      <a:lvl6pPr marL="14081760" indent="-1280160" algn="l" defTabSz="5120640" rtl="0" eaLnBrk="1" latinLnBrk="0" hangingPunct="1">
        <a:lnSpc>
          <a:spcPct val="90000"/>
        </a:lnSpc>
        <a:spcBef>
          <a:spcPts val="2800"/>
        </a:spcBef>
        <a:buFont typeface="Arial" panose="020B0604020202020204" pitchFamily="34" charset="0"/>
        <a:buChar char="•"/>
        <a:defRPr sz="10080" kern="1200">
          <a:solidFill>
            <a:schemeClr val="tx1"/>
          </a:solidFill>
          <a:latin typeface="+mn-lt"/>
          <a:ea typeface="+mn-ea"/>
          <a:cs typeface="+mn-cs"/>
        </a:defRPr>
      </a:lvl6pPr>
      <a:lvl7pPr marL="16642080" indent="-1280160" algn="l" defTabSz="5120640" rtl="0" eaLnBrk="1" latinLnBrk="0" hangingPunct="1">
        <a:lnSpc>
          <a:spcPct val="90000"/>
        </a:lnSpc>
        <a:spcBef>
          <a:spcPts val="2800"/>
        </a:spcBef>
        <a:buFont typeface="Arial" panose="020B0604020202020204" pitchFamily="34" charset="0"/>
        <a:buChar char="•"/>
        <a:defRPr sz="10080" kern="1200">
          <a:solidFill>
            <a:schemeClr val="tx1"/>
          </a:solidFill>
          <a:latin typeface="+mn-lt"/>
          <a:ea typeface="+mn-ea"/>
          <a:cs typeface="+mn-cs"/>
        </a:defRPr>
      </a:lvl7pPr>
      <a:lvl8pPr marL="19202400" indent="-1280160" algn="l" defTabSz="5120640" rtl="0" eaLnBrk="1" latinLnBrk="0" hangingPunct="1">
        <a:lnSpc>
          <a:spcPct val="90000"/>
        </a:lnSpc>
        <a:spcBef>
          <a:spcPts val="2800"/>
        </a:spcBef>
        <a:buFont typeface="Arial" panose="020B0604020202020204" pitchFamily="34" charset="0"/>
        <a:buChar char="•"/>
        <a:defRPr sz="10080" kern="1200">
          <a:solidFill>
            <a:schemeClr val="tx1"/>
          </a:solidFill>
          <a:latin typeface="+mn-lt"/>
          <a:ea typeface="+mn-ea"/>
          <a:cs typeface="+mn-cs"/>
        </a:defRPr>
      </a:lvl8pPr>
      <a:lvl9pPr marL="21762720" indent="-1280160" algn="l" defTabSz="5120640" rtl="0" eaLnBrk="1" latinLnBrk="0" hangingPunct="1">
        <a:lnSpc>
          <a:spcPct val="90000"/>
        </a:lnSpc>
        <a:spcBef>
          <a:spcPts val="2800"/>
        </a:spcBef>
        <a:buFont typeface="Arial" panose="020B0604020202020204" pitchFamily="34" charset="0"/>
        <a:buChar char="•"/>
        <a:defRPr sz="10080" kern="1200">
          <a:solidFill>
            <a:schemeClr val="tx1"/>
          </a:solidFill>
          <a:latin typeface="+mn-lt"/>
          <a:ea typeface="+mn-ea"/>
          <a:cs typeface="+mn-cs"/>
        </a:defRPr>
      </a:lvl9pPr>
    </p:bodyStyle>
    <p:otherStyle>
      <a:defPPr>
        <a:defRPr lang="en-US"/>
      </a:defPPr>
      <a:lvl1pPr marL="0" algn="l" defTabSz="5120640" rtl="0" eaLnBrk="1" latinLnBrk="0" hangingPunct="1">
        <a:defRPr sz="10080" kern="1200">
          <a:solidFill>
            <a:schemeClr val="tx1"/>
          </a:solidFill>
          <a:latin typeface="+mn-lt"/>
          <a:ea typeface="+mn-ea"/>
          <a:cs typeface="+mn-cs"/>
        </a:defRPr>
      </a:lvl1pPr>
      <a:lvl2pPr marL="2560320" algn="l" defTabSz="5120640" rtl="0" eaLnBrk="1" latinLnBrk="0" hangingPunct="1">
        <a:defRPr sz="10080" kern="1200">
          <a:solidFill>
            <a:schemeClr val="tx1"/>
          </a:solidFill>
          <a:latin typeface="+mn-lt"/>
          <a:ea typeface="+mn-ea"/>
          <a:cs typeface="+mn-cs"/>
        </a:defRPr>
      </a:lvl2pPr>
      <a:lvl3pPr marL="5120640" algn="l" defTabSz="5120640" rtl="0" eaLnBrk="1" latinLnBrk="0" hangingPunct="1">
        <a:defRPr sz="10080" kern="1200">
          <a:solidFill>
            <a:schemeClr val="tx1"/>
          </a:solidFill>
          <a:latin typeface="+mn-lt"/>
          <a:ea typeface="+mn-ea"/>
          <a:cs typeface="+mn-cs"/>
        </a:defRPr>
      </a:lvl3pPr>
      <a:lvl4pPr marL="7680960" algn="l" defTabSz="5120640" rtl="0" eaLnBrk="1" latinLnBrk="0" hangingPunct="1">
        <a:defRPr sz="10080" kern="1200">
          <a:solidFill>
            <a:schemeClr val="tx1"/>
          </a:solidFill>
          <a:latin typeface="+mn-lt"/>
          <a:ea typeface="+mn-ea"/>
          <a:cs typeface="+mn-cs"/>
        </a:defRPr>
      </a:lvl4pPr>
      <a:lvl5pPr marL="10241280" algn="l" defTabSz="5120640" rtl="0" eaLnBrk="1" latinLnBrk="0" hangingPunct="1">
        <a:defRPr sz="10080" kern="1200">
          <a:solidFill>
            <a:schemeClr val="tx1"/>
          </a:solidFill>
          <a:latin typeface="+mn-lt"/>
          <a:ea typeface="+mn-ea"/>
          <a:cs typeface="+mn-cs"/>
        </a:defRPr>
      </a:lvl5pPr>
      <a:lvl6pPr marL="12801600" algn="l" defTabSz="5120640" rtl="0" eaLnBrk="1" latinLnBrk="0" hangingPunct="1">
        <a:defRPr sz="10080" kern="1200">
          <a:solidFill>
            <a:schemeClr val="tx1"/>
          </a:solidFill>
          <a:latin typeface="+mn-lt"/>
          <a:ea typeface="+mn-ea"/>
          <a:cs typeface="+mn-cs"/>
        </a:defRPr>
      </a:lvl6pPr>
      <a:lvl7pPr marL="15361920" algn="l" defTabSz="5120640" rtl="0" eaLnBrk="1" latinLnBrk="0" hangingPunct="1">
        <a:defRPr sz="10080" kern="1200">
          <a:solidFill>
            <a:schemeClr val="tx1"/>
          </a:solidFill>
          <a:latin typeface="+mn-lt"/>
          <a:ea typeface="+mn-ea"/>
          <a:cs typeface="+mn-cs"/>
        </a:defRPr>
      </a:lvl7pPr>
      <a:lvl8pPr marL="17922240" algn="l" defTabSz="5120640" rtl="0" eaLnBrk="1" latinLnBrk="0" hangingPunct="1">
        <a:defRPr sz="10080" kern="1200">
          <a:solidFill>
            <a:schemeClr val="tx1"/>
          </a:solidFill>
          <a:latin typeface="+mn-lt"/>
          <a:ea typeface="+mn-ea"/>
          <a:cs typeface="+mn-cs"/>
        </a:defRPr>
      </a:lvl8pPr>
      <a:lvl9pPr marL="20482560" algn="l" defTabSz="5120640" rtl="0" eaLnBrk="1" latinLnBrk="0" hangingPunct="1">
        <a:defRPr sz="1008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microsoft.com/office/2018/10/relationships/comments" Target="../comments/modernComment_107_3B29D0D4.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4.png"/><Relationship Id="rId7"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6" Type="http://schemas.openxmlformats.org/officeDocument/2006/relationships/image" Target="../media/image17.svg"/><Relationship Id="rId11" Type="http://schemas.openxmlformats.org/officeDocument/2006/relationships/image" Target="../media/image1.png"/><Relationship Id="rId5" Type="http://schemas.openxmlformats.org/officeDocument/2006/relationships/image" Target="../media/image16.png"/><Relationship Id="rId10" Type="http://schemas.openxmlformats.org/officeDocument/2006/relationships/image" Target="../media/image2.png"/><Relationship Id="rId4" Type="http://schemas.openxmlformats.org/officeDocument/2006/relationships/image" Target="../media/image15.svg"/><Relationship Id="rId9" Type="http://schemas.openxmlformats.org/officeDocument/2006/relationships/image" Target="../media/image19.sv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16.png"/><Relationship Id="rId1" Type="http://schemas.openxmlformats.org/officeDocument/2006/relationships/slideLayout" Target="../slideLayouts/slideLayout1.xml"/><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Rounded Corners 13">
            <a:extLst>
              <a:ext uri="{FF2B5EF4-FFF2-40B4-BE49-F238E27FC236}">
                <a16:creationId xmlns:a16="http://schemas.microsoft.com/office/drawing/2014/main" id="{DBF4675B-24DA-ECE6-C51C-65069789A359}"/>
              </a:ext>
            </a:extLst>
          </p:cNvPr>
          <p:cNvSpPr/>
          <p:nvPr/>
        </p:nvSpPr>
        <p:spPr>
          <a:xfrm>
            <a:off x="11697090" y="6072480"/>
            <a:ext cx="29944252" cy="5165792"/>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TextBox 52">
            <a:extLst>
              <a:ext uri="{FF2B5EF4-FFF2-40B4-BE49-F238E27FC236}">
                <a16:creationId xmlns:a16="http://schemas.microsoft.com/office/drawing/2014/main" id="{4D9CB3D1-7BFC-3386-B306-BDBBA5137ABA}"/>
              </a:ext>
            </a:extLst>
          </p:cNvPr>
          <p:cNvSpPr txBox="1"/>
          <p:nvPr/>
        </p:nvSpPr>
        <p:spPr>
          <a:xfrm>
            <a:off x="17784949" y="11558903"/>
            <a:ext cx="17157371" cy="1015663"/>
          </a:xfrm>
          <a:prstGeom prst="rect">
            <a:avLst/>
          </a:prstGeom>
          <a:noFill/>
        </p:spPr>
        <p:txBody>
          <a:bodyPr wrap="square">
            <a:spAutoFit/>
          </a:bodyPr>
          <a:lstStyle/>
          <a:p>
            <a:pPr algn="ctr"/>
            <a:r>
              <a:rPr lang="en-US" sz="6000" b="1" noProof="0" dirty="0">
                <a:solidFill>
                  <a:srgbClr val="0F0F0F"/>
                </a:solidFill>
                <a:latin typeface="ui-sans-serif"/>
              </a:rPr>
              <a:t>R</a:t>
            </a:r>
            <a:r>
              <a:rPr lang="en-US" sz="6000" b="1" i="0" noProof="0" dirty="0">
                <a:solidFill>
                  <a:srgbClr val="0F0F0F"/>
                </a:solidFill>
                <a:effectLst/>
                <a:latin typeface="ui-sans-serif"/>
              </a:rPr>
              <a:t>ecurrent Molecular Anchor Fragments (Class 1 &amp; 2)</a:t>
            </a:r>
          </a:p>
        </p:txBody>
      </p:sp>
      <p:grpSp>
        <p:nvGrpSpPr>
          <p:cNvPr id="11" name="Group 10">
            <a:extLst>
              <a:ext uri="{FF2B5EF4-FFF2-40B4-BE49-F238E27FC236}">
                <a16:creationId xmlns:a16="http://schemas.microsoft.com/office/drawing/2014/main" id="{BA0315A7-24C0-6048-1034-C950CB14E295}"/>
              </a:ext>
            </a:extLst>
          </p:cNvPr>
          <p:cNvGrpSpPr/>
          <p:nvPr/>
        </p:nvGrpSpPr>
        <p:grpSpPr>
          <a:xfrm>
            <a:off x="12580975" y="12673624"/>
            <a:ext cx="28834177" cy="13869038"/>
            <a:chOff x="12361832" y="12660924"/>
            <a:chExt cx="28834177" cy="13869038"/>
          </a:xfrm>
        </p:grpSpPr>
        <p:grpSp>
          <p:nvGrpSpPr>
            <p:cNvPr id="69" name="Group 68">
              <a:extLst>
                <a:ext uri="{FF2B5EF4-FFF2-40B4-BE49-F238E27FC236}">
                  <a16:creationId xmlns:a16="http://schemas.microsoft.com/office/drawing/2014/main" id="{7C07ED87-02E6-769C-8522-F7EA43967144}"/>
                </a:ext>
              </a:extLst>
            </p:cNvPr>
            <p:cNvGrpSpPr/>
            <p:nvPr/>
          </p:nvGrpSpPr>
          <p:grpSpPr>
            <a:xfrm>
              <a:off x="26264208" y="12660924"/>
              <a:ext cx="14931801" cy="13038041"/>
              <a:chOff x="26359115" y="32690065"/>
              <a:chExt cx="14931801" cy="13038041"/>
            </a:xfrm>
          </p:grpSpPr>
          <p:pic>
            <p:nvPicPr>
              <p:cNvPr id="59" name="Picture 58" descr="A red and black molecule&#10;&#10;AI-generated content may be incorrect.">
                <a:extLst>
                  <a:ext uri="{FF2B5EF4-FFF2-40B4-BE49-F238E27FC236}">
                    <a16:creationId xmlns:a16="http://schemas.microsoft.com/office/drawing/2014/main" id="{FF828C6A-DA1B-1C2D-DF20-B453CD4FBA2B}"/>
                  </a:ext>
                </a:extLst>
              </p:cNvPr>
              <p:cNvPicPr>
                <a:picLocks noChangeAspect="1"/>
              </p:cNvPicPr>
              <p:nvPr/>
            </p:nvPicPr>
            <p:blipFill>
              <a:blip r:embed="rId2">
                <a:extLst>
                  <a:ext uri="{28A0092B-C50C-407E-A947-70E740481C1C}">
                    <a14:useLocalDpi xmlns:a14="http://schemas.microsoft.com/office/drawing/2010/main" val="0"/>
                  </a:ext>
                </a:extLst>
              </a:blip>
              <a:srcRect t="9899" r="60477" b="34643"/>
              <a:stretch/>
            </p:blipFill>
            <p:spPr>
              <a:xfrm>
                <a:off x="26359115" y="33792056"/>
                <a:ext cx="14931801" cy="3841221"/>
              </a:xfrm>
              <a:prstGeom prst="rect">
                <a:avLst/>
              </a:prstGeom>
            </p:spPr>
          </p:pic>
          <p:grpSp>
            <p:nvGrpSpPr>
              <p:cNvPr id="56" name="Group 55">
                <a:extLst>
                  <a:ext uri="{FF2B5EF4-FFF2-40B4-BE49-F238E27FC236}">
                    <a16:creationId xmlns:a16="http://schemas.microsoft.com/office/drawing/2014/main" id="{3328C6AB-5D2D-21F5-D316-19C43126EF72}"/>
                  </a:ext>
                </a:extLst>
              </p:cNvPr>
              <p:cNvGrpSpPr/>
              <p:nvPr/>
            </p:nvGrpSpPr>
            <p:grpSpPr>
              <a:xfrm>
                <a:off x="27034042" y="37966659"/>
                <a:ext cx="13556206" cy="1200329"/>
                <a:chOff x="27117566" y="37966659"/>
                <a:chExt cx="13556206" cy="1200329"/>
              </a:xfrm>
            </p:grpSpPr>
            <p:sp>
              <p:nvSpPr>
                <p:cNvPr id="61" name="TextBox 60">
                  <a:extLst>
                    <a:ext uri="{FF2B5EF4-FFF2-40B4-BE49-F238E27FC236}">
                      <a16:creationId xmlns:a16="http://schemas.microsoft.com/office/drawing/2014/main" id="{A7D21A72-9214-4047-1740-F895FF59E1E6}"/>
                    </a:ext>
                  </a:extLst>
                </p:cNvPr>
                <p:cNvSpPr txBox="1"/>
                <p:nvPr/>
              </p:nvSpPr>
              <p:spPr>
                <a:xfrm>
                  <a:off x="27117566" y="37966659"/>
                  <a:ext cx="6070544" cy="1200329"/>
                </a:xfrm>
                <a:prstGeom prst="rect">
                  <a:avLst/>
                </a:prstGeom>
                <a:noFill/>
              </p:spPr>
              <p:txBody>
                <a:bodyPr wrap="square" rtlCol="0">
                  <a:spAutoFit/>
                </a:bodyPr>
                <a:lstStyle/>
                <a:p>
                  <a:pPr algn="ctr"/>
                  <a:r>
                    <a:rPr lang="en-US" sz="3600" b="1" noProof="0" dirty="0">
                      <a:solidFill>
                        <a:srgbClr val="0F0F0F"/>
                      </a:solidFill>
                      <a:latin typeface="ui-sans-serif"/>
                    </a:rPr>
                    <a:t>Anchor occurrence: 0.36</a:t>
                  </a:r>
                </a:p>
                <a:p>
                  <a:pPr algn="ctr"/>
                  <a:r>
                    <a:rPr lang="en-US" sz="3600" b="1" noProof="0" dirty="0">
                      <a:solidFill>
                        <a:srgbClr val="0F0F0F"/>
                      </a:solidFill>
                      <a:latin typeface="ui-sans-serif"/>
                    </a:rPr>
                    <a:t>Substructure occurrence: 0.82</a:t>
                  </a:r>
                  <a:endParaRPr lang="en-US" sz="3600" noProof="0" dirty="0"/>
                </a:p>
              </p:txBody>
            </p:sp>
            <p:sp>
              <p:nvSpPr>
                <p:cNvPr id="62" name="TextBox 61">
                  <a:extLst>
                    <a:ext uri="{FF2B5EF4-FFF2-40B4-BE49-F238E27FC236}">
                      <a16:creationId xmlns:a16="http://schemas.microsoft.com/office/drawing/2014/main" id="{9062DABE-6143-0CF6-47EE-82DED9712869}"/>
                    </a:ext>
                  </a:extLst>
                </p:cNvPr>
                <p:cNvSpPr txBox="1"/>
                <p:nvPr/>
              </p:nvSpPr>
              <p:spPr>
                <a:xfrm>
                  <a:off x="34610749" y="37966659"/>
                  <a:ext cx="6063023" cy="1200329"/>
                </a:xfrm>
                <a:prstGeom prst="rect">
                  <a:avLst/>
                </a:prstGeom>
                <a:noFill/>
              </p:spPr>
              <p:txBody>
                <a:bodyPr wrap="square" rtlCol="0">
                  <a:spAutoFit/>
                </a:bodyPr>
                <a:lstStyle/>
                <a:p>
                  <a:pPr algn="ctr"/>
                  <a:r>
                    <a:rPr lang="en-US" sz="3600" b="1" noProof="0" dirty="0">
                      <a:solidFill>
                        <a:srgbClr val="0F0F0F"/>
                      </a:solidFill>
                      <a:latin typeface="ui-sans-serif"/>
                    </a:rPr>
                    <a:t>Anchor occurrence: 0.18</a:t>
                  </a:r>
                </a:p>
                <a:p>
                  <a:pPr algn="ctr"/>
                  <a:r>
                    <a:rPr lang="en-US" sz="3600" b="1" noProof="0" dirty="0">
                      <a:solidFill>
                        <a:srgbClr val="0F0F0F"/>
                      </a:solidFill>
                      <a:latin typeface="ui-sans-serif"/>
                    </a:rPr>
                    <a:t>Substructure occurrence: 0.36</a:t>
                  </a:r>
                  <a:endParaRPr lang="en-US" sz="3600" noProof="0" dirty="0"/>
                </a:p>
              </p:txBody>
            </p:sp>
          </p:grpSp>
          <p:sp>
            <p:nvSpPr>
              <p:cNvPr id="64" name="TextBox 63">
                <a:extLst>
                  <a:ext uri="{FF2B5EF4-FFF2-40B4-BE49-F238E27FC236}">
                    <a16:creationId xmlns:a16="http://schemas.microsoft.com/office/drawing/2014/main" id="{375CDCAE-E997-6AB6-EE31-7EEA0E2E635E}"/>
                  </a:ext>
                </a:extLst>
              </p:cNvPr>
              <p:cNvSpPr txBox="1"/>
              <p:nvPr/>
            </p:nvSpPr>
            <p:spPr>
              <a:xfrm>
                <a:off x="30026714" y="32690065"/>
                <a:ext cx="6310257" cy="923330"/>
              </a:xfrm>
              <a:prstGeom prst="rect">
                <a:avLst/>
              </a:prstGeom>
              <a:noFill/>
            </p:spPr>
            <p:txBody>
              <a:bodyPr wrap="square" rtlCol="0">
                <a:spAutoFit/>
              </a:bodyPr>
              <a:lstStyle/>
              <a:p>
                <a:pPr algn="ctr"/>
                <a:r>
                  <a:rPr lang="en-US" sz="5400" b="1" noProof="0" dirty="0"/>
                  <a:t>Class </a:t>
                </a:r>
                <a:r>
                  <a:rPr lang="en-US" sz="5400" b="1" i="0" noProof="0" dirty="0">
                    <a:solidFill>
                      <a:srgbClr val="0F0F0F"/>
                    </a:solidFill>
                    <a:effectLst/>
                    <a:latin typeface="ui-sans-serif"/>
                  </a:rPr>
                  <a:t>PI3K-gamma</a:t>
                </a:r>
                <a:endParaRPr lang="en-US" sz="5400" b="1" noProof="0" dirty="0"/>
              </a:p>
            </p:txBody>
          </p:sp>
          <p:sp>
            <p:nvSpPr>
              <p:cNvPr id="65" name="TextBox 64">
                <a:extLst>
                  <a:ext uri="{FF2B5EF4-FFF2-40B4-BE49-F238E27FC236}">
                    <a16:creationId xmlns:a16="http://schemas.microsoft.com/office/drawing/2014/main" id="{F275191B-4583-8146-851D-EA0FC0A427D2}"/>
                  </a:ext>
                </a:extLst>
              </p:cNvPr>
              <p:cNvSpPr txBox="1"/>
              <p:nvPr/>
            </p:nvSpPr>
            <p:spPr>
              <a:xfrm>
                <a:off x="27158231" y="39664908"/>
                <a:ext cx="13745013" cy="6063198"/>
              </a:xfrm>
              <a:prstGeom prst="rect">
                <a:avLst/>
              </a:prstGeom>
              <a:noFill/>
            </p:spPr>
            <p:txBody>
              <a:bodyPr wrap="square" rtlCol="0">
                <a:spAutoFit/>
              </a:bodyPr>
              <a:lstStyle/>
              <a:p>
                <a:pPr marL="228600" indent="-228600">
                  <a:spcAft>
                    <a:spcPts val="1200"/>
                  </a:spcAft>
                  <a:buFont typeface="+mj-lt"/>
                  <a:buAutoNum type="arabicPeriod"/>
                </a:pPr>
                <a:r>
                  <a:rPr lang="en-US" sz="5400" b="1" noProof="0" dirty="0"/>
                  <a:t> </a:t>
                </a:r>
                <a:r>
                  <a:rPr lang="en-US" sz="5400" noProof="0" dirty="0"/>
                  <a:t>Occurs in </a:t>
                </a:r>
                <a:r>
                  <a:rPr lang="en-US" sz="5400" b="1" noProof="0" dirty="0"/>
                  <a:t>36.4% </a:t>
                </a:r>
                <a:r>
                  <a:rPr lang="en-US" sz="5400" noProof="0" dirty="0"/>
                  <a:t>of anchors. A </a:t>
                </a:r>
                <a:r>
                  <a:rPr lang="en-US" sz="5400" b="1" noProof="0" dirty="0"/>
                  <a:t>substituted </a:t>
                </a:r>
                <a:r>
                  <a:rPr lang="en-US" sz="5400" b="1" noProof="0" dirty="0" err="1"/>
                  <a:t>isoquinoline</a:t>
                </a:r>
                <a:r>
                  <a:rPr lang="en-US" sz="5400" b="1" noProof="0" dirty="0"/>
                  <a:t>/pyrazolo-pyridine core</a:t>
                </a:r>
                <a:r>
                  <a:rPr lang="en-US" sz="5400" noProof="0" dirty="0"/>
                  <a:t>, highly characteristic of PI3K-gamma selective inhibitors.</a:t>
                </a:r>
              </a:p>
              <a:p>
                <a:pPr marL="228600" indent="-228600">
                  <a:spcAft>
                    <a:spcPts val="1200"/>
                  </a:spcAft>
                  <a:buFont typeface="+mj-lt"/>
                  <a:buAutoNum type="arabicPeriod"/>
                </a:pPr>
                <a:r>
                  <a:rPr lang="en-US" sz="5400" b="1" noProof="0" dirty="0"/>
                  <a:t> </a:t>
                </a:r>
                <a:r>
                  <a:rPr lang="en-US" sz="5400" b="1" noProof="0" dirty="0" err="1"/>
                  <a:t>Dihydroisoquinolinone</a:t>
                </a:r>
                <a:r>
                  <a:rPr lang="en-US" sz="5400" b="1" noProof="0" dirty="0"/>
                  <a:t> derivatives</a:t>
                </a:r>
                <a:r>
                  <a:rPr lang="en-US" sz="5400" noProof="0" dirty="0"/>
                  <a:t>, frequently appearing in gamma-selective chemotypes.</a:t>
                </a:r>
              </a:p>
            </p:txBody>
          </p:sp>
        </p:grpSp>
        <p:grpSp>
          <p:nvGrpSpPr>
            <p:cNvPr id="71" name="Group 70">
              <a:extLst>
                <a:ext uri="{FF2B5EF4-FFF2-40B4-BE49-F238E27FC236}">
                  <a16:creationId xmlns:a16="http://schemas.microsoft.com/office/drawing/2014/main" id="{B566DC8D-A751-746E-78CA-6C8E8122C95C}"/>
                </a:ext>
              </a:extLst>
            </p:cNvPr>
            <p:cNvGrpSpPr/>
            <p:nvPr/>
          </p:nvGrpSpPr>
          <p:grpSpPr>
            <a:xfrm>
              <a:off x="12361832" y="12660924"/>
              <a:ext cx="13741418" cy="13869038"/>
              <a:chOff x="12456739" y="32690065"/>
              <a:chExt cx="13741418" cy="13869038"/>
            </a:xfrm>
          </p:grpSpPr>
          <p:pic>
            <p:nvPicPr>
              <p:cNvPr id="57" name="Picture 56" descr="A black and red hexagons&#10;&#10;AI-generated content may be incorrect.">
                <a:extLst>
                  <a:ext uri="{FF2B5EF4-FFF2-40B4-BE49-F238E27FC236}">
                    <a16:creationId xmlns:a16="http://schemas.microsoft.com/office/drawing/2014/main" id="{D31C6E93-8769-C043-E3E6-35F8E48F9A7F}"/>
                  </a:ext>
                </a:extLst>
              </p:cNvPr>
              <p:cNvPicPr>
                <a:picLocks noChangeAspect="1"/>
              </p:cNvPicPr>
              <p:nvPr/>
            </p:nvPicPr>
            <p:blipFill>
              <a:blip r:embed="rId3">
                <a:extLst>
                  <a:ext uri="{28A0092B-C50C-407E-A947-70E740481C1C}">
                    <a14:useLocalDpi xmlns:a14="http://schemas.microsoft.com/office/drawing/2010/main" val="0"/>
                  </a:ext>
                </a:extLst>
              </a:blip>
              <a:srcRect r="60622" b="25829"/>
              <a:stretch/>
            </p:blipFill>
            <p:spPr>
              <a:xfrm>
                <a:off x="12627136" y="33436279"/>
                <a:ext cx="12711297" cy="4389514"/>
              </a:xfrm>
              <a:prstGeom prst="rect">
                <a:avLst/>
              </a:prstGeom>
            </p:spPr>
          </p:pic>
          <p:grpSp>
            <p:nvGrpSpPr>
              <p:cNvPr id="68" name="Group 67">
                <a:extLst>
                  <a:ext uri="{FF2B5EF4-FFF2-40B4-BE49-F238E27FC236}">
                    <a16:creationId xmlns:a16="http://schemas.microsoft.com/office/drawing/2014/main" id="{3B152157-9CC7-F546-D5E7-974890FB190C}"/>
                  </a:ext>
                </a:extLst>
              </p:cNvPr>
              <p:cNvGrpSpPr/>
              <p:nvPr/>
            </p:nvGrpSpPr>
            <p:grpSpPr>
              <a:xfrm>
                <a:off x="12902018" y="37966659"/>
                <a:ext cx="12665014" cy="1200329"/>
                <a:chOff x="12894443" y="37966659"/>
                <a:chExt cx="12665014" cy="1200329"/>
              </a:xfrm>
            </p:grpSpPr>
            <p:sp>
              <p:nvSpPr>
                <p:cNvPr id="58" name="TextBox 57">
                  <a:extLst>
                    <a:ext uri="{FF2B5EF4-FFF2-40B4-BE49-F238E27FC236}">
                      <a16:creationId xmlns:a16="http://schemas.microsoft.com/office/drawing/2014/main" id="{8572CEAB-6935-A767-5441-EE39B0CFE9A6}"/>
                    </a:ext>
                  </a:extLst>
                </p:cNvPr>
                <p:cNvSpPr txBox="1"/>
                <p:nvPr/>
              </p:nvSpPr>
              <p:spPr>
                <a:xfrm>
                  <a:off x="12894443" y="37966659"/>
                  <a:ext cx="6174425" cy="1200329"/>
                </a:xfrm>
                <a:prstGeom prst="rect">
                  <a:avLst/>
                </a:prstGeom>
                <a:noFill/>
              </p:spPr>
              <p:txBody>
                <a:bodyPr wrap="square" rtlCol="0">
                  <a:spAutoFit/>
                </a:bodyPr>
                <a:lstStyle/>
                <a:p>
                  <a:pPr algn="ctr"/>
                  <a:r>
                    <a:rPr lang="en-US" sz="3600" b="1" noProof="0" dirty="0">
                      <a:solidFill>
                        <a:srgbClr val="0F0F0F"/>
                      </a:solidFill>
                      <a:latin typeface="ui-sans-serif"/>
                    </a:rPr>
                    <a:t>Anchor occurrence: 0.26</a:t>
                  </a:r>
                </a:p>
                <a:p>
                  <a:pPr algn="ctr"/>
                  <a:r>
                    <a:rPr lang="en-US" sz="3600" b="1" noProof="0" dirty="0">
                      <a:solidFill>
                        <a:srgbClr val="0F0F0F"/>
                      </a:solidFill>
                      <a:latin typeface="ui-sans-serif"/>
                    </a:rPr>
                    <a:t>Substructure occurrence: 0.26</a:t>
                  </a:r>
                  <a:endParaRPr lang="en-US" sz="3600" noProof="0" dirty="0"/>
                </a:p>
              </p:txBody>
            </p:sp>
            <p:sp>
              <p:nvSpPr>
                <p:cNvPr id="60" name="TextBox 59">
                  <a:extLst>
                    <a:ext uri="{FF2B5EF4-FFF2-40B4-BE49-F238E27FC236}">
                      <a16:creationId xmlns:a16="http://schemas.microsoft.com/office/drawing/2014/main" id="{CB3D1D01-6B66-4EBF-BA63-15E4A614E261}"/>
                    </a:ext>
                  </a:extLst>
                </p:cNvPr>
                <p:cNvSpPr txBox="1"/>
                <p:nvPr/>
              </p:nvSpPr>
              <p:spPr>
                <a:xfrm>
                  <a:off x="19340890" y="37966659"/>
                  <a:ext cx="6218567" cy="1200329"/>
                </a:xfrm>
                <a:prstGeom prst="rect">
                  <a:avLst/>
                </a:prstGeom>
                <a:noFill/>
              </p:spPr>
              <p:txBody>
                <a:bodyPr wrap="square" rtlCol="0">
                  <a:spAutoFit/>
                </a:bodyPr>
                <a:lstStyle/>
                <a:p>
                  <a:pPr algn="ctr"/>
                  <a:r>
                    <a:rPr lang="en-US" sz="3600" b="1" noProof="0" dirty="0">
                      <a:solidFill>
                        <a:srgbClr val="0F0F0F"/>
                      </a:solidFill>
                      <a:latin typeface="ui-sans-serif"/>
                    </a:rPr>
                    <a:t>Anchor occurrence: 0.25</a:t>
                  </a:r>
                </a:p>
                <a:p>
                  <a:pPr algn="ctr"/>
                  <a:r>
                    <a:rPr lang="en-US" sz="3600" b="1" noProof="0" dirty="0">
                      <a:solidFill>
                        <a:srgbClr val="0F0F0F"/>
                      </a:solidFill>
                      <a:latin typeface="ui-sans-serif"/>
                    </a:rPr>
                    <a:t>Substructure occurrence: 0.25</a:t>
                  </a:r>
                  <a:endParaRPr lang="en-US" sz="3600" noProof="0" dirty="0"/>
                </a:p>
              </p:txBody>
            </p:sp>
          </p:grpSp>
          <p:sp>
            <p:nvSpPr>
              <p:cNvPr id="63" name="TextBox 62">
                <a:extLst>
                  <a:ext uri="{FF2B5EF4-FFF2-40B4-BE49-F238E27FC236}">
                    <a16:creationId xmlns:a16="http://schemas.microsoft.com/office/drawing/2014/main" id="{6A5C72D7-D885-252B-9D5B-8FCC3218E83B}"/>
                  </a:ext>
                </a:extLst>
              </p:cNvPr>
              <p:cNvSpPr txBox="1"/>
              <p:nvPr/>
            </p:nvSpPr>
            <p:spPr>
              <a:xfrm>
                <a:off x="15521521" y="32690065"/>
                <a:ext cx="6603459" cy="923330"/>
              </a:xfrm>
              <a:prstGeom prst="rect">
                <a:avLst/>
              </a:prstGeom>
              <a:noFill/>
            </p:spPr>
            <p:txBody>
              <a:bodyPr wrap="square" rtlCol="0">
                <a:spAutoFit/>
              </a:bodyPr>
              <a:lstStyle/>
              <a:p>
                <a:pPr algn="ctr"/>
                <a:r>
                  <a:rPr lang="en-US" sz="5400" b="1" noProof="0" dirty="0"/>
                  <a:t>Class </a:t>
                </a:r>
                <a:r>
                  <a:rPr lang="en-US" sz="5400" b="1" i="0" noProof="0" dirty="0">
                    <a:solidFill>
                      <a:srgbClr val="0F0F0F"/>
                    </a:solidFill>
                    <a:effectLst/>
                    <a:latin typeface="ui-sans-serif"/>
                  </a:rPr>
                  <a:t>PI3K-delta</a:t>
                </a:r>
                <a:endParaRPr lang="en-US" sz="5400" b="1" noProof="0" dirty="0"/>
              </a:p>
            </p:txBody>
          </p:sp>
          <p:sp>
            <p:nvSpPr>
              <p:cNvPr id="66" name="TextBox 65">
                <a:extLst>
                  <a:ext uri="{FF2B5EF4-FFF2-40B4-BE49-F238E27FC236}">
                    <a16:creationId xmlns:a16="http://schemas.microsoft.com/office/drawing/2014/main" id="{07CA5145-B7E2-1C7C-76AD-CFE78D36AE62}"/>
                  </a:ext>
                </a:extLst>
              </p:cNvPr>
              <p:cNvSpPr txBox="1"/>
              <p:nvPr/>
            </p:nvSpPr>
            <p:spPr>
              <a:xfrm>
                <a:off x="12456739" y="39664908"/>
                <a:ext cx="13741418" cy="6894195"/>
              </a:xfrm>
              <a:prstGeom prst="rect">
                <a:avLst/>
              </a:prstGeom>
              <a:noFill/>
            </p:spPr>
            <p:txBody>
              <a:bodyPr wrap="square" rtlCol="0">
                <a:spAutoFit/>
              </a:bodyPr>
              <a:lstStyle/>
              <a:p>
                <a:pPr marL="228600" indent="-228600">
                  <a:spcAft>
                    <a:spcPts val="1200"/>
                  </a:spcAft>
                  <a:buFont typeface="+mj-lt"/>
                  <a:buAutoNum type="arabicPeriod"/>
                </a:pPr>
                <a:r>
                  <a:rPr lang="en-US" sz="5400" b="1" noProof="0" dirty="0"/>
                  <a:t> </a:t>
                </a:r>
                <a:r>
                  <a:rPr lang="en-US" sz="5400" noProof="0" dirty="0"/>
                  <a:t>Occurs in </a:t>
                </a:r>
                <a:r>
                  <a:rPr lang="en-US" sz="5400" b="1" noProof="0" dirty="0"/>
                  <a:t>26.4% </a:t>
                </a:r>
                <a:r>
                  <a:rPr lang="en-US" sz="5400" noProof="0" dirty="0"/>
                  <a:t>of correctly predicted Class 1 compounds. This </a:t>
                </a:r>
                <a:r>
                  <a:rPr lang="en-US" sz="5400" b="1" noProof="0" dirty="0"/>
                  <a:t>cyano-substituted pyrimidine </a:t>
                </a:r>
                <a:r>
                  <a:rPr lang="en-US" sz="5400" noProof="0" dirty="0"/>
                  <a:t>motif is a classic </a:t>
                </a:r>
                <a:r>
                  <a:rPr lang="en-US" sz="5400" b="1" noProof="0" dirty="0"/>
                  <a:t>kinase hinge-binder.</a:t>
                </a:r>
              </a:p>
              <a:p>
                <a:pPr marL="228600" indent="-228600">
                  <a:spcAft>
                    <a:spcPts val="1200"/>
                  </a:spcAft>
                  <a:buFont typeface="+mj-lt"/>
                  <a:buAutoNum type="arabicPeriod"/>
                </a:pPr>
                <a:r>
                  <a:rPr lang="en-US" sz="5400" b="1" noProof="0" dirty="0"/>
                  <a:t> </a:t>
                </a:r>
                <a:r>
                  <a:rPr lang="en-US" sz="5400" noProof="0" dirty="0"/>
                  <a:t>Occurs in </a:t>
                </a:r>
                <a:r>
                  <a:rPr lang="en-US" sz="5400" b="1" noProof="0" dirty="0"/>
                  <a:t>25.0% </a:t>
                </a:r>
                <a:r>
                  <a:rPr lang="en-US" sz="5400" noProof="0" dirty="0"/>
                  <a:t>of cases. A </a:t>
                </a:r>
                <a:r>
                  <a:rPr lang="en-US" sz="5400" b="1" noProof="0" dirty="0"/>
                  <a:t>diamino-</a:t>
                </a:r>
                <a:r>
                  <a:rPr lang="en-US" sz="5400" b="1" noProof="0" dirty="0" err="1"/>
                  <a:t>cyano</a:t>
                </a:r>
                <a:r>
                  <a:rPr lang="en-US" sz="5400" b="1" noProof="0" dirty="0"/>
                  <a:t> pyrimidine derivative</a:t>
                </a:r>
                <a:r>
                  <a:rPr lang="en-US" sz="5400" noProof="0" dirty="0"/>
                  <a:t>, strongly indicating </a:t>
                </a:r>
                <a:r>
                  <a:rPr lang="en-US" sz="5400" b="1" noProof="0" dirty="0"/>
                  <a:t>hydrogen-bonding interactions </a:t>
                </a:r>
                <a:r>
                  <a:rPr lang="en-US" sz="5400" noProof="0" dirty="0"/>
                  <a:t>with the </a:t>
                </a:r>
                <a:r>
                  <a:rPr lang="en-US" sz="5400" b="1" noProof="0" dirty="0"/>
                  <a:t>hinge region</a:t>
                </a:r>
                <a:r>
                  <a:rPr lang="en-US" sz="5400" noProof="0" dirty="0"/>
                  <a:t>.</a:t>
                </a:r>
              </a:p>
            </p:txBody>
          </p:sp>
        </p:grpSp>
      </p:grpSp>
      <p:sp>
        <p:nvSpPr>
          <p:cNvPr id="2" name="Rectangle: Top Corners Rounded 1">
            <a:extLst>
              <a:ext uri="{FF2B5EF4-FFF2-40B4-BE49-F238E27FC236}">
                <a16:creationId xmlns:a16="http://schemas.microsoft.com/office/drawing/2014/main" id="{6C13FBF4-81B4-461D-A19D-5804EED023DD}"/>
              </a:ext>
            </a:extLst>
          </p:cNvPr>
          <p:cNvSpPr/>
          <p:nvPr/>
        </p:nvSpPr>
        <p:spPr>
          <a:xfrm>
            <a:off x="11697090" y="1119201"/>
            <a:ext cx="29944252" cy="4544096"/>
          </a:xfrm>
          <a:prstGeom prst="round2Same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noProof="0" dirty="0">
              <a:solidFill>
                <a:schemeClr val="tx1"/>
              </a:solidFill>
            </a:endParaRPr>
          </a:p>
          <a:p>
            <a:pPr algn="just"/>
            <a:r>
              <a:rPr lang="en-US" sz="5400" noProof="0" dirty="0">
                <a:solidFill>
                  <a:schemeClr val="tx1"/>
                </a:solidFill>
              </a:rPr>
              <a:t>You are running a reproducibility study for compound selectivity prediction. The goal is to train a Balanced Random Forest Classifier to distinguish PI3K-delta (UniProt: O00329) vs PI3K-gamma (UniProt:  P48736) selective compounds, evaluate its performance, and identify recurrent molecular anchor fragments that drive the model's correct predictions for each selective class (class 1 &amp; 2) and discuss the chemical insight gained.</a:t>
            </a:r>
          </a:p>
        </p:txBody>
      </p:sp>
      <p:sp>
        <p:nvSpPr>
          <p:cNvPr id="3" name="Rectangle: Rounded Corners 2">
            <a:extLst>
              <a:ext uri="{FF2B5EF4-FFF2-40B4-BE49-F238E27FC236}">
                <a16:creationId xmlns:a16="http://schemas.microsoft.com/office/drawing/2014/main" id="{465AE2D3-52C5-2D04-D846-EC865A9F4DC7}"/>
              </a:ext>
            </a:extLst>
          </p:cNvPr>
          <p:cNvSpPr/>
          <p:nvPr/>
        </p:nvSpPr>
        <p:spPr>
          <a:xfrm>
            <a:off x="12044361" y="6917439"/>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Find dataset</a:t>
            </a:r>
          </a:p>
        </p:txBody>
      </p:sp>
      <p:sp>
        <p:nvSpPr>
          <p:cNvPr id="4" name="Rectangle: Rounded Corners 3">
            <a:extLst>
              <a:ext uri="{FF2B5EF4-FFF2-40B4-BE49-F238E27FC236}">
                <a16:creationId xmlns:a16="http://schemas.microsoft.com/office/drawing/2014/main" id="{6DB85F9D-5273-DCFF-C989-7562C2561479}"/>
              </a:ext>
            </a:extLst>
          </p:cNvPr>
          <p:cNvSpPr/>
          <p:nvPr/>
        </p:nvSpPr>
        <p:spPr>
          <a:xfrm>
            <a:off x="12044361" y="9238208"/>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Load dataset</a:t>
            </a:r>
          </a:p>
        </p:txBody>
      </p:sp>
      <p:sp>
        <p:nvSpPr>
          <p:cNvPr id="8" name="Rectangle: Rounded Corners 7">
            <a:extLst>
              <a:ext uri="{FF2B5EF4-FFF2-40B4-BE49-F238E27FC236}">
                <a16:creationId xmlns:a16="http://schemas.microsoft.com/office/drawing/2014/main" id="{872B3574-1A6E-95E9-EEA3-C496E1B2F4CE}"/>
              </a:ext>
            </a:extLst>
          </p:cNvPr>
          <p:cNvSpPr/>
          <p:nvPr/>
        </p:nvSpPr>
        <p:spPr>
          <a:xfrm>
            <a:off x="19516990" y="9238208"/>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Compute features</a:t>
            </a:r>
          </a:p>
        </p:txBody>
      </p:sp>
      <p:sp>
        <p:nvSpPr>
          <p:cNvPr id="9" name="Rectangle: Rounded Corners 8">
            <a:extLst>
              <a:ext uri="{FF2B5EF4-FFF2-40B4-BE49-F238E27FC236}">
                <a16:creationId xmlns:a16="http://schemas.microsoft.com/office/drawing/2014/main" id="{AB67E2D9-9E9D-F863-4BAE-D1ACB7A59896}"/>
              </a:ext>
            </a:extLst>
          </p:cNvPr>
          <p:cNvSpPr/>
          <p:nvPr/>
        </p:nvSpPr>
        <p:spPr>
          <a:xfrm>
            <a:off x="19516990" y="6917439"/>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Split dataset</a:t>
            </a:r>
          </a:p>
        </p:txBody>
      </p:sp>
      <p:sp>
        <p:nvSpPr>
          <p:cNvPr id="10" name="Rectangle: Rounded Corners 9">
            <a:extLst>
              <a:ext uri="{FF2B5EF4-FFF2-40B4-BE49-F238E27FC236}">
                <a16:creationId xmlns:a16="http://schemas.microsoft.com/office/drawing/2014/main" id="{1344948B-9127-5D85-04AF-9E27623C51DB}"/>
              </a:ext>
            </a:extLst>
          </p:cNvPr>
          <p:cNvSpPr/>
          <p:nvPr/>
        </p:nvSpPr>
        <p:spPr>
          <a:xfrm>
            <a:off x="27051018" y="6917439"/>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Train model</a:t>
            </a:r>
          </a:p>
        </p:txBody>
      </p:sp>
      <p:sp>
        <p:nvSpPr>
          <p:cNvPr id="12" name="Rectangle: Rounded Corners 11">
            <a:extLst>
              <a:ext uri="{FF2B5EF4-FFF2-40B4-BE49-F238E27FC236}">
                <a16:creationId xmlns:a16="http://schemas.microsoft.com/office/drawing/2014/main" id="{9B31298B-CDEF-CDC2-2977-DCA4EAA13569}"/>
              </a:ext>
            </a:extLst>
          </p:cNvPr>
          <p:cNvSpPr/>
          <p:nvPr/>
        </p:nvSpPr>
        <p:spPr>
          <a:xfrm>
            <a:off x="27051018" y="8990043"/>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Plot classification</a:t>
            </a:r>
          </a:p>
          <a:p>
            <a:pPr algn="ctr"/>
            <a:r>
              <a:rPr lang="en-US" sz="5400" noProof="0" dirty="0">
                <a:solidFill>
                  <a:schemeClr val="tx1"/>
                </a:solidFill>
              </a:rPr>
              <a:t>results</a:t>
            </a:r>
          </a:p>
        </p:txBody>
      </p:sp>
      <p:sp>
        <p:nvSpPr>
          <p:cNvPr id="13" name="Rectangle: Rounded Corners 12">
            <a:extLst>
              <a:ext uri="{FF2B5EF4-FFF2-40B4-BE49-F238E27FC236}">
                <a16:creationId xmlns:a16="http://schemas.microsoft.com/office/drawing/2014/main" id="{A2D69792-6240-2A88-CEB7-39F07C646BE7}"/>
              </a:ext>
            </a:extLst>
          </p:cNvPr>
          <p:cNvSpPr/>
          <p:nvPr/>
        </p:nvSpPr>
        <p:spPr>
          <a:xfrm>
            <a:off x="34528255" y="8990043"/>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Identify recurrent anchor rules</a:t>
            </a:r>
          </a:p>
        </p:txBody>
      </p:sp>
      <p:cxnSp>
        <p:nvCxnSpPr>
          <p:cNvPr id="16" name="Straight Arrow Connector 15">
            <a:extLst>
              <a:ext uri="{FF2B5EF4-FFF2-40B4-BE49-F238E27FC236}">
                <a16:creationId xmlns:a16="http://schemas.microsoft.com/office/drawing/2014/main" id="{0EB09105-A603-3792-FA56-C202D530844E}"/>
              </a:ext>
            </a:extLst>
          </p:cNvPr>
          <p:cNvCxnSpPr>
            <a:cxnSpLocks/>
            <a:stCxn id="3" idx="2"/>
            <a:endCxn id="4" idx="0"/>
          </p:cNvCxnSpPr>
          <p:nvPr/>
        </p:nvCxnSpPr>
        <p:spPr>
          <a:xfrm>
            <a:off x="15293974" y="8255878"/>
            <a:ext cx="0" cy="98233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826109EB-84B7-25A1-4C4D-5E40E7C05280}"/>
              </a:ext>
            </a:extLst>
          </p:cNvPr>
          <p:cNvCxnSpPr>
            <a:cxnSpLocks/>
            <a:endCxn id="8" idx="1"/>
          </p:cNvCxnSpPr>
          <p:nvPr/>
        </p:nvCxnSpPr>
        <p:spPr>
          <a:xfrm>
            <a:off x="18543586" y="9907427"/>
            <a:ext cx="973404" cy="1"/>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FE9E200C-F61C-E3BC-C813-973305E697A5}"/>
              </a:ext>
            </a:extLst>
          </p:cNvPr>
          <p:cNvCxnSpPr>
            <a:cxnSpLocks/>
            <a:stCxn id="8" idx="0"/>
            <a:endCxn id="9" idx="2"/>
          </p:cNvCxnSpPr>
          <p:nvPr/>
        </p:nvCxnSpPr>
        <p:spPr>
          <a:xfrm flipV="1">
            <a:off x="22766603" y="8255878"/>
            <a:ext cx="0" cy="98233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2" name="Straight Arrow Connector 31">
            <a:extLst>
              <a:ext uri="{FF2B5EF4-FFF2-40B4-BE49-F238E27FC236}">
                <a16:creationId xmlns:a16="http://schemas.microsoft.com/office/drawing/2014/main" id="{6B958271-883F-8940-76BB-8AF8F00A9DC4}"/>
              </a:ext>
            </a:extLst>
          </p:cNvPr>
          <p:cNvCxnSpPr>
            <a:cxnSpLocks/>
          </p:cNvCxnSpPr>
          <p:nvPr/>
        </p:nvCxnSpPr>
        <p:spPr>
          <a:xfrm>
            <a:off x="26016215" y="7586658"/>
            <a:ext cx="1034803"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8" name="Straight Arrow Connector 37">
            <a:extLst>
              <a:ext uri="{FF2B5EF4-FFF2-40B4-BE49-F238E27FC236}">
                <a16:creationId xmlns:a16="http://schemas.microsoft.com/office/drawing/2014/main" id="{14B6177B-6EC6-A0F4-463E-CAAB2559ADE4}"/>
              </a:ext>
            </a:extLst>
          </p:cNvPr>
          <p:cNvCxnSpPr>
            <a:cxnSpLocks/>
            <a:stCxn id="10" idx="2"/>
            <a:endCxn id="12" idx="0"/>
          </p:cNvCxnSpPr>
          <p:nvPr/>
        </p:nvCxnSpPr>
        <p:spPr>
          <a:xfrm>
            <a:off x="30300631" y="8255878"/>
            <a:ext cx="0" cy="734165"/>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617806EB-FC1C-9A83-BF43-2E984DA88F27}"/>
              </a:ext>
            </a:extLst>
          </p:cNvPr>
          <p:cNvCxnSpPr>
            <a:cxnSpLocks/>
            <a:stCxn id="12" idx="3"/>
            <a:endCxn id="13" idx="1"/>
          </p:cNvCxnSpPr>
          <p:nvPr/>
        </p:nvCxnSpPr>
        <p:spPr>
          <a:xfrm>
            <a:off x="33550243" y="9907428"/>
            <a:ext cx="978012"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49" name="Rectangle: Rounded Corners 48">
            <a:extLst>
              <a:ext uri="{FF2B5EF4-FFF2-40B4-BE49-F238E27FC236}">
                <a16:creationId xmlns:a16="http://schemas.microsoft.com/office/drawing/2014/main" id="{1C29497D-2B90-2BE5-88BB-D67B8144BA05}"/>
              </a:ext>
            </a:extLst>
          </p:cNvPr>
          <p:cNvSpPr/>
          <p:nvPr/>
        </p:nvSpPr>
        <p:spPr>
          <a:xfrm>
            <a:off x="11695916" y="12548918"/>
            <a:ext cx="29946600" cy="14243708"/>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5" name="Rectangle: Top Corners Rounded 74">
            <a:extLst>
              <a:ext uri="{FF2B5EF4-FFF2-40B4-BE49-F238E27FC236}">
                <a16:creationId xmlns:a16="http://schemas.microsoft.com/office/drawing/2014/main" id="{ADA389BC-6277-D00F-8843-FDFC3BF7E611}"/>
              </a:ext>
            </a:extLst>
          </p:cNvPr>
          <p:cNvSpPr/>
          <p:nvPr/>
        </p:nvSpPr>
        <p:spPr>
          <a:xfrm rot="10800000">
            <a:off x="11390921" y="27967705"/>
            <a:ext cx="30556591" cy="8130502"/>
          </a:xfrm>
          <a:prstGeom prst="round2Same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sz="4400" noProof="0" dirty="0">
              <a:solidFill>
                <a:schemeClr val="tx1"/>
              </a:solidFill>
            </a:endParaRPr>
          </a:p>
        </p:txBody>
      </p:sp>
      <p:sp>
        <p:nvSpPr>
          <p:cNvPr id="77" name="TextBox 76">
            <a:extLst>
              <a:ext uri="{FF2B5EF4-FFF2-40B4-BE49-F238E27FC236}">
                <a16:creationId xmlns:a16="http://schemas.microsoft.com/office/drawing/2014/main" id="{C9821E32-A8A6-C518-B031-E9D5E16F9A8D}"/>
              </a:ext>
            </a:extLst>
          </p:cNvPr>
          <p:cNvSpPr txBox="1"/>
          <p:nvPr/>
        </p:nvSpPr>
        <p:spPr>
          <a:xfrm>
            <a:off x="11912917" y="28342238"/>
            <a:ext cx="29704702" cy="7755969"/>
          </a:xfrm>
          <a:prstGeom prst="rect">
            <a:avLst/>
          </a:prstGeom>
          <a:noFill/>
        </p:spPr>
        <p:txBody>
          <a:bodyPr wrap="square">
            <a:spAutoFit/>
          </a:bodyPr>
          <a:lstStyle/>
          <a:p>
            <a:pPr marL="228600" indent="-228600">
              <a:spcAft>
                <a:spcPts val="1800"/>
              </a:spcAft>
              <a:buFont typeface="+mj-lt"/>
              <a:buAutoNum type="arabicPeriod"/>
            </a:pPr>
            <a:r>
              <a:rPr lang="en-US" sz="5200" b="1" i="0" noProof="0" dirty="0">
                <a:solidFill>
                  <a:srgbClr val="0F0F0F"/>
                </a:solidFill>
                <a:effectLst/>
              </a:rPr>
              <a:t>Distinct </a:t>
            </a:r>
            <a:r>
              <a:rPr lang="en-US" sz="5200" i="0" noProof="0" dirty="0">
                <a:solidFill>
                  <a:srgbClr val="0F0F0F"/>
                </a:solidFill>
                <a:effectLst/>
              </a:rPr>
              <a:t>Chemotypes for Selectivity: The recurrent anchors clearly separate the two selective classes. Class 1 (delta) is driven by cyano-pyrimidine </a:t>
            </a:r>
            <a:r>
              <a:rPr lang="en-US" sz="5200" b="1" i="0" noProof="0" dirty="0">
                <a:solidFill>
                  <a:srgbClr val="0F0F0F"/>
                </a:solidFill>
                <a:effectLst/>
              </a:rPr>
              <a:t>hinge binders</a:t>
            </a:r>
            <a:r>
              <a:rPr lang="en-US" sz="5200" i="0" noProof="0" dirty="0">
                <a:solidFill>
                  <a:srgbClr val="0F0F0F"/>
                </a:solidFill>
                <a:effectLst/>
              </a:rPr>
              <a:t>, while Class 2 (gamma) is driven by </a:t>
            </a:r>
            <a:r>
              <a:rPr lang="en-US" sz="5200" i="0" noProof="0" dirty="0" err="1">
                <a:solidFill>
                  <a:srgbClr val="0F0F0F"/>
                </a:solidFill>
                <a:effectLst/>
              </a:rPr>
              <a:t>isoquinoline</a:t>
            </a:r>
            <a:r>
              <a:rPr lang="en-US" sz="5200" i="0" noProof="0" dirty="0">
                <a:solidFill>
                  <a:srgbClr val="0F0F0F"/>
                </a:solidFill>
                <a:effectLst/>
              </a:rPr>
              <a:t>/</a:t>
            </a:r>
            <a:r>
              <a:rPr lang="en-US" sz="5200" i="0" noProof="0" dirty="0" err="1">
                <a:solidFill>
                  <a:srgbClr val="0F0F0F"/>
                </a:solidFill>
                <a:effectLst/>
              </a:rPr>
              <a:t>dihydroisoquinolinone</a:t>
            </a:r>
            <a:r>
              <a:rPr lang="en-US" sz="5200" i="0" noProof="0" dirty="0">
                <a:solidFill>
                  <a:srgbClr val="0F0F0F"/>
                </a:solidFill>
                <a:effectLst/>
              </a:rPr>
              <a:t> scaffolds. This </a:t>
            </a:r>
            <a:r>
              <a:rPr lang="en-US" sz="5200" b="1" i="0" noProof="0" dirty="0">
                <a:solidFill>
                  <a:srgbClr val="0F0F0F"/>
                </a:solidFill>
                <a:effectLst/>
              </a:rPr>
              <a:t>aligns with known structure-activity relationships (SAR) in PI3K inhibitor design.</a:t>
            </a:r>
            <a:endParaRPr lang="en-US" sz="5200" i="0" noProof="0" dirty="0">
              <a:solidFill>
                <a:srgbClr val="0F0F0F"/>
              </a:solidFill>
              <a:effectLst/>
            </a:endParaRPr>
          </a:p>
          <a:p>
            <a:pPr marL="228600" indent="-228600">
              <a:spcAft>
                <a:spcPts val="1800"/>
              </a:spcAft>
              <a:buFont typeface="+mj-lt"/>
              <a:buAutoNum type="arabicPeriod" startAt="2"/>
            </a:pPr>
            <a:r>
              <a:rPr lang="en-US" sz="5200" b="1" i="0" noProof="0" dirty="0">
                <a:solidFill>
                  <a:srgbClr val="0F0F0F"/>
                </a:solidFill>
                <a:effectLst/>
              </a:rPr>
              <a:t>Hinge Region Mimicry</a:t>
            </a:r>
            <a:r>
              <a:rPr lang="en-US" sz="5200" i="0" noProof="0" dirty="0">
                <a:solidFill>
                  <a:srgbClr val="0F0F0F"/>
                </a:solidFill>
                <a:effectLst/>
              </a:rPr>
              <a:t>: The high anchor occurrence of cyano-pyrimidines in Class 1 confirms the model has learned the </a:t>
            </a:r>
            <a:r>
              <a:rPr lang="en-US" sz="5200" b="1" i="0" noProof="0" dirty="0">
                <a:solidFill>
                  <a:srgbClr val="0F0F0F"/>
                </a:solidFill>
                <a:effectLst/>
              </a:rPr>
              <a:t>canonical hydrogen-bonding motif</a:t>
            </a:r>
            <a:r>
              <a:rPr lang="en-US" sz="5200" i="0" noProof="0" dirty="0">
                <a:solidFill>
                  <a:srgbClr val="0F0F0F"/>
                </a:solidFill>
                <a:effectLst/>
              </a:rPr>
              <a:t> required for PI3K catalytic domain binding.</a:t>
            </a:r>
          </a:p>
          <a:p>
            <a:pPr marL="228600" indent="-228600">
              <a:spcAft>
                <a:spcPts val="1800"/>
              </a:spcAft>
              <a:buFont typeface="+mj-lt"/>
              <a:buAutoNum type="arabicPeriod" startAt="3"/>
            </a:pPr>
            <a:r>
              <a:rPr lang="en-US" sz="5200" b="1" i="0" noProof="0" dirty="0">
                <a:solidFill>
                  <a:srgbClr val="0F0F0F"/>
                </a:solidFill>
                <a:effectLst/>
              </a:rPr>
              <a:t>Scaffold-Driven Selectivity: </a:t>
            </a:r>
            <a:r>
              <a:rPr lang="en-US" sz="5200" i="0" noProof="0" dirty="0">
                <a:solidFill>
                  <a:srgbClr val="0F0F0F"/>
                </a:solidFill>
                <a:effectLst/>
              </a:rPr>
              <a:t>The dominance of bicyclic nitrogenous cores (</a:t>
            </a:r>
            <a:r>
              <a:rPr lang="en-US" sz="5200" i="0" noProof="0" dirty="0" err="1">
                <a:solidFill>
                  <a:srgbClr val="0F0F0F"/>
                </a:solidFill>
                <a:effectLst/>
              </a:rPr>
              <a:t>isoquinolines</a:t>
            </a:r>
            <a:r>
              <a:rPr lang="en-US" sz="5200" i="0" noProof="0" dirty="0">
                <a:solidFill>
                  <a:srgbClr val="0F0F0F"/>
                </a:solidFill>
                <a:effectLst/>
              </a:rPr>
              <a:t>) in Class 2 suggests that PI3K-gamma selectivity is </a:t>
            </a:r>
            <a:r>
              <a:rPr lang="en-US" sz="5200" b="1" i="0" noProof="0" dirty="0">
                <a:solidFill>
                  <a:srgbClr val="0F0F0F"/>
                </a:solidFill>
                <a:effectLst/>
              </a:rPr>
              <a:t>heavily scaffold-dependent</a:t>
            </a:r>
            <a:r>
              <a:rPr lang="en-US" sz="5200" i="0" noProof="0" dirty="0">
                <a:solidFill>
                  <a:srgbClr val="0F0F0F"/>
                </a:solidFill>
                <a:effectLst/>
              </a:rPr>
              <a:t>, likely due to subtle differences in the </a:t>
            </a:r>
            <a:r>
              <a:rPr lang="en-US" sz="5200" b="1" i="0" noProof="0" dirty="0">
                <a:solidFill>
                  <a:srgbClr val="0F0F0F"/>
                </a:solidFill>
                <a:effectLst/>
              </a:rPr>
              <a:t>gatekeeper residue </a:t>
            </a:r>
            <a:r>
              <a:rPr lang="en-US" sz="5200" i="0" noProof="0" dirty="0">
                <a:solidFill>
                  <a:srgbClr val="0F0F0F"/>
                </a:solidFill>
                <a:effectLst/>
              </a:rPr>
              <a:t>or </a:t>
            </a:r>
            <a:r>
              <a:rPr lang="en-US" sz="5200" b="1" i="0" noProof="0" dirty="0">
                <a:solidFill>
                  <a:srgbClr val="0F0F0F"/>
                </a:solidFill>
                <a:effectLst/>
              </a:rPr>
              <a:t>allosteric pocket topology </a:t>
            </a:r>
            <a:r>
              <a:rPr lang="en-US" sz="5200" i="0" noProof="0" dirty="0">
                <a:solidFill>
                  <a:srgbClr val="0F0F0F"/>
                </a:solidFill>
                <a:effectLst/>
              </a:rPr>
              <a:t>compared to PI3K-delta</a:t>
            </a:r>
            <a:r>
              <a:rPr lang="en-US" sz="5200" i="0" noProof="0" dirty="0">
                <a:solidFill>
                  <a:srgbClr val="0F0F0F"/>
                </a:solidFill>
                <a:effectLst/>
                <a:latin typeface="ui-sans-serif"/>
              </a:rPr>
              <a:t>.</a:t>
            </a:r>
            <a:endParaRPr lang="en-US" sz="5200" noProof="0" dirty="0"/>
          </a:p>
        </p:txBody>
      </p:sp>
      <p:sp>
        <p:nvSpPr>
          <p:cNvPr id="80" name="TextBox 79">
            <a:extLst>
              <a:ext uri="{FF2B5EF4-FFF2-40B4-BE49-F238E27FC236}">
                <a16:creationId xmlns:a16="http://schemas.microsoft.com/office/drawing/2014/main" id="{4F75911C-6BD0-922D-B821-7CE96BED0CA3}"/>
              </a:ext>
            </a:extLst>
          </p:cNvPr>
          <p:cNvSpPr txBox="1"/>
          <p:nvPr/>
        </p:nvSpPr>
        <p:spPr>
          <a:xfrm>
            <a:off x="18090531" y="27034964"/>
            <a:ext cx="17157371" cy="1015663"/>
          </a:xfrm>
          <a:prstGeom prst="rect">
            <a:avLst/>
          </a:prstGeom>
          <a:noFill/>
        </p:spPr>
        <p:txBody>
          <a:bodyPr wrap="square">
            <a:spAutoFit/>
          </a:bodyPr>
          <a:lstStyle/>
          <a:p>
            <a:pPr algn="ctr"/>
            <a:r>
              <a:rPr lang="en-US" sz="6000" b="1" noProof="0" dirty="0">
                <a:solidFill>
                  <a:srgbClr val="0F0F0F"/>
                </a:solidFill>
                <a:latin typeface="ui-sans-serif"/>
              </a:rPr>
              <a:t>Chemical insights &amp; discussion</a:t>
            </a:r>
            <a:endParaRPr lang="en-US" sz="6000" b="1" i="0" noProof="0" dirty="0">
              <a:solidFill>
                <a:srgbClr val="0F0F0F"/>
              </a:solidFill>
              <a:effectLst/>
              <a:latin typeface="ui-sans-serif"/>
            </a:endParaRPr>
          </a:p>
        </p:txBody>
      </p:sp>
      <p:grpSp>
        <p:nvGrpSpPr>
          <p:cNvPr id="7" name="Group 6">
            <a:extLst>
              <a:ext uri="{FF2B5EF4-FFF2-40B4-BE49-F238E27FC236}">
                <a16:creationId xmlns:a16="http://schemas.microsoft.com/office/drawing/2014/main" id="{AE02D07E-FA83-46F7-FBED-29C7C8CFC31A}"/>
              </a:ext>
            </a:extLst>
          </p:cNvPr>
          <p:cNvGrpSpPr/>
          <p:nvPr/>
        </p:nvGrpSpPr>
        <p:grpSpPr>
          <a:xfrm>
            <a:off x="13172975" y="36660777"/>
            <a:ext cx="27221082" cy="923330"/>
            <a:chOff x="13161742" y="35331084"/>
            <a:chExt cx="27221082" cy="923330"/>
          </a:xfrm>
        </p:grpSpPr>
        <p:sp>
          <p:nvSpPr>
            <p:cNvPr id="81" name="Rectangle 80">
              <a:extLst>
                <a:ext uri="{FF2B5EF4-FFF2-40B4-BE49-F238E27FC236}">
                  <a16:creationId xmlns:a16="http://schemas.microsoft.com/office/drawing/2014/main" id="{72807964-5BD9-B45A-64B0-2645DF88EB3B}"/>
                </a:ext>
              </a:extLst>
            </p:cNvPr>
            <p:cNvSpPr/>
            <p:nvPr/>
          </p:nvSpPr>
          <p:spPr>
            <a:xfrm>
              <a:off x="13161742" y="35440946"/>
              <a:ext cx="1646814" cy="703607"/>
            </a:xfrm>
            <a:prstGeom prst="rect">
              <a:avLst/>
            </a:prstGeom>
            <a:solidFill>
              <a:srgbClr val="A6CAE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2" name="TextBox 81">
              <a:extLst>
                <a:ext uri="{FF2B5EF4-FFF2-40B4-BE49-F238E27FC236}">
                  <a16:creationId xmlns:a16="http://schemas.microsoft.com/office/drawing/2014/main" id="{EACA069E-8CED-5E8A-69B1-E9F4FC24041A}"/>
                </a:ext>
              </a:extLst>
            </p:cNvPr>
            <p:cNvSpPr txBox="1"/>
            <p:nvPr/>
          </p:nvSpPr>
          <p:spPr>
            <a:xfrm>
              <a:off x="13960804" y="35331084"/>
              <a:ext cx="6199523" cy="923330"/>
            </a:xfrm>
            <a:prstGeom prst="rect">
              <a:avLst/>
            </a:prstGeom>
            <a:noFill/>
          </p:spPr>
          <p:txBody>
            <a:bodyPr wrap="square" rtlCol="0">
              <a:spAutoFit/>
            </a:bodyPr>
            <a:lstStyle/>
            <a:p>
              <a:pPr algn="ctr"/>
              <a:r>
                <a:rPr lang="en-US" sz="5400" noProof="0" dirty="0"/>
                <a:t>User prompt</a:t>
              </a:r>
            </a:p>
          </p:txBody>
        </p:sp>
        <p:sp>
          <p:nvSpPr>
            <p:cNvPr id="83" name="Rectangle 82">
              <a:extLst>
                <a:ext uri="{FF2B5EF4-FFF2-40B4-BE49-F238E27FC236}">
                  <a16:creationId xmlns:a16="http://schemas.microsoft.com/office/drawing/2014/main" id="{083E7B6A-0D88-EE7A-862D-CD52DE210854}"/>
                </a:ext>
              </a:extLst>
            </p:cNvPr>
            <p:cNvSpPr/>
            <p:nvPr/>
          </p:nvSpPr>
          <p:spPr>
            <a:xfrm>
              <a:off x="25749158" y="35440946"/>
              <a:ext cx="1646814" cy="70360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4" name="TextBox 83">
              <a:extLst>
                <a:ext uri="{FF2B5EF4-FFF2-40B4-BE49-F238E27FC236}">
                  <a16:creationId xmlns:a16="http://schemas.microsoft.com/office/drawing/2014/main" id="{358AE044-1305-34FC-BBC0-450EF8C6264C}"/>
                </a:ext>
              </a:extLst>
            </p:cNvPr>
            <p:cNvSpPr txBox="1"/>
            <p:nvPr/>
          </p:nvSpPr>
          <p:spPr>
            <a:xfrm>
              <a:off x="26376770" y="35331084"/>
              <a:ext cx="8218539" cy="923330"/>
            </a:xfrm>
            <a:prstGeom prst="rect">
              <a:avLst/>
            </a:prstGeom>
            <a:noFill/>
          </p:spPr>
          <p:txBody>
            <a:bodyPr wrap="square" rtlCol="0">
              <a:spAutoFit/>
            </a:bodyPr>
            <a:lstStyle/>
            <a:p>
              <a:pPr algn="ctr"/>
              <a:r>
                <a:rPr lang="en-US" sz="5400" noProof="0" dirty="0"/>
                <a:t>Response &amp; output</a:t>
              </a:r>
            </a:p>
          </p:txBody>
        </p:sp>
        <p:sp>
          <p:nvSpPr>
            <p:cNvPr id="86" name="Rectangle 85">
              <a:extLst>
                <a:ext uri="{FF2B5EF4-FFF2-40B4-BE49-F238E27FC236}">
                  <a16:creationId xmlns:a16="http://schemas.microsoft.com/office/drawing/2014/main" id="{350C722C-59C7-EC1B-EC99-E1777E1494CE}"/>
                </a:ext>
              </a:extLst>
            </p:cNvPr>
            <p:cNvSpPr/>
            <p:nvPr/>
          </p:nvSpPr>
          <p:spPr>
            <a:xfrm>
              <a:off x="34204757" y="35440946"/>
              <a:ext cx="1646814" cy="703607"/>
            </a:xfrm>
            <a:prstGeom prst="rect">
              <a:avLst/>
            </a:prstGeom>
            <a:solidFill>
              <a:srgbClr val="B4E5A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7" name="TextBox 86">
              <a:extLst>
                <a:ext uri="{FF2B5EF4-FFF2-40B4-BE49-F238E27FC236}">
                  <a16:creationId xmlns:a16="http://schemas.microsoft.com/office/drawing/2014/main" id="{24FCF701-8B21-25B2-2AE4-BF962FF75654}"/>
                </a:ext>
              </a:extLst>
            </p:cNvPr>
            <p:cNvSpPr txBox="1"/>
            <p:nvPr/>
          </p:nvSpPr>
          <p:spPr>
            <a:xfrm>
              <a:off x="35326982" y="35331084"/>
              <a:ext cx="5055842" cy="923330"/>
            </a:xfrm>
            <a:prstGeom prst="rect">
              <a:avLst/>
            </a:prstGeom>
            <a:noFill/>
          </p:spPr>
          <p:txBody>
            <a:bodyPr wrap="square" rtlCol="0">
              <a:spAutoFit/>
            </a:bodyPr>
            <a:lstStyle/>
            <a:p>
              <a:pPr algn="ctr"/>
              <a:r>
                <a:rPr lang="en-US" sz="5400" noProof="0" dirty="0"/>
                <a:t>Discussion</a:t>
              </a:r>
            </a:p>
          </p:txBody>
        </p:sp>
        <p:sp>
          <p:nvSpPr>
            <p:cNvPr id="5" name="Rectangle 4">
              <a:extLst>
                <a:ext uri="{FF2B5EF4-FFF2-40B4-BE49-F238E27FC236}">
                  <a16:creationId xmlns:a16="http://schemas.microsoft.com/office/drawing/2014/main" id="{A2B5BA64-5C49-72B3-4807-202BB7511121}"/>
                </a:ext>
              </a:extLst>
            </p:cNvPr>
            <p:cNvSpPr/>
            <p:nvPr/>
          </p:nvSpPr>
          <p:spPr>
            <a:xfrm>
              <a:off x="19941225" y="35440946"/>
              <a:ext cx="1646814" cy="703607"/>
            </a:xfrm>
            <a:prstGeom prst="rect">
              <a:avLst/>
            </a:prstGeom>
            <a:solidFill>
              <a:srgbClr val="D9D9D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solidFill>
                  <a:srgbClr val="FFFFFF"/>
                </a:solidFill>
              </a:endParaRPr>
            </a:p>
          </p:txBody>
        </p:sp>
        <p:sp>
          <p:nvSpPr>
            <p:cNvPr id="6" name="TextBox 5">
              <a:extLst>
                <a:ext uri="{FF2B5EF4-FFF2-40B4-BE49-F238E27FC236}">
                  <a16:creationId xmlns:a16="http://schemas.microsoft.com/office/drawing/2014/main" id="{0B838B24-BA64-D5F2-D98D-5C4BC2C2CAD6}"/>
                </a:ext>
              </a:extLst>
            </p:cNvPr>
            <p:cNvSpPr txBox="1"/>
            <p:nvPr/>
          </p:nvSpPr>
          <p:spPr>
            <a:xfrm>
              <a:off x="20283087" y="35331084"/>
              <a:ext cx="6199523" cy="923330"/>
            </a:xfrm>
            <a:prstGeom prst="rect">
              <a:avLst/>
            </a:prstGeom>
            <a:noFill/>
          </p:spPr>
          <p:txBody>
            <a:bodyPr wrap="square" rtlCol="0">
              <a:spAutoFit/>
            </a:bodyPr>
            <a:lstStyle/>
            <a:p>
              <a:pPr algn="ctr"/>
              <a:r>
                <a:rPr lang="en-US" sz="5400" noProof="0" dirty="0"/>
                <a:t>Tool calls</a:t>
              </a:r>
            </a:p>
          </p:txBody>
        </p:sp>
      </p:grpSp>
    </p:spTree>
    <p:extLst>
      <p:ext uri="{BB962C8B-B14F-4D97-AF65-F5344CB8AC3E}">
        <p14:creationId xmlns:p14="http://schemas.microsoft.com/office/powerpoint/2010/main" val="24444342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8" name="Picture 97">
            <a:extLst>
              <a:ext uri="{FF2B5EF4-FFF2-40B4-BE49-F238E27FC236}">
                <a16:creationId xmlns:a16="http://schemas.microsoft.com/office/drawing/2014/main" id="{A7F1FF81-F85B-AEE0-1DE8-5EB96DE47216}"/>
              </a:ext>
            </a:extLst>
          </p:cNvPr>
          <p:cNvPicPr>
            <a:picLocks noChangeAspect="1"/>
          </p:cNvPicPr>
          <p:nvPr/>
        </p:nvPicPr>
        <p:blipFill>
          <a:blip r:embed="rId2">
            <a:extLst>
              <a:ext uri="{28A0092B-C50C-407E-A947-70E740481C1C}">
                <a14:useLocalDpi xmlns:a14="http://schemas.microsoft.com/office/drawing/2010/main" val="0"/>
              </a:ext>
            </a:extLst>
          </a:blip>
          <a:srcRect l="25671" t="16772" r="25601" b="34684"/>
          <a:stretch/>
        </p:blipFill>
        <p:spPr>
          <a:xfrm>
            <a:off x="4455039" y="28034292"/>
            <a:ext cx="20876373" cy="4935715"/>
          </a:xfrm>
          <a:prstGeom prst="rect">
            <a:avLst/>
          </a:prstGeom>
        </p:spPr>
      </p:pic>
      <p:sp>
        <p:nvSpPr>
          <p:cNvPr id="14" name="Rectangle: Rounded Corners 13">
            <a:extLst>
              <a:ext uri="{FF2B5EF4-FFF2-40B4-BE49-F238E27FC236}">
                <a16:creationId xmlns:a16="http://schemas.microsoft.com/office/drawing/2014/main" id="{DBF4675B-24DA-ECE6-C51C-65069789A359}"/>
              </a:ext>
            </a:extLst>
          </p:cNvPr>
          <p:cNvSpPr/>
          <p:nvPr/>
        </p:nvSpPr>
        <p:spPr>
          <a:xfrm>
            <a:off x="4154224" y="2369470"/>
            <a:ext cx="43034339" cy="5165792"/>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TextBox 52">
            <a:extLst>
              <a:ext uri="{FF2B5EF4-FFF2-40B4-BE49-F238E27FC236}">
                <a16:creationId xmlns:a16="http://schemas.microsoft.com/office/drawing/2014/main" id="{4D9CB3D1-7BFC-3386-B306-BDBBA5137ABA}"/>
              </a:ext>
            </a:extLst>
          </p:cNvPr>
          <p:cNvSpPr txBox="1"/>
          <p:nvPr/>
        </p:nvSpPr>
        <p:spPr>
          <a:xfrm>
            <a:off x="17092708" y="7844127"/>
            <a:ext cx="17157371" cy="1015663"/>
          </a:xfrm>
          <a:prstGeom prst="rect">
            <a:avLst/>
          </a:prstGeom>
          <a:noFill/>
        </p:spPr>
        <p:txBody>
          <a:bodyPr wrap="square">
            <a:spAutoFit/>
          </a:bodyPr>
          <a:lstStyle/>
          <a:p>
            <a:pPr algn="ctr"/>
            <a:r>
              <a:rPr lang="en-US" sz="6000" b="1" dirty="0">
                <a:solidFill>
                  <a:srgbClr val="0F0F0F"/>
                </a:solidFill>
                <a:latin typeface="ui-sans-serif"/>
              </a:rPr>
              <a:t>Pair 1: </a:t>
            </a:r>
            <a:r>
              <a:rPr lang="en-US" sz="6000" b="1" dirty="0" err="1">
                <a:solidFill>
                  <a:srgbClr val="0F0F0F"/>
                </a:solidFill>
                <a:latin typeface="ui-sans-serif"/>
              </a:rPr>
              <a:t>MolAnchor</a:t>
            </a:r>
            <a:r>
              <a:rPr lang="en-US" sz="6000" b="1" dirty="0">
                <a:solidFill>
                  <a:srgbClr val="0F0F0F"/>
                </a:solidFill>
                <a:latin typeface="ui-sans-serif"/>
              </a:rPr>
              <a:t> vs SHAP</a:t>
            </a:r>
            <a:endParaRPr lang="en-US" sz="6000" b="1" i="0" dirty="0">
              <a:solidFill>
                <a:srgbClr val="0F0F0F"/>
              </a:solidFill>
              <a:effectLst/>
              <a:latin typeface="ui-sans-serif"/>
            </a:endParaRPr>
          </a:p>
        </p:txBody>
      </p:sp>
      <p:sp>
        <p:nvSpPr>
          <p:cNvPr id="2" name="Rectangle: Top Corners Rounded 1">
            <a:extLst>
              <a:ext uri="{FF2B5EF4-FFF2-40B4-BE49-F238E27FC236}">
                <a16:creationId xmlns:a16="http://schemas.microsoft.com/office/drawing/2014/main" id="{6C13FBF4-81B4-461D-A19D-5804EED023DD}"/>
              </a:ext>
            </a:extLst>
          </p:cNvPr>
          <p:cNvSpPr/>
          <p:nvPr/>
        </p:nvSpPr>
        <p:spPr>
          <a:xfrm>
            <a:off x="4154225" y="-3102958"/>
            <a:ext cx="43034337" cy="5118544"/>
          </a:xfrm>
          <a:prstGeom prst="round2Same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6000" dirty="0">
                <a:solidFill>
                  <a:schemeClr val="tx1"/>
                </a:solidFill>
              </a:rPr>
              <a:t>You are running an explainability benchmarking study for compound bioactivity prediction. The goal is to train a Deep Neural Network to distinguish compounds active against the D(2) dopamine receptor (</a:t>
            </a:r>
            <a:r>
              <a:rPr lang="en-US" sz="6000" dirty="0" err="1">
                <a:solidFill>
                  <a:schemeClr val="tx1"/>
                </a:solidFill>
              </a:rPr>
              <a:t>UniProt</a:t>
            </a:r>
            <a:r>
              <a:rPr lang="en-US" sz="6000" dirty="0">
                <a:solidFill>
                  <a:schemeClr val="tx1"/>
                </a:solidFill>
              </a:rPr>
              <a:t>: P14416) from inactive compounds, evaluate its performance, and then directly compare two pairs of explainability methods on the same on the same correctly predicted active compound:  </a:t>
            </a:r>
            <a:r>
              <a:rPr lang="en-US" sz="6000" dirty="0" err="1">
                <a:solidFill>
                  <a:schemeClr val="tx1"/>
                </a:solidFill>
              </a:rPr>
              <a:t>Molanchor</a:t>
            </a:r>
            <a:r>
              <a:rPr lang="en-US" sz="6000" dirty="0">
                <a:solidFill>
                  <a:schemeClr val="tx1"/>
                </a:solidFill>
              </a:rPr>
              <a:t> vs SHAP and </a:t>
            </a:r>
            <a:r>
              <a:rPr lang="en-US" sz="6000" dirty="0" err="1">
                <a:solidFill>
                  <a:schemeClr val="tx1"/>
                </a:solidFill>
              </a:rPr>
              <a:t>MolCE</a:t>
            </a:r>
            <a:r>
              <a:rPr lang="en-US" sz="6000" dirty="0">
                <a:solidFill>
                  <a:schemeClr val="tx1"/>
                </a:solidFill>
              </a:rPr>
              <a:t> vs Counterfactuals. Summarize where the methods agree on the structural determinants of the predictions and where they disagree.</a:t>
            </a:r>
          </a:p>
        </p:txBody>
      </p:sp>
      <p:sp>
        <p:nvSpPr>
          <p:cNvPr id="49" name="Rectangle: Rounded Corners 48">
            <a:extLst>
              <a:ext uri="{FF2B5EF4-FFF2-40B4-BE49-F238E27FC236}">
                <a16:creationId xmlns:a16="http://schemas.microsoft.com/office/drawing/2014/main" id="{1C29497D-2B90-2BE5-88BB-D67B8144BA05}"/>
              </a:ext>
            </a:extLst>
          </p:cNvPr>
          <p:cNvSpPr/>
          <p:nvPr/>
        </p:nvSpPr>
        <p:spPr>
          <a:xfrm>
            <a:off x="4154225" y="8877318"/>
            <a:ext cx="43034337" cy="16187596"/>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5" name="Rectangle: Top Corners Rounded 74">
            <a:extLst>
              <a:ext uri="{FF2B5EF4-FFF2-40B4-BE49-F238E27FC236}">
                <a16:creationId xmlns:a16="http://schemas.microsoft.com/office/drawing/2014/main" id="{ADA389BC-6277-D00F-8843-FDFC3BF7E611}"/>
              </a:ext>
            </a:extLst>
          </p:cNvPr>
          <p:cNvSpPr/>
          <p:nvPr/>
        </p:nvSpPr>
        <p:spPr>
          <a:xfrm rot="10800000">
            <a:off x="4183556" y="43901005"/>
            <a:ext cx="43561185" cy="8940926"/>
          </a:xfrm>
          <a:prstGeom prst="round2Same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sz="4400" dirty="0">
              <a:solidFill>
                <a:schemeClr val="tx1"/>
              </a:solidFill>
            </a:endParaRPr>
          </a:p>
        </p:txBody>
      </p:sp>
      <p:sp>
        <p:nvSpPr>
          <p:cNvPr id="77" name="TextBox 76">
            <a:extLst>
              <a:ext uri="{FF2B5EF4-FFF2-40B4-BE49-F238E27FC236}">
                <a16:creationId xmlns:a16="http://schemas.microsoft.com/office/drawing/2014/main" id="{C9821E32-A8A6-C518-B031-E9D5E16F9A8D}"/>
              </a:ext>
            </a:extLst>
          </p:cNvPr>
          <p:cNvSpPr txBox="1"/>
          <p:nvPr/>
        </p:nvSpPr>
        <p:spPr>
          <a:xfrm>
            <a:off x="4337120" y="43901007"/>
            <a:ext cx="43561185" cy="9356408"/>
          </a:xfrm>
          <a:prstGeom prst="rect">
            <a:avLst/>
          </a:prstGeom>
          <a:noFill/>
        </p:spPr>
        <p:txBody>
          <a:bodyPr wrap="square">
            <a:spAutoFit/>
          </a:bodyPr>
          <a:lstStyle/>
          <a:p>
            <a:pPr marL="228600" indent="-228600">
              <a:spcAft>
                <a:spcPts val="1200"/>
              </a:spcAft>
              <a:buFont typeface="+mj-lt"/>
              <a:buAutoNum type="arabicPeriod"/>
            </a:pPr>
            <a:r>
              <a:rPr lang="en-US" sz="5200" b="1" i="0" dirty="0">
                <a:solidFill>
                  <a:srgbClr val="0F0F0F"/>
                </a:solidFill>
                <a:effectLst/>
                <a:latin typeface="Aptos" panose="020B0004020202020204" pitchFamily="34" charset="0"/>
              </a:rPr>
              <a:t> Convergent Pharmacophore: </a:t>
            </a:r>
            <a:r>
              <a:rPr lang="en-US" sz="5200" i="0" dirty="0">
                <a:solidFill>
                  <a:srgbClr val="0F0F0F"/>
                </a:solidFill>
                <a:effectLst/>
                <a:latin typeface="Aptos" panose="020B0004020202020204" pitchFamily="34" charset="0"/>
              </a:rPr>
              <a:t>All four methods agree that the piperazine-benzyl-morpholinone core is essential for D2 receptor binding.</a:t>
            </a:r>
          </a:p>
          <a:p>
            <a:pPr marL="228600" indent="-228600">
              <a:spcAft>
                <a:spcPts val="1200"/>
              </a:spcAft>
              <a:buFont typeface="+mj-lt"/>
              <a:buAutoNum type="arabicPeriod"/>
            </a:pPr>
            <a:r>
              <a:rPr lang="en-US" sz="5200" b="1" i="0" dirty="0">
                <a:solidFill>
                  <a:srgbClr val="0F0F0F"/>
                </a:solidFill>
                <a:effectLst/>
                <a:latin typeface="Aptos" panose="020B0004020202020204" pitchFamily="34" charset="0"/>
              </a:rPr>
              <a:t> Critical Switch: </a:t>
            </a:r>
            <a:r>
              <a:rPr lang="en-US" sz="5200" i="0" dirty="0">
                <a:solidFill>
                  <a:srgbClr val="0F0F0F"/>
                </a:solidFill>
                <a:effectLst/>
                <a:latin typeface="Aptos" panose="020B0004020202020204" pitchFamily="34" charset="0"/>
              </a:rPr>
              <a:t>The piperazine nitrogen substituent acts as an "on/off switch"—modifying it can eliminate activity even with the core scaffold intact.</a:t>
            </a:r>
          </a:p>
          <a:p>
            <a:pPr marL="228600" indent="-228600">
              <a:spcAft>
                <a:spcPts val="1200"/>
              </a:spcAft>
              <a:buFont typeface="+mj-lt"/>
              <a:buAutoNum type="arabicPeriod"/>
            </a:pPr>
            <a:r>
              <a:rPr lang="en-US" sz="5200" b="1" i="0" dirty="0">
                <a:solidFill>
                  <a:srgbClr val="0F0F0F"/>
                </a:solidFill>
                <a:effectLst/>
                <a:latin typeface="Aptos" panose="020B0004020202020204" pitchFamily="34" charset="0"/>
              </a:rPr>
              <a:t> Method Complementarity:</a:t>
            </a:r>
          </a:p>
          <a:p>
            <a:pPr marL="571500" indent="-571500">
              <a:spcAft>
                <a:spcPts val="1200"/>
              </a:spcAft>
              <a:buFont typeface="Arial" panose="020B0604020202020204" pitchFamily="34" charset="0"/>
              <a:buChar char="•"/>
            </a:pPr>
            <a:r>
              <a:rPr lang="en-US" sz="5200" b="1" i="0" dirty="0" err="1">
                <a:solidFill>
                  <a:srgbClr val="0F0F0F"/>
                </a:solidFill>
                <a:effectLst/>
                <a:latin typeface="Aptos" panose="020B0004020202020204" pitchFamily="34" charset="0"/>
              </a:rPr>
              <a:t>MolAnchor</a:t>
            </a:r>
            <a:r>
              <a:rPr lang="en-US" sz="5200" b="1" i="0" dirty="0">
                <a:solidFill>
                  <a:srgbClr val="0F0F0F"/>
                </a:solidFill>
                <a:effectLst/>
                <a:latin typeface="Aptos" panose="020B0004020202020204" pitchFamily="34" charset="0"/>
              </a:rPr>
              <a:t>: </a:t>
            </a:r>
            <a:r>
              <a:rPr lang="en-US" sz="5200" i="0" dirty="0">
                <a:solidFill>
                  <a:srgbClr val="0F0F0F"/>
                </a:solidFill>
                <a:effectLst/>
                <a:latin typeface="Aptos" panose="020B0004020202020204" pitchFamily="34" charset="0"/>
              </a:rPr>
              <a:t>Best for identifying dominant fragments with high precision</a:t>
            </a:r>
          </a:p>
          <a:p>
            <a:pPr marL="571500" indent="-571500">
              <a:spcAft>
                <a:spcPts val="1200"/>
              </a:spcAft>
              <a:buFont typeface="Arial" panose="020B0604020202020204" pitchFamily="34" charset="0"/>
              <a:buChar char="•"/>
            </a:pPr>
            <a:r>
              <a:rPr lang="en-US" sz="5200" b="1" i="0" dirty="0">
                <a:solidFill>
                  <a:srgbClr val="0F0F0F"/>
                </a:solidFill>
                <a:effectLst/>
                <a:latin typeface="Aptos" panose="020B0004020202020204" pitchFamily="34" charset="0"/>
              </a:rPr>
              <a:t>SHAP: </a:t>
            </a:r>
            <a:r>
              <a:rPr lang="en-US" sz="5200" i="0" dirty="0">
                <a:solidFill>
                  <a:srgbClr val="0F0F0F"/>
                </a:solidFill>
                <a:effectLst/>
                <a:latin typeface="Aptos" panose="020B0004020202020204" pitchFamily="34" charset="0"/>
              </a:rPr>
              <a:t>Best for revealing distributed importance and negative contributions</a:t>
            </a:r>
          </a:p>
          <a:p>
            <a:pPr marL="571500" indent="-571500">
              <a:spcAft>
                <a:spcPts val="1200"/>
              </a:spcAft>
              <a:buFont typeface="Arial" panose="020B0604020202020204" pitchFamily="34" charset="0"/>
              <a:buChar char="•"/>
            </a:pPr>
            <a:r>
              <a:rPr lang="en-US" sz="5200" b="1" i="0" dirty="0" err="1">
                <a:solidFill>
                  <a:srgbClr val="0F0F0F"/>
                </a:solidFill>
                <a:effectLst/>
                <a:latin typeface="Aptos" panose="020B0004020202020204" pitchFamily="34" charset="0"/>
              </a:rPr>
              <a:t>MolCE</a:t>
            </a:r>
            <a:r>
              <a:rPr lang="en-US" sz="5200" i="0" dirty="0">
                <a:solidFill>
                  <a:srgbClr val="0F0F0F"/>
                </a:solidFill>
                <a:effectLst/>
                <a:latin typeface="Aptos" panose="020B0004020202020204" pitchFamily="34" charset="0"/>
              </a:rPr>
              <a:t>: Best for identifying contrastive features (what distinguishes active from inactive)</a:t>
            </a:r>
          </a:p>
          <a:p>
            <a:pPr marL="571500" indent="-571500">
              <a:spcAft>
                <a:spcPts val="1200"/>
              </a:spcAft>
              <a:buFont typeface="Arial" panose="020B0604020202020204" pitchFamily="34" charset="0"/>
              <a:buChar char="•"/>
            </a:pPr>
            <a:r>
              <a:rPr lang="en-US" sz="5200" b="1" i="0" dirty="0">
                <a:solidFill>
                  <a:srgbClr val="0F0F0F"/>
                </a:solidFill>
                <a:effectLst/>
                <a:latin typeface="Aptos" panose="020B0004020202020204" pitchFamily="34" charset="0"/>
              </a:rPr>
              <a:t>Counterfactuals: </a:t>
            </a:r>
            <a:r>
              <a:rPr lang="en-US" sz="5200" i="0" dirty="0">
                <a:solidFill>
                  <a:srgbClr val="0F0F0F"/>
                </a:solidFill>
                <a:effectLst/>
                <a:latin typeface="Aptos" panose="020B0004020202020204" pitchFamily="34" charset="0"/>
              </a:rPr>
              <a:t>Best for generating actionable structural modifications</a:t>
            </a:r>
          </a:p>
          <a:p>
            <a:pPr marL="742950" indent="-742950">
              <a:spcAft>
                <a:spcPts val="1200"/>
              </a:spcAft>
              <a:buFont typeface="+mj-lt"/>
              <a:buAutoNum type="arabicPeriod" startAt="4"/>
            </a:pPr>
            <a:r>
              <a:rPr lang="en-US" sz="5200" b="1" i="0" dirty="0">
                <a:solidFill>
                  <a:srgbClr val="0F0F0F"/>
                </a:solidFill>
                <a:effectLst/>
                <a:latin typeface="Aptos" panose="020B0004020202020204" pitchFamily="34" charset="0"/>
              </a:rPr>
              <a:t>Limitation Insight: </a:t>
            </a:r>
            <a:r>
              <a:rPr lang="en-US" sz="5200" i="0" dirty="0" err="1">
                <a:solidFill>
                  <a:srgbClr val="0F0F0F"/>
                </a:solidFill>
                <a:effectLst/>
                <a:latin typeface="Aptos" panose="020B0004020202020204" pitchFamily="34" charset="0"/>
              </a:rPr>
              <a:t>MolAnchor's</a:t>
            </a:r>
            <a:r>
              <a:rPr lang="en-US" sz="5200" i="0" dirty="0">
                <a:solidFill>
                  <a:srgbClr val="0F0F0F"/>
                </a:solidFill>
                <a:effectLst/>
                <a:latin typeface="Aptos" panose="020B0004020202020204" pitchFamily="34" charset="0"/>
              </a:rPr>
              <a:t> single-anchor view may oversimplify; SHAP reveals the benzothiazole's positive contribution that </a:t>
            </a:r>
            <a:r>
              <a:rPr lang="en-US" sz="5200" i="0" dirty="0" err="1">
                <a:solidFill>
                  <a:srgbClr val="0F0F0F"/>
                </a:solidFill>
                <a:effectLst/>
                <a:latin typeface="Aptos" panose="020B0004020202020204" pitchFamily="34" charset="0"/>
              </a:rPr>
              <a:t>MolAnchor</a:t>
            </a:r>
            <a:r>
              <a:rPr lang="en-US" sz="5200" i="0" dirty="0">
                <a:solidFill>
                  <a:srgbClr val="0F0F0F"/>
                </a:solidFill>
                <a:effectLst/>
                <a:latin typeface="Aptos" panose="020B0004020202020204" pitchFamily="34" charset="0"/>
              </a:rPr>
              <a:t> misses. Counterfactuals show that the core scaffold alone is necessary but not sufficient—the N-substituent is the decisive factor.</a:t>
            </a:r>
          </a:p>
          <a:p>
            <a:pPr marL="228600" indent="-228600">
              <a:buFont typeface="+mj-lt"/>
              <a:buAutoNum type="arabicPeriod" startAt="4"/>
            </a:pPr>
            <a:endParaRPr lang="en-US" sz="5400" b="1" i="0" dirty="0">
              <a:solidFill>
                <a:srgbClr val="0F0F0F"/>
              </a:solidFill>
              <a:effectLst/>
              <a:latin typeface="ui-sans-serif"/>
            </a:endParaRPr>
          </a:p>
        </p:txBody>
      </p:sp>
      <p:sp>
        <p:nvSpPr>
          <p:cNvPr id="80" name="TextBox 79">
            <a:extLst>
              <a:ext uri="{FF2B5EF4-FFF2-40B4-BE49-F238E27FC236}">
                <a16:creationId xmlns:a16="http://schemas.microsoft.com/office/drawing/2014/main" id="{4F75911C-6BD0-922D-B821-7CE96BED0CA3}"/>
              </a:ext>
            </a:extLst>
          </p:cNvPr>
          <p:cNvSpPr txBox="1"/>
          <p:nvPr/>
        </p:nvSpPr>
        <p:spPr>
          <a:xfrm>
            <a:off x="17092708" y="42928317"/>
            <a:ext cx="17157371" cy="1015663"/>
          </a:xfrm>
          <a:prstGeom prst="rect">
            <a:avLst/>
          </a:prstGeom>
          <a:noFill/>
        </p:spPr>
        <p:txBody>
          <a:bodyPr wrap="square">
            <a:spAutoFit/>
          </a:bodyPr>
          <a:lstStyle/>
          <a:p>
            <a:pPr algn="ctr"/>
            <a:r>
              <a:rPr lang="en-US" sz="6000" b="1" dirty="0">
                <a:solidFill>
                  <a:srgbClr val="0F0F0F"/>
                </a:solidFill>
                <a:latin typeface="ui-sans-serif"/>
              </a:rPr>
              <a:t>Key takeaways</a:t>
            </a:r>
            <a:endParaRPr lang="en-US" sz="6000" b="1" i="0" dirty="0">
              <a:solidFill>
                <a:srgbClr val="0F0F0F"/>
              </a:solidFill>
              <a:effectLst/>
              <a:latin typeface="ui-sans-serif"/>
            </a:endParaRPr>
          </a:p>
        </p:txBody>
      </p:sp>
      <p:grpSp>
        <p:nvGrpSpPr>
          <p:cNvPr id="7" name="Group 6">
            <a:extLst>
              <a:ext uri="{FF2B5EF4-FFF2-40B4-BE49-F238E27FC236}">
                <a16:creationId xmlns:a16="http://schemas.microsoft.com/office/drawing/2014/main" id="{AE02D07E-FA83-46F7-FBED-29C7C8CFC31A}"/>
              </a:ext>
            </a:extLst>
          </p:cNvPr>
          <p:cNvGrpSpPr/>
          <p:nvPr/>
        </p:nvGrpSpPr>
        <p:grpSpPr>
          <a:xfrm>
            <a:off x="12060852" y="53554910"/>
            <a:ext cx="27221082" cy="923330"/>
            <a:chOff x="13161742" y="35331084"/>
            <a:chExt cx="27221082" cy="923330"/>
          </a:xfrm>
        </p:grpSpPr>
        <p:sp>
          <p:nvSpPr>
            <p:cNvPr id="81" name="Rectangle 80">
              <a:extLst>
                <a:ext uri="{FF2B5EF4-FFF2-40B4-BE49-F238E27FC236}">
                  <a16:creationId xmlns:a16="http://schemas.microsoft.com/office/drawing/2014/main" id="{72807964-5BD9-B45A-64B0-2645DF88EB3B}"/>
                </a:ext>
              </a:extLst>
            </p:cNvPr>
            <p:cNvSpPr/>
            <p:nvPr/>
          </p:nvSpPr>
          <p:spPr>
            <a:xfrm>
              <a:off x="13161742" y="35440946"/>
              <a:ext cx="1646814" cy="703607"/>
            </a:xfrm>
            <a:prstGeom prst="rect">
              <a:avLst/>
            </a:prstGeom>
            <a:solidFill>
              <a:srgbClr val="A6CAE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extLst>
                <a:ext uri="{FF2B5EF4-FFF2-40B4-BE49-F238E27FC236}">
                  <a16:creationId xmlns:a16="http://schemas.microsoft.com/office/drawing/2014/main" id="{EACA069E-8CED-5E8A-69B1-E9F4FC24041A}"/>
                </a:ext>
              </a:extLst>
            </p:cNvPr>
            <p:cNvSpPr txBox="1"/>
            <p:nvPr/>
          </p:nvSpPr>
          <p:spPr>
            <a:xfrm>
              <a:off x="13960804" y="35331084"/>
              <a:ext cx="6199523" cy="923330"/>
            </a:xfrm>
            <a:prstGeom prst="rect">
              <a:avLst/>
            </a:prstGeom>
            <a:noFill/>
          </p:spPr>
          <p:txBody>
            <a:bodyPr wrap="square" rtlCol="0">
              <a:spAutoFit/>
            </a:bodyPr>
            <a:lstStyle/>
            <a:p>
              <a:pPr algn="ctr"/>
              <a:r>
                <a:rPr lang="en-US" sz="5400" dirty="0"/>
                <a:t>User prompt</a:t>
              </a:r>
            </a:p>
          </p:txBody>
        </p:sp>
        <p:sp>
          <p:nvSpPr>
            <p:cNvPr id="83" name="Rectangle 82">
              <a:extLst>
                <a:ext uri="{FF2B5EF4-FFF2-40B4-BE49-F238E27FC236}">
                  <a16:creationId xmlns:a16="http://schemas.microsoft.com/office/drawing/2014/main" id="{083E7B6A-0D88-EE7A-862D-CD52DE210854}"/>
                </a:ext>
              </a:extLst>
            </p:cNvPr>
            <p:cNvSpPr/>
            <p:nvPr/>
          </p:nvSpPr>
          <p:spPr>
            <a:xfrm>
              <a:off x="25749158" y="35440946"/>
              <a:ext cx="1646814" cy="70360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TextBox 83">
              <a:extLst>
                <a:ext uri="{FF2B5EF4-FFF2-40B4-BE49-F238E27FC236}">
                  <a16:creationId xmlns:a16="http://schemas.microsoft.com/office/drawing/2014/main" id="{358AE044-1305-34FC-BBC0-450EF8C6264C}"/>
                </a:ext>
              </a:extLst>
            </p:cNvPr>
            <p:cNvSpPr txBox="1"/>
            <p:nvPr/>
          </p:nvSpPr>
          <p:spPr>
            <a:xfrm>
              <a:off x="26376770" y="35331084"/>
              <a:ext cx="8218539" cy="923330"/>
            </a:xfrm>
            <a:prstGeom prst="rect">
              <a:avLst/>
            </a:prstGeom>
            <a:noFill/>
          </p:spPr>
          <p:txBody>
            <a:bodyPr wrap="square" rtlCol="0">
              <a:spAutoFit/>
            </a:bodyPr>
            <a:lstStyle/>
            <a:p>
              <a:pPr algn="ctr"/>
              <a:r>
                <a:rPr lang="en-US" sz="5400" dirty="0"/>
                <a:t>Response &amp; output</a:t>
              </a:r>
            </a:p>
          </p:txBody>
        </p:sp>
        <p:sp>
          <p:nvSpPr>
            <p:cNvPr id="86" name="Rectangle 85">
              <a:extLst>
                <a:ext uri="{FF2B5EF4-FFF2-40B4-BE49-F238E27FC236}">
                  <a16:creationId xmlns:a16="http://schemas.microsoft.com/office/drawing/2014/main" id="{350C722C-59C7-EC1B-EC99-E1777E1494CE}"/>
                </a:ext>
              </a:extLst>
            </p:cNvPr>
            <p:cNvSpPr/>
            <p:nvPr/>
          </p:nvSpPr>
          <p:spPr>
            <a:xfrm>
              <a:off x="34204757" y="35440946"/>
              <a:ext cx="1646814" cy="703607"/>
            </a:xfrm>
            <a:prstGeom prst="rect">
              <a:avLst/>
            </a:prstGeom>
            <a:solidFill>
              <a:srgbClr val="B4E5A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TextBox 86">
              <a:extLst>
                <a:ext uri="{FF2B5EF4-FFF2-40B4-BE49-F238E27FC236}">
                  <a16:creationId xmlns:a16="http://schemas.microsoft.com/office/drawing/2014/main" id="{24FCF701-8B21-25B2-2AE4-BF962FF75654}"/>
                </a:ext>
              </a:extLst>
            </p:cNvPr>
            <p:cNvSpPr txBox="1"/>
            <p:nvPr/>
          </p:nvSpPr>
          <p:spPr>
            <a:xfrm>
              <a:off x="35326982" y="35331084"/>
              <a:ext cx="5055842" cy="923330"/>
            </a:xfrm>
            <a:prstGeom prst="rect">
              <a:avLst/>
            </a:prstGeom>
            <a:noFill/>
          </p:spPr>
          <p:txBody>
            <a:bodyPr wrap="square" rtlCol="0">
              <a:spAutoFit/>
            </a:bodyPr>
            <a:lstStyle/>
            <a:p>
              <a:pPr algn="ctr"/>
              <a:r>
                <a:rPr lang="en-US" sz="5400" dirty="0"/>
                <a:t>Discussion</a:t>
              </a:r>
            </a:p>
          </p:txBody>
        </p:sp>
        <p:sp>
          <p:nvSpPr>
            <p:cNvPr id="5" name="Rectangle 4">
              <a:extLst>
                <a:ext uri="{FF2B5EF4-FFF2-40B4-BE49-F238E27FC236}">
                  <a16:creationId xmlns:a16="http://schemas.microsoft.com/office/drawing/2014/main" id="{A2B5BA64-5C49-72B3-4807-202BB7511121}"/>
                </a:ext>
              </a:extLst>
            </p:cNvPr>
            <p:cNvSpPr/>
            <p:nvPr/>
          </p:nvSpPr>
          <p:spPr>
            <a:xfrm>
              <a:off x="19941225" y="35440946"/>
              <a:ext cx="1646814" cy="703607"/>
            </a:xfrm>
            <a:prstGeom prst="rect">
              <a:avLst/>
            </a:prstGeom>
            <a:solidFill>
              <a:srgbClr val="D9D9D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6" name="TextBox 5">
              <a:extLst>
                <a:ext uri="{FF2B5EF4-FFF2-40B4-BE49-F238E27FC236}">
                  <a16:creationId xmlns:a16="http://schemas.microsoft.com/office/drawing/2014/main" id="{0B838B24-BA64-D5F2-D98D-5C4BC2C2CAD6}"/>
                </a:ext>
              </a:extLst>
            </p:cNvPr>
            <p:cNvSpPr txBox="1"/>
            <p:nvPr/>
          </p:nvSpPr>
          <p:spPr>
            <a:xfrm>
              <a:off x="20283087" y="35331084"/>
              <a:ext cx="6199523" cy="923330"/>
            </a:xfrm>
            <a:prstGeom prst="rect">
              <a:avLst/>
            </a:prstGeom>
            <a:noFill/>
          </p:spPr>
          <p:txBody>
            <a:bodyPr wrap="square" rtlCol="0">
              <a:spAutoFit/>
            </a:bodyPr>
            <a:lstStyle/>
            <a:p>
              <a:pPr algn="ctr"/>
              <a:r>
                <a:rPr lang="en-US" sz="5400" dirty="0"/>
                <a:t>Tool calls</a:t>
              </a:r>
            </a:p>
          </p:txBody>
        </p:sp>
      </p:grpSp>
      <p:grpSp>
        <p:nvGrpSpPr>
          <p:cNvPr id="103" name="Group 102">
            <a:extLst>
              <a:ext uri="{FF2B5EF4-FFF2-40B4-BE49-F238E27FC236}">
                <a16:creationId xmlns:a16="http://schemas.microsoft.com/office/drawing/2014/main" id="{686AEDAD-7926-E065-5CEF-0258F653ADAC}"/>
              </a:ext>
            </a:extLst>
          </p:cNvPr>
          <p:cNvGrpSpPr/>
          <p:nvPr/>
        </p:nvGrpSpPr>
        <p:grpSpPr>
          <a:xfrm>
            <a:off x="4728070" y="2817285"/>
            <a:ext cx="41369126" cy="4270163"/>
            <a:chOff x="6759985" y="11876103"/>
            <a:chExt cx="41369126" cy="4270163"/>
          </a:xfrm>
        </p:grpSpPr>
        <p:sp>
          <p:nvSpPr>
            <p:cNvPr id="3" name="Rectangle: Rounded Corners 2">
              <a:extLst>
                <a:ext uri="{FF2B5EF4-FFF2-40B4-BE49-F238E27FC236}">
                  <a16:creationId xmlns:a16="http://schemas.microsoft.com/office/drawing/2014/main" id="{465AE2D3-52C5-2D04-D846-EC865A9F4DC7}"/>
                </a:ext>
              </a:extLst>
            </p:cNvPr>
            <p:cNvSpPr/>
            <p:nvPr/>
          </p:nvSpPr>
          <p:spPr>
            <a:xfrm>
              <a:off x="6759985" y="12124268"/>
              <a:ext cx="7772400"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solidFill>
                    <a:schemeClr val="tx1"/>
                  </a:solidFill>
                </a:rPr>
                <a:t>Find dataset</a:t>
              </a:r>
            </a:p>
          </p:txBody>
        </p:sp>
        <p:sp>
          <p:nvSpPr>
            <p:cNvPr id="4" name="Rectangle: Rounded Corners 3">
              <a:extLst>
                <a:ext uri="{FF2B5EF4-FFF2-40B4-BE49-F238E27FC236}">
                  <a16:creationId xmlns:a16="http://schemas.microsoft.com/office/drawing/2014/main" id="{6DB85F9D-5273-DCFF-C989-7562C2561479}"/>
                </a:ext>
              </a:extLst>
            </p:cNvPr>
            <p:cNvSpPr/>
            <p:nvPr/>
          </p:nvSpPr>
          <p:spPr>
            <a:xfrm>
              <a:off x="6759985" y="14558075"/>
              <a:ext cx="7772400"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solidFill>
                    <a:schemeClr val="tx1"/>
                  </a:solidFill>
                </a:rPr>
                <a:t>Load dataset</a:t>
              </a:r>
            </a:p>
          </p:txBody>
        </p:sp>
        <p:sp>
          <p:nvSpPr>
            <p:cNvPr id="8" name="Rectangle: Rounded Corners 7">
              <a:extLst>
                <a:ext uri="{FF2B5EF4-FFF2-40B4-BE49-F238E27FC236}">
                  <a16:creationId xmlns:a16="http://schemas.microsoft.com/office/drawing/2014/main" id="{872B3574-1A6E-95E9-EEA3-C496E1B2F4CE}"/>
                </a:ext>
              </a:extLst>
            </p:cNvPr>
            <p:cNvSpPr/>
            <p:nvPr/>
          </p:nvSpPr>
          <p:spPr>
            <a:xfrm>
              <a:off x="15159167" y="14558075"/>
              <a:ext cx="7772400"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solidFill>
                    <a:schemeClr val="tx1"/>
                  </a:solidFill>
                </a:rPr>
                <a:t>Compute features</a:t>
              </a:r>
            </a:p>
          </p:txBody>
        </p:sp>
        <p:sp>
          <p:nvSpPr>
            <p:cNvPr id="9" name="Rectangle: Rounded Corners 8">
              <a:extLst>
                <a:ext uri="{FF2B5EF4-FFF2-40B4-BE49-F238E27FC236}">
                  <a16:creationId xmlns:a16="http://schemas.microsoft.com/office/drawing/2014/main" id="{AB67E2D9-9E9D-F863-4BAE-D1ACB7A59896}"/>
                </a:ext>
              </a:extLst>
            </p:cNvPr>
            <p:cNvSpPr/>
            <p:nvPr/>
          </p:nvSpPr>
          <p:spPr>
            <a:xfrm>
              <a:off x="15159167" y="12124268"/>
              <a:ext cx="7772400"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solidFill>
                    <a:schemeClr val="tx1"/>
                  </a:solidFill>
                </a:rPr>
                <a:t>Split dataset</a:t>
              </a:r>
            </a:p>
          </p:txBody>
        </p:sp>
        <p:sp>
          <p:nvSpPr>
            <p:cNvPr id="10" name="Rectangle: Rounded Corners 9">
              <a:extLst>
                <a:ext uri="{FF2B5EF4-FFF2-40B4-BE49-F238E27FC236}">
                  <a16:creationId xmlns:a16="http://schemas.microsoft.com/office/drawing/2014/main" id="{1344948B-9127-5D85-04AF-9E27623C51DB}"/>
                </a:ext>
              </a:extLst>
            </p:cNvPr>
            <p:cNvSpPr/>
            <p:nvPr/>
          </p:nvSpPr>
          <p:spPr>
            <a:xfrm>
              <a:off x="23558349" y="12124268"/>
              <a:ext cx="7772400"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solidFill>
                    <a:schemeClr val="tx1"/>
                  </a:solidFill>
                </a:rPr>
                <a:t>Train model</a:t>
              </a:r>
            </a:p>
          </p:txBody>
        </p:sp>
        <p:sp>
          <p:nvSpPr>
            <p:cNvPr id="12" name="Rectangle: Rounded Corners 11">
              <a:extLst>
                <a:ext uri="{FF2B5EF4-FFF2-40B4-BE49-F238E27FC236}">
                  <a16:creationId xmlns:a16="http://schemas.microsoft.com/office/drawing/2014/main" id="{9B31298B-CDEF-CDC2-2977-DCA4EAA13569}"/>
                </a:ext>
              </a:extLst>
            </p:cNvPr>
            <p:cNvSpPr/>
            <p:nvPr/>
          </p:nvSpPr>
          <p:spPr>
            <a:xfrm>
              <a:off x="23558349" y="14309910"/>
              <a:ext cx="7772400"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solidFill>
                    <a:schemeClr val="tx1"/>
                  </a:solidFill>
                </a:rPr>
                <a:t>Explain with </a:t>
              </a:r>
              <a:r>
                <a:rPr lang="en-US" sz="6000" dirty="0" err="1">
                  <a:solidFill>
                    <a:schemeClr val="tx1"/>
                  </a:solidFill>
                </a:rPr>
                <a:t>molanchor</a:t>
              </a:r>
              <a:endParaRPr lang="en-US" sz="6000" dirty="0">
                <a:solidFill>
                  <a:schemeClr val="tx1"/>
                </a:solidFill>
              </a:endParaRPr>
            </a:p>
          </p:txBody>
        </p:sp>
        <p:sp>
          <p:nvSpPr>
            <p:cNvPr id="13" name="Rectangle: Rounded Corners 12">
              <a:extLst>
                <a:ext uri="{FF2B5EF4-FFF2-40B4-BE49-F238E27FC236}">
                  <a16:creationId xmlns:a16="http://schemas.microsoft.com/office/drawing/2014/main" id="{A2D69792-6240-2A88-CEB7-39F07C646BE7}"/>
                </a:ext>
              </a:extLst>
            </p:cNvPr>
            <p:cNvSpPr/>
            <p:nvPr/>
          </p:nvSpPr>
          <p:spPr>
            <a:xfrm>
              <a:off x="31957531" y="14308322"/>
              <a:ext cx="7772400" cy="1837944"/>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solidFill>
                    <a:schemeClr val="tx1"/>
                  </a:solidFill>
                </a:rPr>
                <a:t>Explain smiles with SHAP</a:t>
              </a:r>
            </a:p>
          </p:txBody>
        </p:sp>
        <p:cxnSp>
          <p:nvCxnSpPr>
            <p:cNvPr id="16" name="Straight Arrow Connector 15">
              <a:extLst>
                <a:ext uri="{FF2B5EF4-FFF2-40B4-BE49-F238E27FC236}">
                  <a16:creationId xmlns:a16="http://schemas.microsoft.com/office/drawing/2014/main" id="{0EB09105-A603-3792-FA56-C202D530844E}"/>
                </a:ext>
              </a:extLst>
            </p:cNvPr>
            <p:cNvCxnSpPr>
              <a:cxnSpLocks/>
              <a:stCxn id="3" idx="2"/>
              <a:endCxn id="4" idx="0"/>
            </p:cNvCxnSpPr>
            <p:nvPr/>
          </p:nvCxnSpPr>
          <p:spPr>
            <a:xfrm>
              <a:off x="10646185" y="13462707"/>
              <a:ext cx="0" cy="1095368"/>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826109EB-84B7-25A1-4C4D-5E40E7C05280}"/>
                </a:ext>
              </a:extLst>
            </p:cNvPr>
            <p:cNvCxnSpPr>
              <a:cxnSpLocks/>
              <a:stCxn id="4" idx="3"/>
              <a:endCxn id="8" idx="1"/>
            </p:cNvCxnSpPr>
            <p:nvPr/>
          </p:nvCxnSpPr>
          <p:spPr>
            <a:xfrm>
              <a:off x="14532385" y="15227295"/>
              <a:ext cx="626782"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FE9E200C-F61C-E3BC-C813-973305E697A5}"/>
                </a:ext>
              </a:extLst>
            </p:cNvPr>
            <p:cNvCxnSpPr>
              <a:cxnSpLocks/>
              <a:stCxn id="8" idx="0"/>
              <a:endCxn id="9" idx="2"/>
            </p:cNvCxnSpPr>
            <p:nvPr/>
          </p:nvCxnSpPr>
          <p:spPr>
            <a:xfrm flipV="1">
              <a:off x="19045367" y="13462707"/>
              <a:ext cx="0" cy="1095368"/>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2" name="Straight Arrow Connector 31">
              <a:extLst>
                <a:ext uri="{FF2B5EF4-FFF2-40B4-BE49-F238E27FC236}">
                  <a16:creationId xmlns:a16="http://schemas.microsoft.com/office/drawing/2014/main" id="{6B958271-883F-8940-76BB-8AF8F00A9DC4}"/>
                </a:ext>
              </a:extLst>
            </p:cNvPr>
            <p:cNvCxnSpPr>
              <a:cxnSpLocks/>
              <a:stCxn id="9" idx="3"/>
              <a:endCxn id="10" idx="1"/>
            </p:cNvCxnSpPr>
            <p:nvPr/>
          </p:nvCxnSpPr>
          <p:spPr>
            <a:xfrm>
              <a:off x="22931567" y="12793488"/>
              <a:ext cx="626782"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8" name="Straight Arrow Connector 37">
              <a:extLst>
                <a:ext uri="{FF2B5EF4-FFF2-40B4-BE49-F238E27FC236}">
                  <a16:creationId xmlns:a16="http://schemas.microsoft.com/office/drawing/2014/main" id="{14B6177B-6EC6-A0F4-463E-CAAB2559ADE4}"/>
                </a:ext>
              </a:extLst>
            </p:cNvPr>
            <p:cNvCxnSpPr>
              <a:cxnSpLocks/>
              <a:stCxn id="10" idx="2"/>
              <a:endCxn id="12" idx="0"/>
            </p:cNvCxnSpPr>
            <p:nvPr/>
          </p:nvCxnSpPr>
          <p:spPr>
            <a:xfrm>
              <a:off x="27444549" y="13462707"/>
              <a:ext cx="0" cy="84720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617806EB-FC1C-9A83-BF43-2E984DA88F27}"/>
                </a:ext>
              </a:extLst>
            </p:cNvPr>
            <p:cNvCxnSpPr>
              <a:cxnSpLocks/>
              <a:stCxn id="12" idx="3"/>
              <a:endCxn id="13" idx="1"/>
            </p:cNvCxnSpPr>
            <p:nvPr/>
          </p:nvCxnSpPr>
          <p:spPr>
            <a:xfrm flipV="1">
              <a:off x="31330749" y="15227294"/>
              <a:ext cx="626782" cy="1"/>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11" name="Rectangle: Rounded Corners 10">
              <a:extLst>
                <a:ext uri="{FF2B5EF4-FFF2-40B4-BE49-F238E27FC236}">
                  <a16:creationId xmlns:a16="http://schemas.microsoft.com/office/drawing/2014/main" id="{B9E2F0D2-758C-ADDA-FB1D-86150C43DBFB}"/>
                </a:ext>
              </a:extLst>
            </p:cNvPr>
            <p:cNvSpPr/>
            <p:nvPr/>
          </p:nvSpPr>
          <p:spPr>
            <a:xfrm>
              <a:off x="31957531" y="11876103"/>
              <a:ext cx="7772400"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solidFill>
                    <a:schemeClr val="tx1"/>
                  </a:solidFill>
                </a:rPr>
                <a:t>Explain with </a:t>
              </a:r>
              <a:r>
                <a:rPr lang="en-US" sz="6000" dirty="0" err="1">
                  <a:solidFill>
                    <a:schemeClr val="tx1"/>
                  </a:solidFill>
                </a:rPr>
                <a:t>MolCE</a:t>
              </a:r>
              <a:endParaRPr lang="en-US" sz="6000" dirty="0">
                <a:solidFill>
                  <a:schemeClr val="tx1"/>
                </a:solidFill>
              </a:endParaRPr>
            </a:p>
          </p:txBody>
        </p:sp>
        <p:sp>
          <p:nvSpPr>
            <p:cNvPr id="15" name="Rectangle: Rounded Corners 14">
              <a:extLst>
                <a:ext uri="{FF2B5EF4-FFF2-40B4-BE49-F238E27FC236}">
                  <a16:creationId xmlns:a16="http://schemas.microsoft.com/office/drawing/2014/main" id="{B8F65186-81B1-D1B8-C13F-3957238F2887}"/>
                </a:ext>
              </a:extLst>
            </p:cNvPr>
            <p:cNvSpPr/>
            <p:nvPr/>
          </p:nvSpPr>
          <p:spPr>
            <a:xfrm>
              <a:off x="40356711" y="11876103"/>
              <a:ext cx="7772400"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solidFill>
                    <a:schemeClr val="tx1"/>
                  </a:solidFill>
                </a:rPr>
                <a:t>Generate counterfactuals</a:t>
              </a:r>
            </a:p>
          </p:txBody>
        </p:sp>
        <p:cxnSp>
          <p:nvCxnSpPr>
            <p:cNvPr id="21" name="Straight Arrow Connector 20">
              <a:extLst>
                <a:ext uri="{FF2B5EF4-FFF2-40B4-BE49-F238E27FC236}">
                  <a16:creationId xmlns:a16="http://schemas.microsoft.com/office/drawing/2014/main" id="{C494FD80-29C3-EE6B-FDB2-9A808DC94B6F}"/>
                </a:ext>
              </a:extLst>
            </p:cNvPr>
            <p:cNvCxnSpPr>
              <a:cxnSpLocks/>
              <a:stCxn id="13" idx="0"/>
              <a:endCxn id="11" idx="2"/>
            </p:cNvCxnSpPr>
            <p:nvPr/>
          </p:nvCxnSpPr>
          <p:spPr>
            <a:xfrm flipV="1">
              <a:off x="35843731" y="13710872"/>
              <a:ext cx="0" cy="59745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34" name="Rectangle: Rounded Corners 33">
              <a:extLst>
                <a:ext uri="{FF2B5EF4-FFF2-40B4-BE49-F238E27FC236}">
                  <a16:creationId xmlns:a16="http://schemas.microsoft.com/office/drawing/2014/main" id="{87FD3E7C-BE4B-8079-4E21-3CAB73D84A8F}"/>
                </a:ext>
              </a:extLst>
            </p:cNvPr>
            <p:cNvSpPr/>
            <p:nvPr/>
          </p:nvSpPr>
          <p:spPr>
            <a:xfrm>
              <a:off x="40356711" y="14308322"/>
              <a:ext cx="7772400" cy="1837944"/>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dirty="0">
                  <a:solidFill>
                    <a:schemeClr val="tx1"/>
                  </a:solidFill>
                </a:rPr>
                <a:t>Get top k bit environments</a:t>
              </a:r>
            </a:p>
          </p:txBody>
        </p:sp>
        <p:cxnSp>
          <p:nvCxnSpPr>
            <p:cNvPr id="43" name="Straight Arrow Connector 42">
              <a:extLst>
                <a:ext uri="{FF2B5EF4-FFF2-40B4-BE49-F238E27FC236}">
                  <a16:creationId xmlns:a16="http://schemas.microsoft.com/office/drawing/2014/main" id="{6B52E9F8-65B2-1599-AE34-E1A6FD0F09B4}"/>
                </a:ext>
              </a:extLst>
            </p:cNvPr>
            <p:cNvCxnSpPr>
              <a:cxnSpLocks/>
              <a:stCxn id="11" idx="3"/>
              <a:endCxn id="15" idx="1"/>
            </p:cNvCxnSpPr>
            <p:nvPr/>
          </p:nvCxnSpPr>
          <p:spPr>
            <a:xfrm>
              <a:off x="39729931" y="12793488"/>
              <a:ext cx="626780"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47" name="Straight Arrow Connector 46">
              <a:extLst>
                <a:ext uri="{FF2B5EF4-FFF2-40B4-BE49-F238E27FC236}">
                  <a16:creationId xmlns:a16="http://schemas.microsoft.com/office/drawing/2014/main" id="{1E37A21C-5BCA-35D4-54D6-C61119FAA409}"/>
                </a:ext>
              </a:extLst>
            </p:cNvPr>
            <p:cNvCxnSpPr>
              <a:cxnSpLocks/>
              <a:stCxn id="15" idx="2"/>
              <a:endCxn id="34" idx="0"/>
            </p:cNvCxnSpPr>
            <p:nvPr/>
          </p:nvCxnSpPr>
          <p:spPr>
            <a:xfrm>
              <a:off x="44242911" y="13710872"/>
              <a:ext cx="0" cy="59745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grpSp>
      <p:sp>
        <p:nvSpPr>
          <p:cNvPr id="64" name="TextBox 63">
            <a:extLst>
              <a:ext uri="{FF2B5EF4-FFF2-40B4-BE49-F238E27FC236}">
                <a16:creationId xmlns:a16="http://schemas.microsoft.com/office/drawing/2014/main" id="{375CDCAE-E997-6AB6-EE31-7EEA0E2E635E}"/>
              </a:ext>
            </a:extLst>
          </p:cNvPr>
          <p:cNvSpPr txBox="1"/>
          <p:nvPr/>
        </p:nvSpPr>
        <p:spPr>
          <a:xfrm>
            <a:off x="33235830" y="8975410"/>
            <a:ext cx="6310257" cy="923330"/>
          </a:xfrm>
          <a:prstGeom prst="rect">
            <a:avLst/>
          </a:prstGeom>
          <a:noFill/>
        </p:spPr>
        <p:txBody>
          <a:bodyPr wrap="square" rtlCol="0">
            <a:spAutoFit/>
          </a:bodyPr>
          <a:lstStyle/>
          <a:p>
            <a:pPr algn="ctr"/>
            <a:r>
              <a:rPr lang="en-US" sz="5400" b="1" dirty="0"/>
              <a:t>SHAP</a:t>
            </a:r>
            <a:endParaRPr lang="de-DE" sz="5400" b="1" dirty="0"/>
          </a:p>
        </p:txBody>
      </p:sp>
      <p:sp>
        <p:nvSpPr>
          <p:cNvPr id="63" name="TextBox 62">
            <a:extLst>
              <a:ext uri="{FF2B5EF4-FFF2-40B4-BE49-F238E27FC236}">
                <a16:creationId xmlns:a16="http://schemas.microsoft.com/office/drawing/2014/main" id="{6A5C72D7-D885-252B-9D5B-8FCC3218E83B}"/>
              </a:ext>
            </a:extLst>
          </p:cNvPr>
          <p:cNvSpPr txBox="1"/>
          <p:nvPr/>
        </p:nvSpPr>
        <p:spPr>
          <a:xfrm>
            <a:off x="11591496" y="8975410"/>
            <a:ext cx="6603459" cy="923330"/>
          </a:xfrm>
          <a:prstGeom prst="rect">
            <a:avLst/>
          </a:prstGeom>
          <a:noFill/>
        </p:spPr>
        <p:txBody>
          <a:bodyPr wrap="square" rtlCol="0">
            <a:spAutoFit/>
          </a:bodyPr>
          <a:lstStyle/>
          <a:p>
            <a:pPr algn="ctr"/>
            <a:r>
              <a:rPr lang="en-US" sz="5400" b="1" dirty="0" err="1"/>
              <a:t>MolAnchor</a:t>
            </a:r>
            <a:endParaRPr lang="de-DE" sz="5400" b="1" dirty="0"/>
          </a:p>
        </p:txBody>
      </p:sp>
      <p:pic>
        <p:nvPicPr>
          <p:cNvPr id="52" name="Picture 51">
            <a:extLst>
              <a:ext uri="{FF2B5EF4-FFF2-40B4-BE49-F238E27FC236}">
                <a16:creationId xmlns:a16="http://schemas.microsoft.com/office/drawing/2014/main" id="{205590DA-02DC-2BC3-5EB1-2191FD671C52}"/>
              </a:ext>
            </a:extLst>
          </p:cNvPr>
          <p:cNvPicPr>
            <a:picLocks noChangeAspect="1"/>
          </p:cNvPicPr>
          <p:nvPr/>
        </p:nvPicPr>
        <p:blipFill>
          <a:blip r:embed="rId3">
            <a:extLst>
              <a:ext uri="{28A0092B-C50C-407E-A947-70E740481C1C}">
                <a14:useLocalDpi xmlns:a14="http://schemas.microsoft.com/office/drawing/2010/main" val="0"/>
              </a:ext>
            </a:extLst>
          </a:blip>
          <a:srcRect l="4656" t="21016" r="3144" b="22505"/>
          <a:stretch/>
        </p:blipFill>
        <p:spPr>
          <a:xfrm>
            <a:off x="9388797" y="9802783"/>
            <a:ext cx="11008857" cy="6743741"/>
          </a:xfrm>
          <a:prstGeom prst="rect">
            <a:avLst/>
          </a:prstGeom>
        </p:spPr>
      </p:pic>
      <p:pic>
        <p:nvPicPr>
          <p:cNvPr id="55" name="Picture 54">
            <a:extLst>
              <a:ext uri="{FF2B5EF4-FFF2-40B4-BE49-F238E27FC236}">
                <a16:creationId xmlns:a16="http://schemas.microsoft.com/office/drawing/2014/main" id="{377B645A-806B-0951-E881-FFC87314EA36}"/>
              </a:ext>
            </a:extLst>
          </p:cNvPr>
          <p:cNvPicPr>
            <a:picLocks noChangeAspect="1"/>
          </p:cNvPicPr>
          <p:nvPr/>
        </p:nvPicPr>
        <p:blipFill>
          <a:blip r:embed="rId4">
            <a:extLst>
              <a:ext uri="{28A0092B-C50C-407E-A947-70E740481C1C}">
                <a14:useLocalDpi xmlns:a14="http://schemas.microsoft.com/office/drawing/2010/main" val="0"/>
              </a:ext>
            </a:extLst>
          </a:blip>
          <a:srcRect l="11525" t="17564" r="10242" b="16495"/>
          <a:stretch/>
        </p:blipFill>
        <p:spPr>
          <a:xfrm>
            <a:off x="30886530" y="9856962"/>
            <a:ext cx="11008857" cy="6959310"/>
          </a:xfrm>
          <a:prstGeom prst="rect">
            <a:avLst/>
          </a:prstGeom>
        </p:spPr>
      </p:pic>
      <p:sp>
        <p:nvSpPr>
          <p:cNvPr id="70" name="TextBox 69">
            <a:extLst>
              <a:ext uri="{FF2B5EF4-FFF2-40B4-BE49-F238E27FC236}">
                <a16:creationId xmlns:a16="http://schemas.microsoft.com/office/drawing/2014/main" id="{F75F65F4-FB7F-51FF-4984-C82E951ABDA0}"/>
              </a:ext>
            </a:extLst>
          </p:cNvPr>
          <p:cNvSpPr txBox="1"/>
          <p:nvPr/>
        </p:nvSpPr>
        <p:spPr>
          <a:xfrm>
            <a:off x="4631351" y="16926133"/>
            <a:ext cx="20523749" cy="7201972"/>
          </a:xfrm>
          <a:prstGeom prst="rect">
            <a:avLst/>
          </a:prstGeom>
          <a:noFill/>
        </p:spPr>
        <p:txBody>
          <a:bodyPr wrap="square">
            <a:spAutoFit/>
          </a:bodyPr>
          <a:lstStyle/>
          <a:p>
            <a:pPr>
              <a:spcAft>
                <a:spcPts val="1200"/>
              </a:spcAft>
            </a:pPr>
            <a:r>
              <a:rPr lang="en-US" sz="5400" b="1" dirty="0"/>
              <a:t>✅ AGREEMENTS (</a:t>
            </a:r>
            <a:r>
              <a:rPr lang="en-US" sz="5400" b="1" dirty="0" err="1"/>
              <a:t>MolAnchor</a:t>
            </a:r>
            <a:r>
              <a:rPr lang="en-US" sz="5400" b="1" dirty="0"/>
              <a:t> ↔ SHAP)</a:t>
            </a:r>
          </a:p>
          <a:p>
            <a:pPr marL="742950" indent="-742950" algn="just">
              <a:spcAft>
                <a:spcPts val="1200"/>
              </a:spcAft>
              <a:buFont typeface="+mj-lt"/>
              <a:buAutoNum type="arabicPeriod"/>
            </a:pPr>
            <a:r>
              <a:rPr lang="en-US" sz="5400" b="1" dirty="0"/>
              <a:t>Core scaffold importance: </a:t>
            </a:r>
            <a:r>
              <a:rPr lang="en-US" sz="5400" dirty="0"/>
              <a:t>Both methods identify the piperazine/benzyl core as critical</a:t>
            </a:r>
          </a:p>
          <a:p>
            <a:pPr marL="742950" indent="-742950" algn="just">
              <a:spcAft>
                <a:spcPts val="1200"/>
              </a:spcAft>
              <a:buFont typeface="+mj-lt"/>
              <a:buAutoNum type="arabicPeriod"/>
            </a:pPr>
            <a:r>
              <a:rPr lang="en-US" sz="5400" b="1" dirty="0"/>
              <a:t>N-methyl motif: </a:t>
            </a:r>
            <a:r>
              <a:rPr lang="en-US" sz="5400" dirty="0"/>
              <a:t>SHAP's top features (Bits 1280, 1791, 1792) all involve the N-methyl/benzyl-dimethylamine region captured by </a:t>
            </a:r>
            <a:r>
              <a:rPr lang="en-US" sz="5400" dirty="0" err="1"/>
              <a:t>MolAnchor's</a:t>
            </a:r>
            <a:r>
              <a:rPr lang="en-US" sz="5400" dirty="0"/>
              <a:t> anchor</a:t>
            </a:r>
          </a:p>
          <a:p>
            <a:pPr marL="742950" indent="-742950" algn="just">
              <a:spcAft>
                <a:spcPts val="1200"/>
              </a:spcAft>
              <a:buFont typeface="+mj-lt"/>
              <a:buAutoNum type="arabicPeriod"/>
            </a:pPr>
            <a:r>
              <a:rPr lang="en-US" sz="5400" b="1" dirty="0"/>
              <a:t>Pharmacophore consensus</a:t>
            </a:r>
            <a:r>
              <a:rPr lang="en-US" sz="5400" dirty="0"/>
              <a:t>: Both confirm the morpholinone-piperazine-benzyl framework is essential for D2 binding</a:t>
            </a:r>
          </a:p>
        </p:txBody>
      </p:sp>
      <p:sp>
        <p:nvSpPr>
          <p:cNvPr id="76" name="TextBox 75">
            <a:extLst>
              <a:ext uri="{FF2B5EF4-FFF2-40B4-BE49-F238E27FC236}">
                <a16:creationId xmlns:a16="http://schemas.microsoft.com/office/drawing/2014/main" id="{7E7006D0-478E-9B07-8E29-CFFE8A3BC008}"/>
              </a:ext>
            </a:extLst>
          </p:cNvPr>
          <p:cNvSpPr txBox="1"/>
          <p:nvPr/>
        </p:nvSpPr>
        <p:spPr>
          <a:xfrm>
            <a:off x="26789758" y="16926133"/>
            <a:ext cx="19202400" cy="637097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a:pPr>
            <a:r>
              <a:rPr kumimoji="0" lang="en-US" sz="5400" b="1" i="0" u="none" strike="noStrike" kern="1200" cap="none" spc="0" normalizeH="0" baseline="0" noProof="0" dirty="0">
                <a:ln>
                  <a:noFill/>
                </a:ln>
                <a:solidFill>
                  <a:prstClr val="black"/>
                </a:solidFill>
                <a:effectLst/>
                <a:uLnTx/>
                <a:uFillTx/>
                <a:latin typeface="Aptos" panose="02110004020202020204"/>
                <a:ea typeface="+mn-ea"/>
                <a:cs typeface="+mn-cs"/>
              </a:rPr>
              <a:t>❌ DISAGREEMENTS (</a:t>
            </a:r>
            <a:r>
              <a:rPr kumimoji="0" lang="en-US" sz="5400" b="1" i="0" u="none" strike="noStrike" kern="1200" cap="none" spc="0" normalizeH="0" baseline="0" noProof="0" dirty="0" err="1">
                <a:ln>
                  <a:noFill/>
                </a:ln>
                <a:solidFill>
                  <a:prstClr val="black"/>
                </a:solidFill>
                <a:effectLst/>
                <a:uLnTx/>
                <a:uFillTx/>
                <a:latin typeface="Aptos" panose="02110004020202020204"/>
                <a:ea typeface="+mn-ea"/>
                <a:cs typeface="+mn-cs"/>
              </a:rPr>
              <a:t>MolAnchor</a:t>
            </a:r>
            <a:r>
              <a:rPr kumimoji="0" lang="en-US" sz="5400" b="1" i="0" u="none" strike="noStrike" kern="1200" cap="none" spc="0" normalizeH="0" baseline="0" noProof="0" dirty="0">
                <a:ln>
                  <a:noFill/>
                </a:ln>
                <a:solidFill>
                  <a:prstClr val="black"/>
                </a:solidFill>
                <a:effectLst/>
                <a:uLnTx/>
                <a:uFillTx/>
                <a:latin typeface="Aptos" panose="02110004020202020204"/>
                <a:ea typeface="+mn-ea"/>
                <a:cs typeface="+mn-cs"/>
              </a:rPr>
              <a:t> ↔ SHAP)</a:t>
            </a:r>
          </a:p>
          <a:p>
            <a:pPr marL="742950" marR="0" lvl="0" indent="-742950" algn="just" defTabSz="457200" rtl="0" eaLnBrk="1" fontAlgn="auto" latinLnBrk="0" hangingPunct="1">
              <a:lnSpc>
                <a:spcPct val="100000"/>
              </a:lnSpc>
              <a:spcBef>
                <a:spcPts val="0"/>
              </a:spcBef>
              <a:spcAft>
                <a:spcPts val="1200"/>
              </a:spcAft>
              <a:buClrTx/>
              <a:buSzTx/>
              <a:buFont typeface="+mj-lt"/>
              <a:buAutoNum type="arabicPeriod"/>
              <a:tabLst/>
              <a:defRPr/>
            </a:pPr>
            <a:r>
              <a:rPr kumimoji="0" lang="en-US" sz="5400" b="1" i="0" u="none" strike="noStrike" kern="1200" cap="none" spc="0" normalizeH="0" baseline="0" noProof="0" dirty="0">
                <a:ln>
                  <a:noFill/>
                </a:ln>
                <a:solidFill>
                  <a:prstClr val="black"/>
                </a:solidFill>
                <a:effectLst/>
                <a:uLnTx/>
                <a:uFillTx/>
                <a:latin typeface="Aptos" panose="02110004020202020204"/>
                <a:ea typeface="+mn-ea"/>
                <a:cs typeface="+mn-cs"/>
              </a:rPr>
              <a:t>Granularity: </a:t>
            </a:r>
            <a:r>
              <a:rPr kumimoji="0" lang="en-US" sz="5400" b="0" i="0" u="none" strike="noStrike" kern="1200" cap="none" spc="0" normalizeH="0" baseline="0" noProof="0" dirty="0" err="1">
                <a:ln>
                  <a:noFill/>
                </a:ln>
                <a:solidFill>
                  <a:prstClr val="black"/>
                </a:solidFill>
                <a:effectLst/>
                <a:uLnTx/>
                <a:uFillTx/>
                <a:latin typeface="Aptos" panose="02110004020202020204"/>
                <a:ea typeface="+mn-ea"/>
                <a:cs typeface="+mn-cs"/>
              </a:rPr>
              <a:t>MolAnchor</a:t>
            </a: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 identifies ONE dominant anchor; SHAP reveals multiple contributing fragments</a:t>
            </a:r>
          </a:p>
          <a:p>
            <a:pPr marL="742950" marR="0" lvl="0" indent="-742950" algn="just" defTabSz="457200" rtl="0" eaLnBrk="1" fontAlgn="auto" latinLnBrk="0" hangingPunct="1">
              <a:lnSpc>
                <a:spcPct val="100000"/>
              </a:lnSpc>
              <a:spcBef>
                <a:spcPts val="0"/>
              </a:spcBef>
              <a:spcAft>
                <a:spcPts val="1200"/>
              </a:spcAft>
              <a:buClrTx/>
              <a:buSzTx/>
              <a:buFont typeface="+mj-lt"/>
              <a:buAutoNum type="arabicPeriod"/>
              <a:tabLst/>
              <a:defRPr/>
            </a:pPr>
            <a:r>
              <a:rPr kumimoji="0" lang="en-US" sz="5400" b="1" i="0" u="none" strike="noStrike" kern="1200" cap="none" spc="0" normalizeH="0" baseline="0" noProof="0" dirty="0">
                <a:ln>
                  <a:noFill/>
                </a:ln>
                <a:solidFill>
                  <a:prstClr val="black"/>
                </a:solidFill>
                <a:effectLst/>
                <a:uLnTx/>
                <a:uFillTx/>
                <a:latin typeface="Aptos" panose="02110004020202020204"/>
                <a:ea typeface="+mn-ea"/>
                <a:cs typeface="+mn-cs"/>
              </a:rPr>
              <a:t>Peripheral groups: </a:t>
            </a: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SHAP highlights the benzothiazole (Bit 885, +5.39) as important, while </a:t>
            </a:r>
            <a:r>
              <a:rPr kumimoji="0" lang="en-US" sz="5400" b="0" i="0" u="none" strike="noStrike" kern="1200" cap="none" spc="0" normalizeH="0" baseline="0" noProof="0" dirty="0" err="1">
                <a:ln>
                  <a:noFill/>
                </a:ln>
                <a:solidFill>
                  <a:prstClr val="black"/>
                </a:solidFill>
                <a:effectLst/>
                <a:uLnTx/>
                <a:uFillTx/>
                <a:latin typeface="Aptos" panose="02110004020202020204"/>
                <a:ea typeface="+mn-ea"/>
                <a:cs typeface="+mn-cs"/>
              </a:rPr>
              <a:t>MolAnchor</a:t>
            </a: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 doesn't single it out</a:t>
            </a:r>
          </a:p>
          <a:p>
            <a:pPr marL="742950" marR="0" lvl="0" indent="-742950" algn="just" defTabSz="457200" rtl="0" eaLnBrk="1" fontAlgn="auto" latinLnBrk="0" hangingPunct="1">
              <a:lnSpc>
                <a:spcPct val="100000"/>
              </a:lnSpc>
              <a:spcBef>
                <a:spcPts val="0"/>
              </a:spcBef>
              <a:spcAft>
                <a:spcPts val="1200"/>
              </a:spcAft>
              <a:buClrTx/>
              <a:buSzTx/>
              <a:buFont typeface="+mj-lt"/>
              <a:buAutoNum type="arabicPeriod"/>
              <a:tabLst/>
              <a:defRPr/>
            </a:pPr>
            <a:r>
              <a:rPr kumimoji="0" lang="en-US" sz="5400" b="1" i="0" u="none" strike="noStrike" kern="1200" cap="none" spc="0" normalizeH="0" baseline="0" noProof="0" dirty="0">
                <a:ln>
                  <a:noFill/>
                </a:ln>
                <a:solidFill>
                  <a:prstClr val="black"/>
                </a:solidFill>
                <a:effectLst/>
                <a:uLnTx/>
                <a:uFillTx/>
                <a:latin typeface="Aptos" panose="02110004020202020204"/>
                <a:ea typeface="+mn-ea"/>
                <a:cs typeface="+mn-cs"/>
              </a:rPr>
              <a:t>Negative contribution:</a:t>
            </a: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 SHAP identifies thiophene substructure (Bit 552, -5.37) as reducing activity—a nuance </a:t>
            </a:r>
            <a:r>
              <a:rPr kumimoji="0" lang="en-US" sz="5400" b="0" i="0" u="none" strike="noStrike" kern="1200" cap="none" spc="0" normalizeH="0" baseline="0" noProof="0" dirty="0" err="1">
                <a:ln>
                  <a:noFill/>
                </a:ln>
                <a:solidFill>
                  <a:prstClr val="black"/>
                </a:solidFill>
                <a:effectLst/>
                <a:uLnTx/>
                <a:uFillTx/>
                <a:latin typeface="Aptos" panose="02110004020202020204"/>
                <a:ea typeface="+mn-ea"/>
                <a:cs typeface="+mn-cs"/>
              </a:rPr>
              <a:t>MolAnchor</a:t>
            </a: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 misses</a:t>
            </a:r>
          </a:p>
        </p:txBody>
      </p:sp>
      <p:sp>
        <p:nvSpPr>
          <p:cNvPr id="85" name="TextBox 84">
            <a:extLst>
              <a:ext uri="{FF2B5EF4-FFF2-40B4-BE49-F238E27FC236}">
                <a16:creationId xmlns:a16="http://schemas.microsoft.com/office/drawing/2014/main" id="{253B310A-4175-466E-82F8-A8F9C6BF4614}"/>
              </a:ext>
            </a:extLst>
          </p:cNvPr>
          <p:cNvSpPr txBox="1"/>
          <p:nvPr/>
        </p:nvSpPr>
        <p:spPr>
          <a:xfrm>
            <a:off x="17092708" y="25453490"/>
            <a:ext cx="17157371" cy="1015663"/>
          </a:xfrm>
          <a:prstGeom prst="rect">
            <a:avLst/>
          </a:prstGeom>
          <a:noFill/>
        </p:spPr>
        <p:txBody>
          <a:bodyPr wrap="square">
            <a:spAutoFit/>
          </a:bodyPr>
          <a:lstStyle/>
          <a:p>
            <a:pPr algn="ctr"/>
            <a:r>
              <a:rPr lang="en-US" sz="6000" b="1" dirty="0">
                <a:solidFill>
                  <a:srgbClr val="0F0F0F"/>
                </a:solidFill>
                <a:latin typeface="ui-sans-serif"/>
              </a:rPr>
              <a:t>Pair 2: </a:t>
            </a:r>
            <a:r>
              <a:rPr lang="en-US" sz="6000" b="1" dirty="0" err="1">
                <a:solidFill>
                  <a:srgbClr val="0F0F0F"/>
                </a:solidFill>
                <a:latin typeface="ui-sans-serif"/>
              </a:rPr>
              <a:t>MolCE</a:t>
            </a:r>
            <a:r>
              <a:rPr lang="en-US" sz="6000" b="1" dirty="0">
                <a:solidFill>
                  <a:srgbClr val="0F0F0F"/>
                </a:solidFill>
                <a:latin typeface="ui-sans-serif"/>
              </a:rPr>
              <a:t> vs Counterfactuals</a:t>
            </a:r>
            <a:endParaRPr lang="en-US" sz="6000" b="1" i="0" dirty="0">
              <a:solidFill>
                <a:srgbClr val="0F0F0F"/>
              </a:solidFill>
              <a:effectLst/>
              <a:latin typeface="ui-sans-serif"/>
            </a:endParaRPr>
          </a:p>
        </p:txBody>
      </p:sp>
      <p:sp>
        <p:nvSpPr>
          <p:cNvPr id="89" name="TextBox 88">
            <a:extLst>
              <a:ext uri="{FF2B5EF4-FFF2-40B4-BE49-F238E27FC236}">
                <a16:creationId xmlns:a16="http://schemas.microsoft.com/office/drawing/2014/main" id="{57BCAA73-24FE-3A3B-D1CF-4920116A858E}"/>
              </a:ext>
            </a:extLst>
          </p:cNvPr>
          <p:cNvSpPr txBox="1"/>
          <p:nvPr/>
        </p:nvSpPr>
        <p:spPr>
          <a:xfrm>
            <a:off x="33235830" y="26769682"/>
            <a:ext cx="6310257" cy="923330"/>
          </a:xfrm>
          <a:prstGeom prst="rect">
            <a:avLst/>
          </a:prstGeom>
          <a:noFill/>
        </p:spPr>
        <p:txBody>
          <a:bodyPr wrap="square" rtlCol="0">
            <a:spAutoFit/>
          </a:bodyPr>
          <a:lstStyle/>
          <a:p>
            <a:pPr algn="ctr"/>
            <a:r>
              <a:rPr lang="en-US" sz="5400" b="1" dirty="0"/>
              <a:t>Counterfactuals</a:t>
            </a:r>
            <a:endParaRPr lang="de-DE" sz="5400" b="1" dirty="0"/>
          </a:p>
        </p:txBody>
      </p:sp>
      <p:sp>
        <p:nvSpPr>
          <p:cNvPr id="90" name="TextBox 89">
            <a:extLst>
              <a:ext uri="{FF2B5EF4-FFF2-40B4-BE49-F238E27FC236}">
                <a16:creationId xmlns:a16="http://schemas.microsoft.com/office/drawing/2014/main" id="{D161A347-D54E-4609-7680-93A714375D50}"/>
              </a:ext>
            </a:extLst>
          </p:cNvPr>
          <p:cNvSpPr txBox="1"/>
          <p:nvPr/>
        </p:nvSpPr>
        <p:spPr>
          <a:xfrm>
            <a:off x="11591496" y="26769682"/>
            <a:ext cx="6603459" cy="923330"/>
          </a:xfrm>
          <a:prstGeom prst="rect">
            <a:avLst/>
          </a:prstGeom>
          <a:noFill/>
        </p:spPr>
        <p:txBody>
          <a:bodyPr wrap="square" rtlCol="0">
            <a:spAutoFit/>
          </a:bodyPr>
          <a:lstStyle/>
          <a:p>
            <a:pPr algn="ctr"/>
            <a:r>
              <a:rPr lang="en-US" sz="5400" b="1" dirty="0" err="1"/>
              <a:t>MolCE</a:t>
            </a:r>
            <a:endParaRPr lang="de-DE" sz="5400" b="1" dirty="0"/>
          </a:p>
        </p:txBody>
      </p:sp>
      <p:sp>
        <p:nvSpPr>
          <p:cNvPr id="93" name="TextBox 92">
            <a:extLst>
              <a:ext uri="{FF2B5EF4-FFF2-40B4-BE49-F238E27FC236}">
                <a16:creationId xmlns:a16="http://schemas.microsoft.com/office/drawing/2014/main" id="{FEECBCF4-1A29-9FAE-BC44-BE319FB16DC2}"/>
              </a:ext>
            </a:extLst>
          </p:cNvPr>
          <p:cNvSpPr txBox="1"/>
          <p:nvPr/>
        </p:nvSpPr>
        <p:spPr>
          <a:xfrm>
            <a:off x="5292025" y="35348351"/>
            <a:ext cx="19202400" cy="8032968"/>
          </a:xfrm>
          <a:prstGeom prst="rect">
            <a:avLst/>
          </a:prstGeom>
          <a:noFill/>
        </p:spPr>
        <p:txBody>
          <a:bodyPr wrap="square">
            <a:spAutoFit/>
          </a:bodyPr>
          <a:lstStyle/>
          <a:p>
            <a:pPr>
              <a:spcAft>
                <a:spcPts val="1200"/>
              </a:spcAft>
            </a:pPr>
            <a:r>
              <a:rPr lang="en-US" sz="5400" b="1" dirty="0">
                <a:latin typeface="Aptos" panose="020B0004020202020204" pitchFamily="34" charset="0"/>
              </a:rPr>
              <a:t>✅ AGREEMENTS (</a:t>
            </a:r>
            <a:r>
              <a:rPr lang="en-US" sz="5400" b="1" i="0" dirty="0" err="1">
                <a:solidFill>
                  <a:srgbClr val="0F0F0F"/>
                </a:solidFill>
                <a:effectLst/>
                <a:latin typeface="Aptos" panose="020B0004020202020204" pitchFamily="34" charset="0"/>
              </a:rPr>
              <a:t>MolCE</a:t>
            </a:r>
            <a:r>
              <a:rPr lang="en-US" sz="5400" b="1" i="0" dirty="0">
                <a:solidFill>
                  <a:srgbClr val="0F0F0F"/>
                </a:solidFill>
                <a:effectLst/>
                <a:latin typeface="Aptos" panose="020B0004020202020204" pitchFamily="34" charset="0"/>
              </a:rPr>
              <a:t> ↔ Counterfactuals</a:t>
            </a:r>
            <a:r>
              <a:rPr lang="en-US" sz="5400" b="1" dirty="0">
                <a:latin typeface="Aptos" panose="020B0004020202020204" pitchFamily="34" charset="0"/>
              </a:rPr>
              <a:t>)</a:t>
            </a:r>
          </a:p>
          <a:p>
            <a:pPr marL="742950" indent="-742950" algn="just">
              <a:spcAft>
                <a:spcPts val="1200"/>
              </a:spcAft>
              <a:buFont typeface="+mj-lt"/>
              <a:buAutoNum type="arabicPeriod"/>
            </a:pPr>
            <a:r>
              <a:rPr lang="en-US" sz="5400" b="1" i="0" dirty="0">
                <a:solidFill>
                  <a:srgbClr val="0F0F0F"/>
                </a:solidFill>
                <a:effectLst/>
                <a:latin typeface="Aptos" panose="020B0004020202020204" pitchFamily="34" charset="0"/>
              </a:rPr>
              <a:t> </a:t>
            </a:r>
            <a:r>
              <a:rPr lang="en-US" sz="5400" b="1" dirty="0"/>
              <a:t>Piperazine N as critical site: </a:t>
            </a:r>
            <a:r>
              <a:rPr lang="en-US" sz="5400" dirty="0"/>
              <a:t>Both methods identify the piperazine nitrogen substituent as the most impactful site</a:t>
            </a:r>
          </a:p>
          <a:p>
            <a:pPr marL="742950" indent="-742950" algn="just">
              <a:spcAft>
                <a:spcPts val="1200"/>
              </a:spcAft>
              <a:buFont typeface="+mj-lt"/>
              <a:buAutoNum type="arabicPeriod"/>
            </a:pPr>
            <a:r>
              <a:rPr lang="en-US" sz="5400" b="1" dirty="0"/>
              <a:t> Substituent sensitivity: </a:t>
            </a:r>
            <a:r>
              <a:rPr lang="en-US" sz="5400" dirty="0"/>
              <a:t>Both confirm that modifying the piperazine N-substituent can flip the prediction</a:t>
            </a:r>
          </a:p>
          <a:p>
            <a:pPr marL="742950" indent="-742950" algn="just">
              <a:spcAft>
                <a:spcPts val="1200"/>
              </a:spcAft>
              <a:buFont typeface="+mj-lt"/>
              <a:buAutoNum type="arabicPeriod"/>
            </a:pPr>
            <a:r>
              <a:rPr lang="en-US" sz="5400" b="1" dirty="0"/>
              <a:t> Polarity effect: </a:t>
            </a:r>
            <a:r>
              <a:rPr lang="en-US" sz="5400" dirty="0" err="1"/>
              <a:t>MolCE's</a:t>
            </a:r>
            <a:r>
              <a:rPr lang="en-US" sz="5400" dirty="0"/>
              <a:t> contrastive R-groups (polar/charged) align with Counterfactuals showing polar additions eliminate activity</a:t>
            </a:r>
          </a:p>
        </p:txBody>
      </p:sp>
      <p:sp>
        <p:nvSpPr>
          <p:cNvPr id="94" name="TextBox 93">
            <a:extLst>
              <a:ext uri="{FF2B5EF4-FFF2-40B4-BE49-F238E27FC236}">
                <a16:creationId xmlns:a16="http://schemas.microsoft.com/office/drawing/2014/main" id="{CDE8FE82-D510-052C-FDC5-58E137B2D9BC}"/>
              </a:ext>
            </a:extLst>
          </p:cNvPr>
          <p:cNvSpPr txBox="1"/>
          <p:nvPr/>
        </p:nvSpPr>
        <p:spPr>
          <a:xfrm>
            <a:off x="26789758" y="35348351"/>
            <a:ext cx="19202400" cy="7048083"/>
          </a:xfrm>
          <a:prstGeom prst="rect">
            <a:avLst/>
          </a:prstGeom>
          <a:noFill/>
        </p:spPr>
        <p:txBody>
          <a:bodyPr wrap="square">
            <a:spAutoFit/>
          </a:bodyPr>
          <a:lstStyle/>
          <a:p>
            <a:pPr>
              <a:spcAft>
                <a:spcPts val="1200"/>
              </a:spcAft>
              <a:defRPr/>
            </a:pPr>
            <a:r>
              <a:rPr kumimoji="0" lang="en-US" sz="5400" b="1" i="0" u="none" strike="noStrike" kern="1200" cap="none" spc="0" normalizeH="0" baseline="0" noProof="0" dirty="0">
                <a:ln>
                  <a:noFill/>
                </a:ln>
                <a:solidFill>
                  <a:prstClr val="black"/>
                </a:solidFill>
                <a:effectLst/>
                <a:uLnTx/>
                <a:uFillTx/>
                <a:latin typeface="Aptos" panose="02110004020202020204"/>
                <a:ea typeface="+mn-ea"/>
                <a:cs typeface="+mn-cs"/>
              </a:rPr>
              <a:t>❌ DISAGREEMENTS (</a:t>
            </a:r>
            <a:r>
              <a:rPr lang="en-US" sz="5400" b="1" i="0" dirty="0" err="1">
                <a:solidFill>
                  <a:srgbClr val="0F0F0F"/>
                </a:solidFill>
                <a:effectLst/>
                <a:latin typeface="ui-sans-serif"/>
              </a:rPr>
              <a:t>MolCE</a:t>
            </a:r>
            <a:r>
              <a:rPr lang="en-US" sz="5400" b="1" i="0" dirty="0">
                <a:solidFill>
                  <a:srgbClr val="0F0F0F"/>
                </a:solidFill>
                <a:effectLst/>
                <a:latin typeface="ui-sans-serif"/>
              </a:rPr>
              <a:t> ↔ Counterfactuals</a:t>
            </a:r>
            <a:r>
              <a:rPr kumimoji="0" lang="en-US" sz="5400" b="1" i="0" u="none" strike="noStrike" kern="1200" cap="none" spc="0" normalizeH="0" baseline="0" noProof="0" dirty="0">
                <a:ln>
                  <a:noFill/>
                </a:ln>
                <a:solidFill>
                  <a:prstClr val="black"/>
                </a:solidFill>
                <a:effectLst/>
                <a:uLnTx/>
                <a:uFillTx/>
                <a:latin typeface="Aptos" panose="02110004020202020204"/>
                <a:ea typeface="+mn-ea"/>
                <a:cs typeface="+mn-cs"/>
              </a:rPr>
              <a:t>)</a:t>
            </a:r>
          </a:p>
          <a:p>
            <a:pPr marL="742950" marR="0" lvl="0" indent="-742950" algn="just" defTabSz="457200" rtl="0" eaLnBrk="1" fontAlgn="auto" latinLnBrk="0" hangingPunct="1">
              <a:lnSpc>
                <a:spcPct val="100000"/>
              </a:lnSpc>
              <a:spcBef>
                <a:spcPts val="0"/>
              </a:spcBef>
              <a:spcAft>
                <a:spcPts val="1200"/>
              </a:spcAft>
              <a:buClrTx/>
              <a:buSzTx/>
              <a:buFont typeface="+mj-lt"/>
              <a:buAutoNum type="arabicPeriod"/>
              <a:tabLst/>
              <a:defRPr/>
            </a:pPr>
            <a:r>
              <a:rPr kumimoji="0" lang="en-US" sz="5400" b="1" i="0" u="none" strike="noStrike" kern="1200" cap="none" spc="0" normalizeH="0" baseline="0" noProof="0" dirty="0">
                <a:ln>
                  <a:noFill/>
                </a:ln>
                <a:solidFill>
                  <a:prstClr val="black"/>
                </a:solidFill>
                <a:effectLst/>
                <a:uLnTx/>
                <a:uFillTx/>
                <a:latin typeface="Aptos" panose="02110004020202020204"/>
                <a:ea typeface="+mn-ea"/>
                <a:cs typeface="+mn-cs"/>
              </a:rPr>
              <a:t>Scaffold importance: </a:t>
            </a:r>
            <a:r>
              <a:rPr kumimoji="0" lang="en-US" sz="5400" i="0" u="none" strike="noStrike" kern="1200" cap="none" spc="0" normalizeH="0" baseline="0" noProof="0" dirty="0" err="1">
                <a:ln>
                  <a:noFill/>
                </a:ln>
                <a:solidFill>
                  <a:prstClr val="black"/>
                </a:solidFill>
                <a:effectLst/>
                <a:uLnTx/>
                <a:uFillTx/>
                <a:latin typeface="Aptos" panose="02110004020202020204"/>
                <a:ea typeface="+mn-ea"/>
                <a:cs typeface="+mn-cs"/>
              </a:rPr>
              <a:t>MolCE</a:t>
            </a:r>
            <a:r>
              <a:rPr kumimoji="0" lang="en-US" sz="5400" i="0" u="none" strike="noStrike" kern="1200" cap="none" spc="0" normalizeH="0" baseline="0" noProof="0" dirty="0">
                <a:ln>
                  <a:noFill/>
                </a:ln>
                <a:solidFill>
                  <a:prstClr val="black"/>
                </a:solidFill>
                <a:effectLst/>
                <a:uLnTx/>
                <a:uFillTx/>
                <a:latin typeface="Aptos" panose="02110004020202020204"/>
                <a:ea typeface="+mn-ea"/>
                <a:cs typeface="+mn-cs"/>
              </a:rPr>
              <a:t> shows scaffold contrast score = 0.0 (scaffold changes don't matter), while Counterfactuals show substituent changes do matter</a:t>
            </a:r>
          </a:p>
          <a:p>
            <a:pPr marL="742950" marR="0" lvl="0" indent="-742950" algn="just" defTabSz="457200" rtl="0" eaLnBrk="1" fontAlgn="auto" latinLnBrk="0" hangingPunct="1">
              <a:lnSpc>
                <a:spcPct val="100000"/>
              </a:lnSpc>
              <a:spcBef>
                <a:spcPts val="0"/>
              </a:spcBef>
              <a:spcAft>
                <a:spcPts val="1200"/>
              </a:spcAft>
              <a:buClrTx/>
              <a:buSzTx/>
              <a:buFont typeface="+mj-lt"/>
              <a:buAutoNum type="arabicPeriod"/>
              <a:tabLst/>
              <a:defRPr/>
            </a:pPr>
            <a:r>
              <a:rPr kumimoji="0" lang="en-US" sz="5400" b="1" i="0" u="none" strike="noStrike" kern="1200" cap="none" spc="0" normalizeH="0" baseline="0" noProof="0" dirty="0">
                <a:ln>
                  <a:noFill/>
                </a:ln>
                <a:solidFill>
                  <a:prstClr val="black"/>
                </a:solidFill>
                <a:effectLst/>
                <a:uLnTx/>
                <a:uFillTx/>
                <a:latin typeface="Aptos" panose="02110004020202020204"/>
                <a:ea typeface="+mn-ea"/>
                <a:cs typeface="+mn-cs"/>
              </a:rPr>
              <a:t>Mechanism: </a:t>
            </a:r>
            <a:r>
              <a:rPr kumimoji="0" lang="en-US" sz="5400" i="0" u="none" strike="noStrike" kern="1200" cap="none" spc="0" normalizeH="0" baseline="0" noProof="0" dirty="0" err="1">
                <a:ln>
                  <a:noFill/>
                </a:ln>
                <a:solidFill>
                  <a:prstClr val="black"/>
                </a:solidFill>
                <a:effectLst/>
                <a:uLnTx/>
                <a:uFillTx/>
                <a:latin typeface="Aptos" panose="02110004020202020204"/>
                <a:ea typeface="+mn-ea"/>
                <a:cs typeface="+mn-cs"/>
              </a:rPr>
              <a:t>MolCE</a:t>
            </a:r>
            <a:r>
              <a:rPr kumimoji="0" lang="en-US" sz="5400" i="0" u="none" strike="noStrike" kern="1200" cap="none" spc="0" normalizeH="0" baseline="0" noProof="0" dirty="0">
                <a:ln>
                  <a:noFill/>
                </a:ln>
                <a:solidFill>
                  <a:prstClr val="black"/>
                </a:solidFill>
                <a:effectLst/>
                <a:uLnTx/>
                <a:uFillTx/>
                <a:latin typeface="Aptos" panose="02110004020202020204"/>
                <a:ea typeface="+mn-ea"/>
                <a:cs typeface="+mn-cs"/>
              </a:rPr>
              <a:t> focuses on contrast (why not inactive?), while Counterfactuals show transformation (how to become inactive?)</a:t>
            </a:r>
          </a:p>
        </p:txBody>
      </p:sp>
      <p:grpSp>
        <p:nvGrpSpPr>
          <p:cNvPr id="102" name="Group 101">
            <a:extLst>
              <a:ext uri="{FF2B5EF4-FFF2-40B4-BE49-F238E27FC236}">
                <a16:creationId xmlns:a16="http://schemas.microsoft.com/office/drawing/2014/main" id="{D6439D96-81F8-F222-FD0A-6CB3EEA18EBC}"/>
              </a:ext>
            </a:extLst>
          </p:cNvPr>
          <p:cNvGrpSpPr/>
          <p:nvPr/>
        </p:nvGrpSpPr>
        <p:grpSpPr>
          <a:xfrm>
            <a:off x="25975019" y="27989472"/>
            <a:ext cx="20831878" cy="4930638"/>
            <a:chOff x="25678303" y="34723809"/>
            <a:chExt cx="16963406" cy="4094569"/>
          </a:xfrm>
        </p:grpSpPr>
        <p:pic>
          <p:nvPicPr>
            <p:cNvPr id="100" name="Picture 99">
              <a:extLst>
                <a:ext uri="{FF2B5EF4-FFF2-40B4-BE49-F238E27FC236}">
                  <a16:creationId xmlns:a16="http://schemas.microsoft.com/office/drawing/2014/main" id="{B1F6B432-D2DB-A370-2458-530FF31A48DE}"/>
                </a:ext>
              </a:extLst>
            </p:cNvPr>
            <p:cNvPicPr>
              <a:picLocks noChangeAspect="1"/>
            </p:cNvPicPr>
            <p:nvPr/>
          </p:nvPicPr>
          <p:blipFill>
            <a:blip r:embed="rId5">
              <a:extLst>
                <a:ext uri="{28A0092B-C50C-407E-A947-70E740481C1C}">
                  <a14:useLocalDpi xmlns:a14="http://schemas.microsoft.com/office/drawing/2010/main" val="0"/>
                </a:ext>
              </a:extLst>
            </a:blip>
            <a:srcRect l="28881" t="31485" r="52081" b="52476"/>
            <a:stretch/>
          </p:blipFill>
          <p:spPr>
            <a:xfrm>
              <a:off x="25678303" y="34723809"/>
              <a:ext cx="9202228" cy="4094569"/>
            </a:xfrm>
            <a:prstGeom prst="rect">
              <a:avLst/>
            </a:prstGeom>
          </p:spPr>
        </p:pic>
        <p:pic>
          <p:nvPicPr>
            <p:cNvPr id="101" name="Picture 100">
              <a:extLst>
                <a:ext uri="{FF2B5EF4-FFF2-40B4-BE49-F238E27FC236}">
                  <a16:creationId xmlns:a16="http://schemas.microsoft.com/office/drawing/2014/main" id="{02144A18-8CA9-B867-F30C-81AC5EE2D851}"/>
                </a:ext>
              </a:extLst>
            </p:cNvPr>
            <p:cNvPicPr>
              <a:picLocks noChangeAspect="1"/>
            </p:cNvPicPr>
            <p:nvPr/>
          </p:nvPicPr>
          <p:blipFill>
            <a:blip r:embed="rId5">
              <a:extLst>
                <a:ext uri="{28A0092B-C50C-407E-A947-70E740481C1C}">
                  <a14:useLocalDpi xmlns:a14="http://schemas.microsoft.com/office/drawing/2010/main" val="0"/>
                </a:ext>
              </a:extLst>
            </a:blip>
            <a:srcRect l="54567" t="30675" r="27299" b="52476"/>
            <a:stretch/>
          </p:blipFill>
          <p:spPr>
            <a:xfrm>
              <a:off x="35089246" y="35101923"/>
              <a:ext cx="7552463" cy="3706321"/>
            </a:xfrm>
            <a:prstGeom prst="rect">
              <a:avLst/>
            </a:prstGeom>
          </p:spPr>
        </p:pic>
      </p:grpSp>
      <p:sp>
        <p:nvSpPr>
          <p:cNvPr id="104" name="TextBox 103">
            <a:extLst>
              <a:ext uri="{FF2B5EF4-FFF2-40B4-BE49-F238E27FC236}">
                <a16:creationId xmlns:a16="http://schemas.microsoft.com/office/drawing/2014/main" id="{447066D7-B3FD-7386-0F15-CA073EB9CD5F}"/>
              </a:ext>
            </a:extLst>
          </p:cNvPr>
          <p:cNvSpPr txBox="1"/>
          <p:nvPr/>
        </p:nvSpPr>
        <p:spPr>
          <a:xfrm>
            <a:off x="27485826" y="33230928"/>
            <a:ext cx="8346300" cy="1446550"/>
          </a:xfrm>
          <a:prstGeom prst="rect">
            <a:avLst/>
          </a:prstGeom>
          <a:noFill/>
        </p:spPr>
        <p:txBody>
          <a:bodyPr wrap="square" rtlCol="0">
            <a:spAutoFit/>
          </a:bodyPr>
          <a:lstStyle/>
          <a:p>
            <a:pPr algn="ctr"/>
            <a:r>
              <a:rPr lang="en-US" sz="4400" b="1" i="0" dirty="0">
                <a:solidFill>
                  <a:srgbClr val="0F0F0F"/>
                </a:solidFill>
                <a:effectLst/>
                <a:latin typeface="ui-sans-serif"/>
              </a:rPr>
              <a:t>CF #1 (substituent)</a:t>
            </a:r>
          </a:p>
          <a:p>
            <a:pPr algn="ctr"/>
            <a:r>
              <a:rPr lang="en-US" sz="4400" b="1" dirty="0">
                <a:solidFill>
                  <a:srgbClr val="0F0F0F"/>
                </a:solidFill>
                <a:latin typeface="ui-sans-serif"/>
              </a:rPr>
              <a:t>Predicted class: 0| Similarity: 0.68</a:t>
            </a:r>
            <a:endParaRPr lang="en-US" sz="4400" dirty="0"/>
          </a:p>
        </p:txBody>
      </p:sp>
      <p:sp>
        <p:nvSpPr>
          <p:cNvPr id="105" name="TextBox 104">
            <a:extLst>
              <a:ext uri="{FF2B5EF4-FFF2-40B4-BE49-F238E27FC236}">
                <a16:creationId xmlns:a16="http://schemas.microsoft.com/office/drawing/2014/main" id="{3340F736-7968-FDB4-A971-D1E03504210F}"/>
              </a:ext>
            </a:extLst>
          </p:cNvPr>
          <p:cNvSpPr txBox="1"/>
          <p:nvPr/>
        </p:nvSpPr>
        <p:spPr>
          <a:xfrm>
            <a:off x="37370684" y="33230928"/>
            <a:ext cx="8346300" cy="1446550"/>
          </a:xfrm>
          <a:prstGeom prst="rect">
            <a:avLst/>
          </a:prstGeom>
          <a:noFill/>
        </p:spPr>
        <p:txBody>
          <a:bodyPr wrap="square" rtlCol="0">
            <a:spAutoFit/>
          </a:bodyPr>
          <a:lstStyle/>
          <a:p>
            <a:pPr algn="ctr"/>
            <a:r>
              <a:rPr lang="en-US" sz="4400" b="1" i="0" dirty="0">
                <a:solidFill>
                  <a:srgbClr val="0F0F0F"/>
                </a:solidFill>
                <a:effectLst/>
                <a:latin typeface="ui-sans-serif"/>
              </a:rPr>
              <a:t>CF #2 (substituent)</a:t>
            </a:r>
          </a:p>
          <a:p>
            <a:pPr algn="ctr"/>
            <a:r>
              <a:rPr lang="en-US" sz="4400" b="1" dirty="0">
                <a:solidFill>
                  <a:srgbClr val="0F0F0F"/>
                </a:solidFill>
                <a:latin typeface="ui-sans-serif"/>
              </a:rPr>
              <a:t>Predicted class: 0| Similarity: 0.68</a:t>
            </a:r>
            <a:endParaRPr lang="en-US" sz="4400" dirty="0"/>
          </a:p>
        </p:txBody>
      </p:sp>
      <p:sp>
        <p:nvSpPr>
          <p:cNvPr id="106" name="TextBox 105">
            <a:extLst>
              <a:ext uri="{FF2B5EF4-FFF2-40B4-BE49-F238E27FC236}">
                <a16:creationId xmlns:a16="http://schemas.microsoft.com/office/drawing/2014/main" id="{B8051128-A1DB-8545-0F40-55389E4B301D}"/>
              </a:ext>
            </a:extLst>
          </p:cNvPr>
          <p:cNvSpPr txBox="1"/>
          <p:nvPr/>
        </p:nvSpPr>
        <p:spPr>
          <a:xfrm>
            <a:off x="6857880" y="33230928"/>
            <a:ext cx="5414457" cy="1446550"/>
          </a:xfrm>
          <a:prstGeom prst="rect">
            <a:avLst/>
          </a:prstGeom>
          <a:noFill/>
        </p:spPr>
        <p:txBody>
          <a:bodyPr wrap="square" rtlCol="0">
            <a:spAutoFit/>
          </a:bodyPr>
          <a:lstStyle/>
          <a:p>
            <a:pPr algn="ctr"/>
            <a:r>
              <a:rPr lang="en-US" sz="4400" b="1" i="0" dirty="0">
                <a:solidFill>
                  <a:srgbClr val="0F0F0F"/>
                </a:solidFill>
                <a:effectLst/>
                <a:latin typeface="ui-sans-serif"/>
              </a:rPr>
              <a:t>Rank 1 | Site 1</a:t>
            </a:r>
          </a:p>
          <a:p>
            <a:pPr algn="ctr"/>
            <a:r>
              <a:rPr lang="en-US" sz="4400" b="1" dirty="0">
                <a:solidFill>
                  <a:srgbClr val="0F0F0F"/>
                </a:solidFill>
                <a:latin typeface="ui-sans-serif"/>
              </a:rPr>
              <a:t>Contrast: 1.00</a:t>
            </a:r>
            <a:endParaRPr lang="en-US" sz="4400" dirty="0"/>
          </a:p>
        </p:txBody>
      </p:sp>
      <p:sp>
        <p:nvSpPr>
          <p:cNvPr id="107" name="TextBox 106">
            <a:extLst>
              <a:ext uri="{FF2B5EF4-FFF2-40B4-BE49-F238E27FC236}">
                <a16:creationId xmlns:a16="http://schemas.microsoft.com/office/drawing/2014/main" id="{F021D298-CD48-A056-2501-CA7203875916}"/>
              </a:ext>
            </a:extLst>
          </p:cNvPr>
          <p:cNvSpPr txBox="1"/>
          <p:nvPr/>
        </p:nvSpPr>
        <p:spPr>
          <a:xfrm>
            <a:off x="17739342" y="33230928"/>
            <a:ext cx="5453166" cy="1446550"/>
          </a:xfrm>
          <a:prstGeom prst="rect">
            <a:avLst/>
          </a:prstGeom>
          <a:noFill/>
        </p:spPr>
        <p:txBody>
          <a:bodyPr wrap="square" rtlCol="0">
            <a:spAutoFit/>
          </a:bodyPr>
          <a:lstStyle/>
          <a:p>
            <a:pPr algn="ctr"/>
            <a:r>
              <a:rPr lang="en-US" sz="4400" b="1" i="0" dirty="0">
                <a:solidFill>
                  <a:srgbClr val="0F0F0F"/>
                </a:solidFill>
                <a:effectLst/>
                <a:latin typeface="ui-sans-serif"/>
              </a:rPr>
              <a:t>Rank 2 | Site 1</a:t>
            </a:r>
          </a:p>
          <a:p>
            <a:pPr algn="ctr"/>
            <a:r>
              <a:rPr lang="en-US" sz="4400" b="1" dirty="0">
                <a:solidFill>
                  <a:srgbClr val="0F0F0F"/>
                </a:solidFill>
                <a:latin typeface="ui-sans-serif"/>
              </a:rPr>
              <a:t>Contrast: 1.00</a:t>
            </a:r>
            <a:endParaRPr lang="en-US" sz="4400" dirty="0"/>
          </a:p>
        </p:txBody>
      </p:sp>
      <p:sp>
        <p:nvSpPr>
          <p:cNvPr id="88" name="Rectangle: Rounded Corners 87">
            <a:extLst>
              <a:ext uri="{FF2B5EF4-FFF2-40B4-BE49-F238E27FC236}">
                <a16:creationId xmlns:a16="http://schemas.microsoft.com/office/drawing/2014/main" id="{682C432F-C7DF-608D-CD06-390CC306E433}"/>
              </a:ext>
            </a:extLst>
          </p:cNvPr>
          <p:cNvSpPr/>
          <p:nvPr/>
        </p:nvSpPr>
        <p:spPr>
          <a:xfrm>
            <a:off x="4154224" y="26461704"/>
            <a:ext cx="43034339" cy="16187596"/>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5574345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1B512028-254A-01D2-8B9F-DEB607E9E9B5}"/>
              </a:ext>
            </a:extLst>
          </p:cNvPr>
          <p:cNvSpPr/>
          <p:nvPr/>
        </p:nvSpPr>
        <p:spPr>
          <a:xfrm>
            <a:off x="6213483" y="0"/>
            <a:ext cx="37774562" cy="3420310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Rounded Corners 13">
            <a:extLst>
              <a:ext uri="{FF2B5EF4-FFF2-40B4-BE49-F238E27FC236}">
                <a16:creationId xmlns:a16="http://schemas.microsoft.com/office/drawing/2014/main" id="{DBF4675B-24DA-ECE6-C51C-65069789A359}"/>
              </a:ext>
            </a:extLst>
          </p:cNvPr>
          <p:cNvSpPr/>
          <p:nvPr/>
        </p:nvSpPr>
        <p:spPr>
          <a:xfrm>
            <a:off x="6564917" y="4078766"/>
            <a:ext cx="37071692" cy="5165792"/>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TextBox 52">
            <a:extLst>
              <a:ext uri="{FF2B5EF4-FFF2-40B4-BE49-F238E27FC236}">
                <a16:creationId xmlns:a16="http://schemas.microsoft.com/office/drawing/2014/main" id="{4D9CB3D1-7BFC-3386-B306-BDBBA5137ABA}"/>
              </a:ext>
            </a:extLst>
          </p:cNvPr>
          <p:cNvSpPr txBox="1"/>
          <p:nvPr/>
        </p:nvSpPr>
        <p:spPr>
          <a:xfrm>
            <a:off x="16522078" y="9581537"/>
            <a:ext cx="17157371" cy="1015663"/>
          </a:xfrm>
          <a:prstGeom prst="rect">
            <a:avLst/>
          </a:prstGeom>
          <a:noFill/>
        </p:spPr>
        <p:txBody>
          <a:bodyPr wrap="square">
            <a:spAutoFit/>
          </a:bodyPr>
          <a:lstStyle/>
          <a:p>
            <a:pPr algn="ctr"/>
            <a:r>
              <a:rPr lang="en-US" sz="6000" b="1" i="0" noProof="0" dirty="0">
                <a:solidFill>
                  <a:srgbClr val="0F0F0F"/>
                </a:solidFill>
                <a:effectLst/>
                <a:latin typeface="ui-sans-serif"/>
              </a:rPr>
              <a:t>Explanations of active and inactive compounds</a:t>
            </a:r>
          </a:p>
        </p:txBody>
      </p:sp>
      <p:sp>
        <p:nvSpPr>
          <p:cNvPr id="2" name="Rectangle: Top Corners Rounded 1">
            <a:extLst>
              <a:ext uri="{FF2B5EF4-FFF2-40B4-BE49-F238E27FC236}">
                <a16:creationId xmlns:a16="http://schemas.microsoft.com/office/drawing/2014/main" id="{6C13FBF4-81B4-461D-A19D-5804EED023DD}"/>
              </a:ext>
            </a:extLst>
          </p:cNvPr>
          <p:cNvSpPr/>
          <p:nvPr/>
        </p:nvSpPr>
        <p:spPr>
          <a:xfrm>
            <a:off x="6564918" y="492288"/>
            <a:ext cx="37042353" cy="3097124"/>
          </a:xfrm>
          <a:prstGeom prst="round2Same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5600" noProof="0" dirty="0">
                <a:solidFill>
                  <a:schemeClr val="tx1"/>
                </a:solidFill>
              </a:rPr>
              <a:t>Train a GNN model on a compound activity prediction dataset. Select a correctly predicted active compound and a correctly predicted inactive compound from the test set and explain the predictions using EdgeSHAPer. Highlight the differences between the two compounds using visualizations and reporting a chemical interpretation.</a:t>
            </a:r>
          </a:p>
        </p:txBody>
      </p:sp>
      <p:sp>
        <p:nvSpPr>
          <p:cNvPr id="49" name="Rectangle: Rounded Corners 48">
            <a:extLst>
              <a:ext uri="{FF2B5EF4-FFF2-40B4-BE49-F238E27FC236}">
                <a16:creationId xmlns:a16="http://schemas.microsoft.com/office/drawing/2014/main" id="{1C29497D-2B90-2BE5-88BB-D67B8144BA05}"/>
              </a:ext>
            </a:extLst>
          </p:cNvPr>
          <p:cNvSpPr/>
          <p:nvPr/>
        </p:nvSpPr>
        <p:spPr>
          <a:xfrm>
            <a:off x="6564918" y="10549413"/>
            <a:ext cx="37071691" cy="1452132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5" name="Rectangle: Top Corners Rounded 74">
            <a:extLst>
              <a:ext uri="{FF2B5EF4-FFF2-40B4-BE49-F238E27FC236}">
                <a16:creationId xmlns:a16="http://schemas.microsoft.com/office/drawing/2014/main" id="{ADA389BC-6277-D00F-8843-FDFC3BF7E611}"/>
              </a:ext>
            </a:extLst>
          </p:cNvPr>
          <p:cNvSpPr/>
          <p:nvPr/>
        </p:nvSpPr>
        <p:spPr>
          <a:xfrm rot="10800000">
            <a:off x="6594255" y="26263876"/>
            <a:ext cx="37013016" cy="11941732"/>
          </a:xfrm>
          <a:prstGeom prst="round2Same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sz="4400" noProof="0" dirty="0">
              <a:solidFill>
                <a:schemeClr val="tx1"/>
              </a:solidFill>
            </a:endParaRPr>
          </a:p>
        </p:txBody>
      </p:sp>
      <p:sp>
        <p:nvSpPr>
          <p:cNvPr id="77" name="TextBox 76">
            <a:extLst>
              <a:ext uri="{FF2B5EF4-FFF2-40B4-BE49-F238E27FC236}">
                <a16:creationId xmlns:a16="http://schemas.microsoft.com/office/drawing/2014/main" id="{C9821E32-A8A6-C518-B031-E9D5E16F9A8D}"/>
              </a:ext>
            </a:extLst>
          </p:cNvPr>
          <p:cNvSpPr txBox="1"/>
          <p:nvPr/>
        </p:nvSpPr>
        <p:spPr>
          <a:xfrm>
            <a:off x="6728423" y="26553203"/>
            <a:ext cx="36744677" cy="11941731"/>
          </a:xfrm>
          <a:prstGeom prst="rect">
            <a:avLst/>
          </a:prstGeom>
          <a:noFill/>
        </p:spPr>
        <p:txBody>
          <a:bodyPr wrap="square">
            <a:spAutoFit/>
          </a:bodyPr>
          <a:lstStyle/>
          <a:p>
            <a:pPr marL="228600" indent="-228600">
              <a:spcAft>
                <a:spcPts val="1200"/>
              </a:spcAft>
              <a:buFont typeface="+mj-lt"/>
              <a:buAutoNum type="arabicPeriod"/>
            </a:pPr>
            <a:r>
              <a:rPr lang="en-US" sz="5200" b="1" noProof="0" dirty="0">
                <a:solidFill>
                  <a:srgbClr val="0F0F0F"/>
                </a:solidFill>
              </a:rPr>
              <a:t> Dominant SHAP Contribution:</a:t>
            </a:r>
          </a:p>
          <a:p>
            <a:pPr marL="1028700" lvl="1" indent="-571500">
              <a:buFont typeface="Arial" panose="020B0604020202020204" pitchFamily="34" charset="0"/>
              <a:buChar char="•"/>
            </a:pPr>
            <a:r>
              <a:rPr lang="en-US" sz="5200" dirty="0">
                <a:solidFill>
                  <a:srgbClr val="0F0F0F"/>
                </a:solidFill>
              </a:rPr>
              <a:t>Active</a:t>
            </a:r>
            <a:r>
              <a:rPr lang="en-US" sz="5200" b="1" noProof="0" dirty="0">
                <a:solidFill>
                  <a:srgbClr val="0F0F0F"/>
                </a:solidFill>
              </a:rPr>
              <a:t> </a:t>
            </a:r>
            <a:r>
              <a:rPr lang="en-US" sz="5200" b="1" noProof="0" dirty="0"/>
              <a:t>piperazine</a:t>
            </a:r>
            <a:r>
              <a:rPr lang="en-US" sz="5200" noProof="0" dirty="0"/>
              <a:t> (</a:t>
            </a:r>
            <a:r>
              <a:rPr lang="el-GR" sz="5200" noProof="0" dirty="0"/>
              <a:t>φ = 0.116</a:t>
            </a:r>
            <a:r>
              <a:rPr lang="en-US" sz="5200" noProof="0" dirty="0"/>
              <a:t>)</a:t>
            </a:r>
          </a:p>
          <a:p>
            <a:pPr marL="1028700" lvl="1" indent="-571500">
              <a:buFont typeface="Arial" panose="020B0604020202020204" pitchFamily="34" charset="0"/>
              <a:buChar char="•"/>
            </a:pPr>
            <a:r>
              <a:rPr lang="en-US" sz="5200" dirty="0"/>
              <a:t>Inactive: </a:t>
            </a:r>
            <a:r>
              <a:rPr lang="en-US" sz="5200" b="1" dirty="0"/>
              <a:t>methyl-phenyl </a:t>
            </a:r>
            <a:r>
              <a:rPr lang="el-GR" sz="5200" dirty="0"/>
              <a:t>(φ = 0.283)</a:t>
            </a:r>
            <a:endParaRPr lang="en-US" sz="5200" noProof="0" dirty="0"/>
          </a:p>
          <a:p>
            <a:pPr fontAlgn="t">
              <a:spcAft>
                <a:spcPts val="1200"/>
              </a:spcAft>
            </a:pPr>
            <a:r>
              <a:rPr lang="en-US" sz="5200" b="1" i="0" noProof="0" dirty="0">
                <a:solidFill>
                  <a:srgbClr val="0F0F0F"/>
                </a:solidFill>
                <a:effectLst/>
              </a:rPr>
              <a:t>2. SHAP Values </a:t>
            </a:r>
            <a:r>
              <a:rPr lang="en-US" sz="5200" b="1" dirty="0">
                <a:solidFill>
                  <a:srgbClr val="0F0F0F"/>
                </a:solidFill>
              </a:rPr>
              <a:t>D</a:t>
            </a:r>
            <a:r>
              <a:rPr lang="en-US" sz="5200" b="1" i="0" noProof="0" dirty="0" err="1">
                <a:solidFill>
                  <a:srgbClr val="0F0F0F"/>
                </a:solidFill>
                <a:effectLst/>
              </a:rPr>
              <a:t>istribution</a:t>
            </a:r>
            <a:r>
              <a:rPr lang="en-US" sz="5200" b="1" noProof="0" dirty="0">
                <a:solidFill>
                  <a:srgbClr val="0F0F0F"/>
                </a:solidFill>
              </a:rPr>
              <a:t>: </a:t>
            </a:r>
            <a:r>
              <a:rPr lang="en-US" sz="5200" noProof="0" dirty="0"/>
              <a:t>more uniform for active (0.045-0.116) and more skewed (0.003-0.283). The active compound relies on multiple features.</a:t>
            </a:r>
          </a:p>
          <a:p>
            <a:pPr fontAlgn="t">
              <a:spcAft>
                <a:spcPts val="1200"/>
              </a:spcAft>
            </a:pPr>
            <a:r>
              <a:rPr lang="de-DE" sz="5200" b="1" dirty="0"/>
              <a:t>3. Key </a:t>
            </a:r>
            <a:r>
              <a:rPr lang="de-DE" sz="5200" b="1" dirty="0" err="1"/>
              <a:t>Pharmacophore</a:t>
            </a:r>
            <a:r>
              <a:rPr lang="de-DE" sz="5200" b="1" dirty="0"/>
              <a:t> Features: </a:t>
            </a:r>
            <a:r>
              <a:rPr lang="de-DE" sz="5200" b="1" dirty="0" err="1"/>
              <a:t>piperazine</a:t>
            </a:r>
            <a:r>
              <a:rPr lang="de-DE" sz="5200" b="1" dirty="0"/>
              <a:t> + </a:t>
            </a:r>
            <a:r>
              <a:rPr lang="de-DE" sz="5200" b="1" dirty="0" err="1"/>
              <a:t>halogenated</a:t>
            </a:r>
            <a:r>
              <a:rPr lang="de-DE" sz="5200" b="1" dirty="0"/>
              <a:t> </a:t>
            </a:r>
            <a:r>
              <a:rPr lang="de-DE" sz="5200" b="1" dirty="0" err="1"/>
              <a:t>aryl</a:t>
            </a:r>
            <a:r>
              <a:rPr lang="de-DE" sz="5200" b="1" dirty="0"/>
              <a:t>  </a:t>
            </a:r>
            <a:r>
              <a:rPr lang="de-DE" sz="5200" dirty="0"/>
              <a:t>(</a:t>
            </a:r>
            <a:r>
              <a:rPr lang="de-DE" sz="5200" dirty="0" err="1"/>
              <a:t>active</a:t>
            </a:r>
            <a:r>
              <a:rPr lang="de-DE" sz="5200" dirty="0"/>
              <a:t>)</a:t>
            </a:r>
            <a:r>
              <a:rPr lang="en-US" sz="5200" dirty="0"/>
              <a:t>, </a:t>
            </a:r>
            <a:r>
              <a:rPr lang="de-DE" sz="5200" b="1" dirty="0"/>
              <a:t>simple alkyl-aryl </a:t>
            </a:r>
            <a:r>
              <a:rPr lang="de-DE" sz="5200" dirty="0"/>
              <a:t>(</a:t>
            </a:r>
            <a:r>
              <a:rPr lang="de-DE" sz="5200" dirty="0" err="1"/>
              <a:t>inactive</a:t>
            </a:r>
            <a:r>
              <a:rPr lang="de-DE" sz="5200" dirty="0"/>
              <a:t>). The </a:t>
            </a:r>
            <a:r>
              <a:rPr lang="de-DE" sz="5200" dirty="0" err="1"/>
              <a:t>active</a:t>
            </a:r>
            <a:r>
              <a:rPr lang="de-DE" sz="5200" dirty="0"/>
              <a:t> compound </a:t>
            </a:r>
            <a:r>
              <a:rPr lang="de-DE" sz="5200" dirty="0" err="1"/>
              <a:t>has</a:t>
            </a:r>
            <a:r>
              <a:rPr lang="de-DE" sz="5200" dirty="0"/>
              <a:t> a </a:t>
            </a:r>
            <a:r>
              <a:rPr lang="de-DE" sz="5200" dirty="0" err="1"/>
              <a:t>recognized</a:t>
            </a:r>
            <a:r>
              <a:rPr lang="de-DE" sz="5200" dirty="0"/>
              <a:t> </a:t>
            </a:r>
            <a:r>
              <a:rPr lang="de-DE" sz="5200" dirty="0" err="1"/>
              <a:t>pharmacophore</a:t>
            </a:r>
            <a:r>
              <a:rPr lang="de-DE" sz="5200" dirty="0"/>
              <a:t>.</a:t>
            </a:r>
            <a:endParaRPr lang="en-US" sz="5200" dirty="0"/>
          </a:p>
          <a:p>
            <a:pPr fontAlgn="t">
              <a:spcAft>
                <a:spcPts val="1200"/>
              </a:spcAft>
            </a:pPr>
            <a:r>
              <a:rPr lang="de-DE" sz="5200" b="1" dirty="0"/>
              <a:t>4. </a:t>
            </a:r>
            <a:r>
              <a:rPr lang="de-DE" sz="5200" b="1" dirty="0" err="1"/>
              <a:t>Molecular</a:t>
            </a:r>
            <a:r>
              <a:rPr lang="de-DE" sz="5200" b="1" dirty="0"/>
              <a:t> </a:t>
            </a:r>
            <a:r>
              <a:rPr lang="de-DE" sz="5200" b="1" dirty="0" err="1"/>
              <a:t>Complexity</a:t>
            </a:r>
            <a:r>
              <a:rPr lang="en-US" sz="5200" b="1" dirty="0"/>
              <a:t>: </a:t>
            </a:r>
            <a:r>
              <a:rPr lang="en-US" sz="5200" dirty="0"/>
              <a:t>moderate for active (12 heavy atoms in core), </a:t>
            </a:r>
            <a:r>
              <a:rPr lang="de-DE" sz="5200" dirty="0"/>
              <a:t>high </a:t>
            </a:r>
            <a:r>
              <a:rPr lang="de-DE" sz="5200" dirty="0" err="1"/>
              <a:t>for</a:t>
            </a:r>
            <a:r>
              <a:rPr lang="de-DE" sz="5200" dirty="0"/>
              <a:t> </a:t>
            </a:r>
            <a:r>
              <a:rPr lang="de-DE" sz="5200" dirty="0" err="1"/>
              <a:t>inactive</a:t>
            </a:r>
            <a:r>
              <a:rPr lang="de-DE" sz="5200" dirty="0"/>
              <a:t> (30 heavy </a:t>
            </a:r>
            <a:r>
              <a:rPr lang="de-DE" sz="5200" dirty="0" err="1"/>
              <a:t>atoms</a:t>
            </a:r>
            <a:r>
              <a:rPr lang="de-DE" sz="5200" dirty="0"/>
              <a:t>)</a:t>
            </a:r>
            <a:r>
              <a:rPr lang="en-US" sz="5200" dirty="0"/>
              <a:t>. The </a:t>
            </a:r>
            <a:r>
              <a:rPr lang="de-DE" sz="5200" dirty="0" err="1"/>
              <a:t>active</a:t>
            </a:r>
            <a:r>
              <a:rPr lang="de-DE" sz="5200" dirty="0"/>
              <a:t> compound </a:t>
            </a:r>
            <a:r>
              <a:rPr lang="de-DE" sz="5200" dirty="0" err="1"/>
              <a:t>has</a:t>
            </a:r>
            <a:r>
              <a:rPr lang="de-DE" sz="5200" dirty="0"/>
              <a:t> optimal </a:t>
            </a:r>
            <a:r>
              <a:rPr lang="de-DE" sz="5200" dirty="0" err="1"/>
              <a:t>complexity</a:t>
            </a:r>
            <a:endParaRPr lang="en-US" sz="5200" dirty="0"/>
          </a:p>
          <a:p>
            <a:pPr fontAlgn="t">
              <a:spcAft>
                <a:spcPts val="1200"/>
              </a:spcAft>
            </a:pPr>
            <a:r>
              <a:rPr lang="de-DE" sz="5200" b="1" dirty="0"/>
              <a:t>5. Feature </a:t>
            </a:r>
            <a:r>
              <a:rPr lang="de-DE" sz="5200" b="1" dirty="0" err="1"/>
              <a:t>Contribution</a:t>
            </a:r>
            <a:r>
              <a:rPr lang="en-US" sz="5200" b="1" dirty="0"/>
              <a:t>:</a:t>
            </a:r>
            <a:r>
              <a:rPr lang="en-US" sz="5200" dirty="0"/>
              <a:t> </a:t>
            </a:r>
          </a:p>
          <a:p>
            <a:pPr marL="1028700" lvl="1" indent="-571500" fontAlgn="t">
              <a:buFont typeface="Arial" panose="020B0604020202020204" pitchFamily="34" charset="0"/>
              <a:buChar char="•"/>
            </a:pPr>
            <a:r>
              <a:rPr lang="en-US" sz="5200" dirty="0"/>
              <a:t>Active: d</a:t>
            </a:r>
            <a:r>
              <a:rPr lang="de-DE" sz="5200" dirty="0" err="1"/>
              <a:t>istributed</a:t>
            </a:r>
            <a:r>
              <a:rPr lang="de-DE" sz="5200" dirty="0"/>
              <a:t> </a:t>
            </a:r>
            <a:r>
              <a:rPr lang="de-DE" sz="5200" b="1" dirty="0" err="1"/>
              <a:t>across</a:t>
            </a:r>
            <a:r>
              <a:rPr lang="de-DE" sz="5200" b="1" dirty="0"/>
              <a:t> </a:t>
            </a:r>
            <a:r>
              <a:rPr lang="de-DE" sz="5200" b="1" dirty="0" err="1"/>
              <a:t>the</a:t>
            </a:r>
            <a:r>
              <a:rPr lang="de-DE" sz="5200" b="1" dirty="0"/>
              <a:t> </a:t>
            </a:r>
            <a:r>
              <a:rPr lang="de-DE" sz="5200" b="1" dirty="0" err="1"/>
              <a:t>scaffold</a:t>
            </a:r>
            <a:r>
              <a:rPr lang="de-DE" sz="5200" dirty="0"/>
              <a:t>.</a:t>
            </a:r>
          </a:p>
          <a:p>
            <a:pPr marL="1028700" lvl="1" indent="-571500" fontAlgn="t">
              <a:buFont typeface="Arial" panose="020B0604020202020204" pitchFamily="34" charset="0"/>
              <a:buChar char="•"/>
            </a:pPr>
            <a:r>
              <a:rPr lang="de-DE" sz="5200" dirty="0" err="1"/>
              <a:t>Inactive</a:t>
            </a:r>
            <a:r>
              <a:rPr lang="de-DE" sz="5200" dirty="0"/>
              <a:t>: </a:t>
            </a:r>
            <a:r>
              <a:rPr lang="de-DE" sz="5200" dirty="0" err="1"/>
              <a:t>concentrated</a:t>
            </a:r>
            <a:r>
              <a:rPr lang="de-DE" sz="5200" dirty="0"/>
              <a:t> in </a:t>
            </a:r>
            <a:r>
              <a:rPr lang="de-DE" sz="5200" b="1" dirty="0" err="1"/>
              <a:t>one</a:t>
            </a:r>
            <a:r>
              <a:rPr lang="de-DE" sz="5200" b="1" dirty="0"/>
              <a:t> </a:t>
            </a:r>
            <a:r>
              <a:rPr lang="de-DE" sz="5200" b="1" dirty="0" err="1"/>
              <a:t>bond</a:t>
            </a:r>
            <a:r>
              <a:rPr lang="de-DE" sz="5200" dirty="0"/>
              <a:t>.</a:t>
            </a:r>
          </a:p>
          <a:p>
            <a:pPr marL="1028700" lvl="1" indent="-571500" fontAlgn="t">
              <a:buFont typeface="Arial" panose="020B0604020202020204" pitchFamily="34" charset="0"/>
              <a:buChar char="•"/>
            </a:pPr>
            <a:r>
              <a:rPr lang="de-DE" sz="5200" dirty="0"/>
              <a:t>Insight: </a:t>
            </a:r>
            <a:r>
              <a:rPr lang="en-US" sz="5200" dirty="0"/>
              <a:t>The active molecule uses </a:t>
            </a:r>
            <a:r>
              <a:rPr lang="en-US" sz="5200" b="1" dirty="0"/>
              <a:t>more balanced features</a:t>
            </a:r>
            <a:r>
              <a:rPr lang="en-US" sz="5200" dirty="0"/>
              <a:t>.</a:t>
            </a:r>
          </a:p>
          <a:p>
            <a:pPr marL="228600" indent="-228600">
              <a:buFont typeface="+mj-lt"/>
              <a:buAutoNum type="arabicPeriod" startAt="4"/>
            </a:pPr>
            <a:endParaRPr lang="en-US" sz="4400" b="1" i="0" noProof="0" dirty="0">
              <a:solidFill>
                <a:srgbClr val="0F0F0F"/>
              </a:solidFill>
              <a:effectLst/>
              <a:latin typeface="ui-sans-serif"/>
            </a:endParaRPr>
          </a:p>
        </p:txBody>
      </p:sp>
      <p:sp>
        <p:nvSpPr>
          <p:cNvPr id="80" name="TextBox 79">
            <a:extLst>
              <a:ext uri="{FF2B5EF4-FFF2-40B4-BE49-F238E27FC236}">
                <a16:creationId xmlns:a16="http://schemas.microsoft.com/office/drawing/2014/main" id="{4F75911C-6BD0-922D-B821-7CE96BED0CA3}"/>
              </a:ext>
            </a:extLst>
          </p:cNvPr>
          <p:cNvSpPr txBox="1"/>
          <p:nvPr/>
        </p:nvSpPr>
        <p:spPr>
          <a:xfrm>
            <a:off x="16522078" y="25253746"/>
            <a:ext cx="17157371" cy="1015663"/>
          </a:xfrm>
          <a:prstGeom prst="rect">
            <a:avLst/>
          </a:prstGeom>
          <a:noFill/>
        </p:spPr>
        <p:txBody>
          <a:bodyPr wrap="square">
            <a:spAutoFit/>
          </a:bodyPr>
          <a:lstStyle/>
          <a:p>
            <a:pPr algn="ctr"/>
            <a:r>
              <a:rPr lang="en-US" sz="6000" b="1" noProof="0" dirty="0">
                <a:solidFill>
                  <a:srgbClr val="0F0F0F"/>
                </a:solidFill>
                <a:latin typeface="ui-sans-serif"/>
              </a:rPr>
              <a:t>Key insights and comparison</a:t>
            </a:r>
            <a:endParaRPr lang="en-US" sz="6000" b="1" i="0" noProof="0" dirty="0">
              <a:solidFill>
                <a:srgbClr val="0F0F0F"/>
              </a:solidFill>
              <a:effectLst/>
              <a:latin typeface="ui-sans-serif"/>
            </a:endParaRPr>
          </a:p>
        </p:txBody>
      </p:sp>
      <p:grpSp>
        <p:nvGrpSpPr>
          <p:cNvPr id="7" name="Group 6">
            <a:extLst>
              <a:ext uri="{FF2B5EF4-FFF2-40B4-BE49-F238E27FC236}">
                <a16:creationId xmlns:a16="http://schemas.microsoft.com/office/drawing/2014/main" id="{AE02D07E-FA83-46F7-FBED-29C7C8CFC31A}"/>
              </a:ext>
            </a:extLst>
          </p:cNvPr>
          <p:cNvGrpSpPr/>
          <p:nvPr/>
        </p:nvGrpSpPr>
        <p:grpSpPr>
          <a:xfrm>
            <a:off x="11992659" y="38606394"/>
            <a:ext cx="27221082" cy="923331"/>
            <a:chOff x="13161742" y="36634951"/>
            <a:chExt cx="27221082" cy="923331"/>
          </a:xfrm>
        </p:grpSpPr>
        <p:sp>
          <p:nvSpPr>
            <p:cNvPr id="81" name="Rectangle 80">
              <a:extLst>
                <a:ext uri="{FF2B5EF4-FFF2-40B4-BE49-F238E27FC236}">
                  <a16:creationId xmlns:a16="http://schemas.microsoft.com/office/drawing/2014/main" id="{72807964-5BD9-B45A-64B0-2645DF88EB3B}"/>
                </a:ext>
              </a:extLst>
            </p:cNvPr>
            <p:cNvSpPr/>
            <p:nvPr/>
          </p:nvSpPr>
          <p:spPr>
            <a:xfrm>
              <a:off x="13161742" y="36744814"/>
              <a:ext cx="1646814" cy="703607"/>
            </a:xfrm>
            <a:prstGeom prst="rect">
              <a:avLst/>
            </a:prstGeom>
            <a:solidFill>
              <a:srgbClr val="A6CAE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2" name="TextBox 81">
              <a:extLst>
                <a:ext uri="{FF2B5EF4-FFF2-40B4-BE49-F238E27FC236}">
                  <a16:creationId xmlns:a16="http://schemas.microsoft.com/office/drawing/2014/main" id="{EACA069E-8CED-5E8A-69B1-E9F4FC24041A}"/>
                </a:ext>
              </a:extLst>
            </p:cNvPr>
            <p:cNvSpPr txBox="1"/>
            <p:nvPr/>
          </p:nvSpPr>
          <p:spPr>
            <a:xfrm>
              <a:off x="13960804" y="36634952"/>
              <a:ext cx="6199523" cy="923330"/>
            </a:xfrm>
            <a:prstGeom prst="rect">
              <a:avLst/>
            </a:prstGeom>
            <a:noFill/>
          </p:spPr>
          <p:txBody>
            <a:bodyPr wrap="square" rtlCol="0">
              <a:spAutoFit/>
            </a:bodyPr>
            <a:lstStyle/>
            <a:p>
              <a:pPr algn="ctr"/>
              <a:r>
                <a:rPr lang="en-US" sz="5400" noProof="0" dirty="0"/>
                <a:t>User prompt</a:t>
              </a:r>
            </a:p>
          </p:txBody>
        </p:sp>
        <p:sp>
          <p:nvSpPr>
            <p:cNvPr id="83" name="Rectangle 82">
              <a:extLst>
                <a:ext uri="{FF2B5EF4-FFF2-40B4-BE49-F238E27FC236}">
                  <a16:creationId xmlns:a16="http://schemas.microsoft.com/office/drawing/2014/main" id="{083E7B6A-0D88-EE7A-862D-CD52DE210854}"/>
                </a:ext>
              </a:extLst>
            </p:cNvPr>
            <p:cNvSpPr/>
            <p:nvPr/>
          </p:nvSpPr>
          <p:spPr>
            <a:xfrm>
              <a:off x="25799957" y="36744813"/>
              <a:ext cx="1646814" cy="70360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4" name="TextBox 83">
              <a:extLst>
                <a:ext uri="{FF2B5EF4-FFF2-40B4-BE49-F238E27FC236}">
                  <a16:creationId xmlns:a16="http://schemas.microsoft.com/office/drawing/2014/main" id="{358AE044-1305-34FC-BBC0-450EF8C6264C}"/>
                </a:ext>
              </a:extLst>
            </p:cNvPr>
            <p:cNvSpPr txBox="1"/>
            <p:nvPr/>
          </p:nvSpPr>
          <p:spPr>
            <a:xfrm>
              <a:off x="26772284" y="36634951"/>
              <a:ext cx="7823025" cy="923330"/>
            </a:xfrm>
            <a:prstGeom prst="rect">
              <a:avLst/>
            </a:prstGeom>
            <a:noFill/>
          </p:spPr>
          <p:txBody>
            <a:bodyPr wrap="square" rtlCol="0">
              <a:spAutoFit/>
            </a:bodyPr>
            <a:lstStyle/>
            <a:p>
              <a:pPr algn="ctr"/>
              <a:r>
                <a:rPr lang="en-US" sz="5400" noProof="0" dirty="0"/>
                <a:t>Response &amp; output</a:t>
              </a:r>
            </a:p>
          </p:txBody>
        </p:sp>
        <p:sp>
          <p:nvSpPr>
            <p:cNvPr id="86" name="Rectangle 85">
              <a:extLst>
                <a:ext uri="{FF2B5EF4-FFF2-40B4-BE49-F238E27FC236}">
                  <a16:creationId xmlns:a16="http://schemas.microsoft.com/office/drawing/2014/main" id="{350C722C-59C7-EC1B-EC99-E1777E1494CE}"/>
                </a:ext>
              </a:extLst>
            </p:cNvPr>
            <p:cNvSpPr/>
            <p:nvPr/>
          </p:nvSpPr>
          <p:spPr>
            <a:xfrm>
              <a:off x="34204757" y="36744814"/>
              <a:ext cx="1646814" cy="703607"/>
            </a:xfrm>
            <a:prstGeom prst="rect">
              <a:avLst/>
            </a:prstGeom>
            <a:solidFill>
              <a:srgbClr val="B4E5A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7" name="TextBox 86">
              <a:extLst>
                <a:ext uri="{FF2B5EF4-FFF2-40B4-BE49-F238E27FC236}">
                  <a16:creationId xmlns:a16="http://schemas.microsoft.com/office/drawing/2014/main" id="{24FCF701-8B21-25B2-2AE4-BF962FF75654}"/>
                </a:ext>
              </a:extLst>
            </p:cNvPr>
            <p:cNvSpPr txBox="1"/>
            <p:nvPr/>
          </p:nvSpPr>
          <p:spPr>
            <a:xfrm>
              <a:off x="35326982" y="36634952"/>
              <a:ext cx="5055842" cy="923330"/>
            </a:xfrm>
            <a:prstGeom prst="rect">
              <a:avLst/>
            </a:prstGeom>
            <a:noFill/>
          </p:spPr>
          <p:txBody>
            <a:bodyPr wrap="square" rtlCol="0">
              <a:spAutoFit/>
            </a:bodyPr>
            <a:lstStyle/>
            <a:p>
              <a:pPr algn="ctr"/>
              <a:r>
                <a:rPr lang="en-US" sz="5400" noProof="0" dirty="0"/>
                <a:t>Discussion</a:t>
              </a:r>
            </a:p>
          </p:txBody>
        </p:sp>
        <p:sp>
          <p:nvSpPr>
            <p:cNvPr id="5" name="Rectangle 4">
              <a:extLst>
                <a:ext uri="{FF2B5EF4-FFF2-40B4-BE49-F238E27FC236}">
                  <a16:creationId xmlns:a16="http://schemas.microsoft.com/office/drawing/2014/main" id="{A2B5BA64-5C49-72B3-4807-202BB7511121}"/>
                </a:ext>
              </a:extLst>
            </p:cNvPr>
            <p:cNvSpPr/>
            <p:nvPr/>
          </p:nvSpPr>
          <p:spPr>
            <a:xfrm>
              <a:off x="19941225" y="36727878"/>
              <a:ext cx="1646814" cy="703607"/>
            </a:xfrm>
            <a:prstGeom prst="rect">
              <a:avLst/>
            </a:prstGeom>
            <a:solidFill>
              <a:srgbClr val="D9D9D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solidFill>
                  <a:srgbClr val="FFFFFF"/>
                </a:solidFill>
              </a:endParaRPr>
            </a:p>
          </p:txBody>
        </p:sp>
        <p:sp>
          <p:nvSpPr>
            <p:cNvPr id="6" name="TextBox 5">
              <a:extLst>
                <a:ext uri="{FF2B5EF4-FFF2-40B4-BE49-F238E27FC236}">
                  <a16:creationId xmlns:a16="http://schemas.microsoft.com/office/drawing/2014/main" id="{0B838B24-BA64-D5F2-D98D-5C4BC2C2CAD6}"/>
                </a:ext>
              </a:extLst>
            </p:cNvPr>
            <p:cNvSpPr txBox="1"/>
            <p:nvPr/>
          </p:nvSpPr>
          <p:spPr>
            <a:xfrm>
              <a:off x="20283087" y="36634951"/>
              <a:ext cx="6026433" cy="923330"/>
            </a:xfrm>
            <a:prstGeom prst="rect">
              <a:avLst/>
            </a:prstGeom>
            <a:noFill/>
          </p:spPr>
          <p:txBody>
            <a:bodyPr wrap="square" rtlCol="0">
              <a:spAutoFit/>
            </a:bodyPr>
            <a:lstStyle/>
            <a:p>
              <a:pPr algn="ctr"/>
              <a:r>
                <a:rPr lang="en-US" sz="5400" noProof="0" dirty="0"/>
                <a:t>Tool calls</a:t>
              </a:r>
            </a:p>
          </p:txBody>
        </p:sp>
      </p:grpSp>
      <p:grpSp>
        <p:nvGrpSpPr>
          <p:cNvPr id="103" name="Group 102">
            <a:extLst>
              <a:ext uri="{FF2B5EF4-FFF2-40B4-BE49-F238E27FC236}">
                <a16:creationId xmlns:a16="http://schemas.microsoft.com/office/drawing/2014/main" id="{686AEDAD-7926-E065-5CEF-0258F653ADAC}"/>
              </a:ext>
            </a:extLst>
          </p:cNvPr>
          <p:cNvGrpSpPr/>
          <p:nvPr/>
        </p:nvGrpSpPr>
        <p:grpSpPr>
          <a:xfrm>
            <a:off x="7138763" y="4526581"/>
            <a:ext cx="35924001" cy="4270163"/>
            <a:chOff x="6759986" y="11876103"/>
            <a:chExt cx="35924001" cy="4270163"/>
          </a:xfrm>
        </p:grpSpPr>
        <p:sp>
          <p:nvSpPr>
            <p:cNvPr id="3" name="Rectangle: Rounded Corners 2">
              <a:extLst>
                <a:ext uri="{FF2B5EF4-FFF2-40B4-BE49-F238E27FC236}">
                  <a16:creationId xmlns:a16="http://schemas.microsoft.com/office/drawing/2014/main" id="{465AE2D3-52C5-2D04-D846-EC865A9F4DC7}"/>
                </a:ext>
              </a:extLst>
            </p:cNvPr>
            <p:cNvSpPr/>
            <p:nvPr/>
          </p:nvSpPr>
          <p:spPr>
            <a:xfrm>
              <a:off x="6759986" y="12124268"/>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Find dataset</a:t>
              </a:r>
            </a:p>
          </p:txBody>
        </p:sp>
        <p:sp>
          <p:nvSpPr>
            <p:cNvPr id="4" name="Rectangle: Rounded Corners 3">
              <a:extLst>
                <a:ext uri="{FF2B5EF4-FFF2-40B4-BE49-F238E27FC236}">
                  <a16:creationId xmlns:a16="http://schemas.microsoft.com/office/drawing/2014/main" id="{6DB85F9D-5273-DCFF-C989-7562C2561479}"/>
                </a:ext>
              </a:extLst>
            </p:cNvPr>
            <p:cNvSpPr/>
            <p:nvPr/>
          </p:nvSpPr>
          <p:spPr>
            <a:xfrm>
              <a:off x="6759986" y="14558075"/>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Load dataset</a:t>
              </a:r>
            </a:p>
          </p:txBody>
        </p:sp>
        <p:sp>
          <p:nvSpPr>
            <p:cNvPr id="8" name="Rectangle: Rounded Corners 7">
              <a:extLst>
                <a:ext uri="{FF2B5EF4-FFF2-40B4-BE49-F238E27FC236}">
                  <a16:creationId xmlns:a16="http://schemas.microsoft.com/office/drawing/2014/main" id="{872B3574-1A6E-95E9-EEA3-C496E1B2F4CE}"/>
                </a:ext>
              </a:extLst>
            </p:cNvPr>
            <p:cNvSpPr/>
            <p:nvPr/>
          </p:nvSpPr>
          <p:spPr>
            <a:xfrm>
              <a:off x="14116180" y="14558075"/>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Split dataset</a:t>
              </a:r>
            </a:p>
          </p:txBody>
        </p:sp>
        <p:sp>
          <p:nvSpPr>
            <p:cNvPr id="9" name="Rectangle: Rounded Corners 8">
              <a:extLst>
                <a:ext uri="{FF2B5EF4-FFF2-40B4-BE49-F238E27FC236}">
                  <a16:creationId xmlns:a16="http://schemas.microsoft.com/office/drawing/2014/main" id="{AB67E2D9-9E9D-F863-4BAE-D1ACB7A59896}"/>
                </a:ext>
              </a:extLst>
            </p:cNvPr>
            <p:cNvSpPr/>
            <p:nvPr/>
          </p:nvSpPr>
          <p:spPr>
            <a:xfrm>
              <a:off x="14116180" y="11876103"/>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Prepare GNN dataset</a:t>
              </a:r>
            </a:p>
          </p:txBody>
        </p:sp>
        <p:sp>
          <p:nvSpPr>
            <p:cNvPr id="10" name="Rectangle: Rounded Corners 9">
              <a:extLst>
                <a:ext uri="{FF2B5EF4-FFF2-40B4-BE49-F238E27FC236}">
                  <a16:creationId xmlns:a16="http://schemas.microsoft.com/office/drawing/2014/main" id="{1344948B-9127-5D85-04AF-9E27623C51DB}"/>
                </a:ext>
              </a:extLst>
            </p:cNvPr>
            <p:cNvSpPr/>
            <p:nvPr/>
          </p:nvSpPr>
          <p:spPr>
            <a:xfrm>
              <a:off x="21472374" y="12124268"/>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Train GNN model</a:t>
              </a:r>
            </a:p>
          </p:txBody>
        </p:sp>
        <p:sp>
          <p:nvSpPr>
            <p:cNvPr id="12" name="Rectangle: Rounded Corners 11">
              <a:extLst>
                <a:ext uri="{FF2B5EF4-FFF2-40B4-BE49-F238E27FC236}">
                  <a16:creationId xmlns:a16="http://schemas.microsoft.com/office/drawing/2014/main" id="{9B31298B-CDEF-CDC2-2977-DCA4EAA13569}"/>
                </a:ext>
              </a:extLst>
            </p:cNvPr>
            <p:cNvSpPr/>
            <p:nvPr/>
          </p:nvSpPr>
          <p:spPr>
            <a:xfrm>
              <a:off x="21472374" y="14309910"/>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Select compounds</a:t>
              </a:r>
            </a:p>
          </p:txBody>
        </p:sp>
        <p:sp>
          <p:nvSpPr>
            <p:cNvPr id="13" name="Rectangle: Rounded Corners 12">
              <a:extLst>
                <a:ext uri="{FF2B5EF4-FFF2-40B4-BE49-F238E27FC236}">
                  <a16:creationId xmlns:a16="http://schemas.microsoft.com/office/drawing/2014/main" id="{A2D69792-6240-2A88-CEB7-39F07C646BE7}"/>
                </a:ext>
              </a:extLst>
            </p:cNvPr>
            <p:cNvSpPr/>
            <p:nvPr/>
          </p:nvSpPr>
          <p:spPr>
            <a:xfrm>
              <a:off x="28828568" y="14308322"/>
              <a:ext cx="6499225" cy="1837944"/>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Explain with EdgeSHAPer</a:t>
              </a:r>
            </a:p>
          </p:txBody>
        </p:sp>
        <p:cxnSp>
          <p:nvCxnSpPr>
            <p:cNvPr id="16" name="Straight Arrow Connector 15">
              <a:extLst>
                <a:ext uri="{FF2B5EF4-FFF2-40B4-BE49-F238E27FC236}">
                  <a16:creationId xmlns:a16="http://schemas.microsoft.com/office/drawing/2014/main" id="{0EB09105-A603-3792-FA56-C202D530844E}"/>
                </a:ext>
              </a:extLst>
            </p:cNvPr>
            <p:cNvCxnSpPr>
              <a:cxnSpLocks/>
              <a:stCxn id="3" idx="2"/>
              <a:endCxn id="4" idx="0"/>
            </p:cNvCxnSpPr>
            <p:nvPr/>
          </p:nvCxnSpPr>
          <p:spPr>
            <a:xfrm>
              <a:off x="10009599" y="13462707"/>
              <a:ext cx="0" cy="1095368"/>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826109EB-84B7-25A1-4C4D-5E40E7C05280}"/>
                </a:ext>
              </a:extLst>
            </p:cNvPr>
            <p:cNvCxnSpPr>
              <a:cxnSpLocks/>
              <a:stCxn id="4" idx="3"/>
              <a:endCxn id="8" idx="1"/>
            </p:cNvCxnSpPr>
            <p:nvPr/>
          </p:nvCxnSpPr>
          <p:spPr>
            <a:xfrm>
              <a:off x="13259211" y="15227295"/>
              <a:ext cx="856969"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FE9E200C-F61C-E3BC-C813-973305E697A5}"/>
                </a:ext>
              </a:extLst>
            </p:cNvPr>
            <p:cNvCxnSpPr>
              <a:cxnSpLocks/>
              <a:stCxn id="8" idx="0"/>
              <a:endCxn id="9" idx="2"/>
            </p:cNvCxnSpPr>
            <p:nvPr/>
          </p:nvCxnSpPr>
          <p:spPr>
            <a:xfrm flipV="1">
              <a:off x="17365793" y="13710872"/>
              <a:ext cx="0" cy="84720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2" name="Straight Arrow Connector 31">
              <a:extLst>
                <a:ext uri="{FF2B5EF4-FFF2-40B4-BE49-F238E27FC236}">
                  <a16:creationId xmlns:a16="http://schemas.microsoft.com/office/drawing/2014/main" id="{6B958271-883F-8940-76BB-8AF8F00A9DC4}"/>
                </a:ext>
              </a:extLst>
            </p:cNvPr>
            <p:cNvCxnSpPr>
              <a:cxnSpLocks/>
              <a:stCxn id="9" idx="3"/>
            </p:cNvCxnSpPr>
            <p:nvPr/>
          </p:nvCxnSpPr>
          <p:spPr>
            <a:xfrm>
              <a:off x="20615405" y="12793488"/>
              <a:ext cx="856969"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8" name="Straight Arrow Connector 37">
              <a:extLst>
                <a:ext uri="{FF2B5EF4-FFF2-40B4-BE49-F238E27FC236}">
                  <a16:creationId xmlns:a16="http://schemas.microsoft.com/office/drawing/2014/main" id="{14B6177B-6EC6-A0F4-463E-CAAB2559ADE4}"/>
                </a:ext>
              </a:extLst>
            </p:cNvPr>
            <p:cNvCxnSpPr>
              <a:cxnSpLocks/>
              <a:stCxn id="10" idx="2"/>
              <a:endCxn id="12" idx="0"/>
            </p:cNvCxnSpPr>
            <p:nvPr/>
          </p:nvCxnSpPr>
          <p:spPr>
            <a:xfrm>
              <a:off x="24721987" y="13462707"/>
              <a:ext cx="0" cy="84720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617806EB-FC1C-9A83-BF43-2E984DA88F27}"/>
                </a:ext>
              </a:extLst>
            </p:cNvPr>
            <p:cNvCxnSpPr>
              <a:cxnSpLocks/>
              <a:stCxn id="12" idx="3"/>
              <a:endCxn id="13" idx="1"/>
            </p:cNvCxnSpPr>
            <p:nvPr/>
          </p:nvCxnSpPr>
          <p:spPr>
            <a:xfrm flipV="1">
              <a:off x="27971599" y="15227294"/>
              <a:ext cx="856969" cy="1"/>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11" name="Rectangle: Rounded Corners 10">
              <a:extLst>
                <a:ext uri="{FF2B5EF4-FFF2-40B4-BE49-F238E27FC236}">
                  <a16:creationId xmlns:a16="http://schemas.microsoft.com/office/drawing/2014/main" id="{B9E2F0D2-758C-ADDA-FB1D-86150C43DBFB}"/>
                </a:ext>
              </a:extLst>
            </p:cNvPr>
            <p:cNvSpPr/>
            <p:nvPr/>
          </p:nvSpPr>
          <p:spPr>
            <a:xfrm>
              <a:off x="28828568" y="11876103"/>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Visualize EdgeSHAPer results</a:t>
              </a:r>
            </a:p>
          </p:txBody>
        </p:sp>
        <p:sp>
          <p:nvSpPr>
            <p:cNvPr id="15" name="Rectangle: Rounded Corners 14">
              <a:extLst>
                <a:ext uri="{FF2B5EF4-FFF2-40B4-BE49-F238E27FC236}">
                  <a16:creationId xmlns:a16="http://schemas.microsoft.com/office/drawing/2014/main" id="{B8F65186-81B1-D1B8-C13F-3957238F2887}"/>
                </a:ext>
              </a:extLst>
            </p:cNvPr>
            <p:cNvSpPr/>
            <p:nvPr/>
          </p:nvSpPr>
          <p:spPr>
            <a:xfrm>
              <a:off x="36184762" y="11876103"/>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noProof="0" dirty="0">
                  <a:solidFill>
                    <a:schemeClr val="tx1"/>
                  </a:solidFill>
                </a:rPr>
                <a:t>Get bond environments</a:t>
              </a:r>
            </a:p>
          </p:txBody>
        </p:sp>
        <p:cxnSp>
          <p:nvCxnSpPr>
            <p:cNvPr id="21" name="Straight Arrow Connector 20">
              <a:extLst>
                <a:ext uri="{FF2B5EF4-FFF2-40B4-BE49-F238E27FC236}">
                  <a16:creationId xmlns:a16="http://schemas.microsoft.com/office/drawing/2014/main" id="{C494FD80-29C3-EE6B-FDB2-9A808DC94B6F}"/>
                </a:ext>
              </a:extLst>
            </p:cNvPr>
            <p:cNvCxnSpPr>
              <a:cxnSpLocks/>
              <a:stCxn id="13" idx="0"/>
              <a:endCxn id="11" idx="2"/>
            </p:cNvCxnSpPr>
            <p:nvPr/>
          </p:nvCxnSpPr>
          <p:spPr>
            <a:xfrm flipV="1">
              <a:off x="32078181" y="13710872"/>
              <a:ext cx="0" cy="59745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43" name="Straight Arrow Connector 42">
              <a:extLst>
                <a:ext uri="{FF2B5EF4-FFF2-40B4-BE49-F238E27FC236}">
                  <a16:creationId xmlns:a16="http://schemas.microsoft.com/office/drawing/2014/main" id="{6B52E9F8-65B2-1599-AE34-E1A6FD0F09B4}"/>
                </a:ext>
              </a:extLst>
            </p:cNvPr>
            <p:cNvCxnSpPr>
              <a:cxnSpLocks/>
              <a:stCxn id="11" idx="3"/>
              <a:endCxn id="15" idx="1"/>
            </p:cNvCxnSpPr>
            <p:nvPr/>
          </p:nvCxnSpPr>
          <p:spPr>
            <a:xfrm>
              <a:off x="35327793" y="12793488"/>
              <a:ext cx="856969"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grpSp>
      <p:sp>
        <p:nvSpPr>
          <p:cNvPr id="64" name="TextBox 63">
            <a:extLst>
              <a:ext uri="{FF2B5EF4-FFF2-40B4-BE49-F238E27FC236}">
                <a16:creationId xmlns:a16="http://schemas.microsoft.com/office/drawing/2014/main" id="{375CDCAE-E997-6AB6-EE31-7EEA0E2E635E}"/>
              </a:ext>
            </a:extLst>
          </p:cNvPr>
          <p:cNvSpPr txBox="1"/>
          <p:nvPr/>
        </p:nvSpPr>
        <p:spPr>
          <a:xfrm>
            <a:off x="31448517" y="10647506"/>
            <a:ext cx="6310257" cy="923330"/>
          </a:xfrm>
          <a:prstGeom prst="rect">
            <a:avLst/>
          </a:prstGeom>
          <a:noFill/>
        </p:spPr>
        <p:txBody>
          <a:bodyPr wrap="square" rtlCol="0">
            <a:spAutoFit/>
          </a:bodyPr>
          <a:lstStyle/>
          <a:p>
            <a:pPr algn="ctr"/>
            <a:r>
              <a:rPr lang="en-US" sz="5400" b="1" noProof="0" dirty="0"/>
              <a:t>Inactive</a:t>
            </a:r>
          </a:p>
        </p:txBody>
      </p:sp>
      <p:sp>
        <p:nvSpPr>
          <p:cNvPr id="63" name="TextBox 62">
            <a:extLst>
              <a:ext uri="{FF2B5EF4-FFF2-40B4-BE49-F238E27FC236}">
                <a16:creationId xmlns:a16="http://schemas.microsoft.com/office/drawing/2014/main" id="{6A5C72D7-D885-252B-9D5B-8FCC3218E83B}"/>
              </a:ext>
            </a:extLst>
          </p:cNvPr>
          <p:cNvSpPr txBox="1"/>
          <p:nvPr/>
        </p:nvSpPr>
        <p:spPr>
          <a:xfrm>
            <a:off x="12712994" y="10647506"/>
            <a:ext cx="6603459" cy="923330"/>
          </a:xfrm>
          <a:prstGeom prst="rect">
            <a:avLst/>
          </a:prstGeom>
          <a:noFill/>
        </p:spPr>
        <p:txBody>
          <a:bodyPr wrap="square" rtlCol="0">
            <a:spAutoFit/>
          </a:bodyPr>
          <a:lstStyle/>
          <a:p>
            <a:pPr algn="ctr"/>
            <a:r>
              <a:rPr lang="en-US" sz="5400" b="1" noProof="0" dirty="0"/>
              <a:t>Active</a:t>
            </a:r>
          </a:p>
        </p:txBody>
      </p:sp>
      <p:pic>
        <p:nvPicPr>
          <p:cNvPr id="52" name="Picture 51">
            <a:extLst>
              <a:ext uri="{FF2B5EF4-FFF2-40B4-BE49-F238E27FC236}">
                <a16:creationId xmlns:a16="http://schemas.microsoft.com/office/drawing/2014/main" id="{205590DA-02DC-2BC3-5EB1-2191FD671C52}"/>
              </a:ext>
            </a:extLst>
          </p:cNvPr>
          <p:cNvPicPr>
            <a:picLocks noChangeAspect="1"/>
          </p:cNvPicPr>
          <p:nvPr/>
        </p:nvPicPr>
        <p:blipFill>
          <a:blip r:embed="rId2">
            <a:extLst>
              <a:ext uri="{28A0092B-C50C-407E-A947-70E740481C1C}">
                <a14:useLocalDpi xmlns:a14="http://schemas.microsoft.com/office/drawing/2010/main" val="0"/>
              </a:ext>
            </a:extLst>
          </a:blip>
          <a:srcRect l="13352" t="27149" r="14277" b="22141"/>
          <a:stretch>
            <a:fillRect/>
          </a:stretch>
        </p:blipFill>
        <p:spPr>
          <a:xfrm>
            <a:off x="8971931" y="11708516"/>
            <a:ext cx="13954956" cy="5500237"/>
          </a:xfrm>
          <a:prstGeom prst="rect">
            <a:avLst/>
          </a:prstGeom>
        </p:spPr>
      </p:pic>
      <p:pic>
        <p:nvPicPr>
          <p:cNvPr id="55" name="Picture 54">
            <a:extLst>
              <a:ext uri="{FF2B5EF4-FFF2-40B4-BE49-F238E27FC236}">
                <a16:creationId xmlns:a16="http://schemas.microsoft.com/office/drawing/2014/main" id="{377B645A-806B-0951-E881-FFC87314EA36}"/>
              </a:ext>
            </a:extLst>
          </p:cNvPr>
          <p:cNvPicPr>
            <a:picLocks noChangeAspect="1"/>
          </p:cNvPicPr>
          <p:nvPr/>
        </p:nvPicPr>
        <p:blipFill>
          <a:blip r:embed="rId3">
            <a:extLst>
              <a:ext uri="{28A0092B-C50C-407E-A947-70E740481C1C}">
                <a14:useLocalDpi xmlns:a14="http://schemas.microsoft.com/office/drawing/2010/main" val="0"/>
              </a:ext>
            </a:extLst>
          </a:blip>
          <a:srcRect l="19863" t="16377" r="16237" b="17678"/>
          <a:stretch>
            <a:fillRect/>
          </a:stretch>
        </p:blipFill>
        <p:spPr>
          <a:xfrm>
            <a:off x="29002587" y="11794849"/>
            <a:ext cx="11202116" cy="6503004"/>
          </a:xfrm>
          <a:prstGeom prst="rect">
            <a:avLst/>
          </a:prstGeom>
        </p:spPr>
      </p:pic>
      <p:sp>
        <p:nvSpPr>
          <p:cNvPr id="70" name="TextBox 69">
            <a:extLst>
              <a:ext uri="{FF2B5EF4-FFF2-40B4-BE49-F238E27FC236}">
                <a16:creationId xmlns:a16="http://schemas.microsoft.com/office/drawing/2014/main" id="{F75F65F4-FB7F-51FF-4984-C82E951ABDA0}"/>
              </a:ext>
            </a:extLst>
          </p:cNvPr>
          <p:cNvSpPr txBox="1"/>
          <p:nvPr/>
        </p:nvSpPr>
        <p:spPr>
          <a:xfrm>
            <a:off x="7218356" y="18176545"/>
            <a:ext cx="17882408" cy="6894195"/>
          </a:xfrm>
          <a:prstGeom prst="rect">
            <a:avLst/>
          </a:prstGeom>
          <a:noFill/>
        </p:spPr>
        <p:txBody>
          <a:bodyPr wrap="square">
            <a:spAutoFit/>
          </a:bodyPr>
          <a:lstStyle/>
          <a:p>
            <a:pPr>
              <a:spcAft>
                <a:spcPts val="1200"/>
              </a:spcAft>
            </a:pPr>
            <a:r>
              <a:rPr lang="en-US" sz="5400" b="1" noProof="0" dirty="0"/>
              <a:t>⬆️ EdgeSHAPer analysis on activity </a:t>
            </a:r>
            <a:r>
              <a:rPr lang="en-US" sz="5400" b="1" i="0" noProof="0" dirty="0">
                <a:effectLst/>
              </a:rPr>
              <a:t>Piperazine Ring Bonds Dominate</a:t>
            </a:r>
            <a:r>
              <a:rPr lang="en-US" sz="5400" b="0" i="0" noProof="0" dirty="0">
                <a:effectLst/>
              </a:rPr>
              <a:t> (φ = 0.116, 0.101, 0.095)</a:t>
            </a:r>
          </a:p>
          <a:p>
            <a:pPr marL="1028700" lvl="1" indent="-571500">
              <a:buFont typeface="Arial" panose="020B0604020202020204" pitchFamily="34" charset="0"/>
              <a:buChar char="•"/>
            </a:pPr>
            <a:r>
              <a:rPr lang="en-US" sz="5400" b="0" i="0" noProof="0" dirty="0">
                <a:effectLst/>
              </a:rPr>
              <a:t>The C-N and C-C bonds within the </a:t>
            </a:r>
            <a:r>
              <a:rPr lang="en-US" sz="5400" b="1" i="0" noProof="0" dirty="0">
                <a:effectLst/>
              </a:rPr>
              <a:t>piperazine ring </a:t>
            </a:r>
            <a:r>
              <a:rPr lang="en-US" sz="5400" b="0" i="0" noProof="0" dirty="0">
                <a:effectLst/>
              </a:rPr>
              <a:t>show the highest positive SHAP values</a:t>
            </a:r>
          </a:p>
          <a:p>
            <a:pPr marL="1028700" lvl="1" indent="-571500">
              <a:buFont typeface="Arial" panose="020B0604020202020204" pitchFamily="34" charset="0"/>
              <a:buChar char="•"/>
            </a:pPr>
            <a:r>
              <a:rPr lang="en-US" sz="5400" b="0" i="0" noProof="0" dirty="0">
                <a:effectLst/>
              </a:rPr>
              <a:t>This suggests the model associates the </a:t>
            </a:r>
            <a:r>
              <a:rPr lang="en-US" sz="5400" b="1" i="0" noProof="0" dirty="0">
                <a:effectLst/>
              </a:rPr>
              <a:t>piperazine scaffold with activity</a:t>
            </a:r>
          </a:p>
          <a:p>
            <a:pPr marL="1028700" lvl="1" indent="-571500">
              <a:buFont typeface="Arial" panose="020B0604020202020204" pitchFamily="34" charset="0"/>
              <a:buChar char="•"/>
            </a:pPr>
            <a:r>
              <a:rPr lang="en-US" sz="5400" b="0" i="0" noProof="0" dirty="0">
                <a:effectLst/>
              </a:rPr>
              <a:t>Piperazine is a </a:t>
            </a:r>
            <a:r>
              <a:rPr lang="en-US" sz="5400" b="1" i="0" noProof="0" dirty="0">
                <a:effectLst/>
              </a:rPr>
              <a:t>common pharmacophore </a:t>
            </a:r>
            <a:r>
              <a:rPr lang="en-US" sz="5400" b="0" i="0" noProof="0" dirty="0">
                <a:effectLst/>
              </a:rPr>
              <a:t>in bioactive molecules</a:t>
            </a:r>
          </a:p>
        </p:txBody>
      </p:sp>
      <p:sp>
        <p:nvSpPr>
          <p:cNvPr id="76" name="TextBox 75">
            <a:extLst>
              <a:ext uri="{FF2B5EF4-FFF2-40B4-BE49-F238E27FC236}">
                <a16:creationId xmlns:a16="http://schemas.microsoft.com/office/drawing/2014/main" id="{7E7006D0-478E-9B07-8E29-CFFE8A3BC008}"/>
              </a:ext>
            </a:extLst>
          </p:cNvPr>
          <p:cNvSpPr txBox="1"/>
          <p:nvPr/>
        </p:nvSpPr>
        <p:spPr>
          <a:xfrm>
            <a:off x="26374045" y="18176545"/>
            <a:ext cx="17262564" cy="6894195"/>
          </a:xfrm>
          <a:prstGeom prst="rect">
            <a:avLst/>
          </a:prstGeom>
          <a:noFill/>
        </p:spPr>
        <p:txBody>
          <a:bodyPr wrap="square">
            <a:spAutoFit/>
          </a:bodyPr>
          <a:lstStyle/>
          <a:p>
            <a:pPr>
              <a:spcAft>
                <a:spcPts val="1200"/>
              </a:spcAft>
            </a:pPr>
            <a:r>
              <a:rPr lang="en-US" sz="5400" b="1" noProof="0" dirty="0"/>
              <a:t>⬇️ EdgeSHAPer analysis on inactivity Methyl-Phenyl Bond Dominates </a:t>
            </a:r>
            <a:r>
              <a:rPr lang="en-US" sz="5400" noProof="0" dirty="0"/>
              <a:t>(φ = 0.283)</a:t>
            </a:r>
          </a:p>
          <a:p>
            <a:pPr marL="1028700" lvl="1" indent="-571500">
              <a:buFont typeface="Arial" panose="020B0604020202020204" pitchFamily="34" charset="0"/>
              <a:buChar char="•"/>
            </a:pPr>
            <a:r>
              <a:rPr lang="en-US" sz="5400" noProof="0" dirty="0"/>
              <a:t>The</a:t>
            </a:r>
            <a:r>
              <a:rPr lang="en-US" sz="5400" b="1" noProof="0" dirty="0"/>
              <a:t> C-C bond between methyl and phenyl </a:t>
            </a:r>
            <a:r>
              <a:rPr lang="en-US" sz="5400" noProof="0" dirty="0"/>
              <a:t>has an extremely </a:t>
            </a:r>
            <a:r>
              <a:rPr lang="en-US" sz="5400" b="1" noProof="0" dirty="0"/>
              <a:t>high</a:t>
            </a:r>
            <a:r>
              <a:rPr lang="en-US" sz="5400" noProof="0" dirty="0"/>
              <a:t> SHAP value</a:t>
            </a:r>
          </a:p>
          <a:p>
            <a:pPr marL="1028700" lvl="1" indent="-571500">
              <a:buFont typeface="Arial" panose="020B0604020202020204" pitchFamily="34" charset="0"/>
              <a:buChar char="•"/>
            </a:pPr>
            <a:r>
              <a:rPr lang="en-US" sz="5400" noProof="0" dirty="0"/>
              <a:t>This suggests the model associates </a:t>
            </a:r>
            <a:r>
              <a:rPr lang="en-US" sz="5400" b="1" noProof="0" dirty="0"/>
              <a:t>simple alkyl-phenyl systems </a:t>
            </a:r>
            <a:r>
              <a:rPr lang="en-US" sz="5400" noProof="0" dirty="0"/>
              <a:t>with inactivity</a:t>
            </a:r>
          </a:p>
          <a:p>
            <a:pPr marL="1028700" lvl="1" indent="-571500">
              <a:buFont typeface="Arial" panose="020B0604020202020204" pitchFamily="34" charset="0"/>
              <a:buChar char="•"/>
            </a:pPr>
            <a:r>
              <a:rPr lang="en-US" sz="5400" b="1" noProof="0" dirty="0"/>
              <a:t>Lack</a:t>
            </a:r>
            <a:r>
              <a:rPr lang="en-US" sz="5400" noProof="0" dirty="0"/>
              <a:t> of </a:t>
            </a:r>
            <a:r>
              <a:rPr lang="en-US" sz="5400" b="1" noProof="0" dirty="0"/>
              <a:t>complex pharmacophore </a:t>
            </a:r>
            <a:r>
              <a:rPr lang="en-US" sz="5400" noProof="0" dirty="0"/>
              <a:t>reduces activity likelihood</a:t>
            </a:r>
          </a:p>
        </p:txBody>
      </p:sp>
    </p:spTree>
    <p:extLst>
      <p:ext uri="{BB962C8B-B14F-4D97-AF65-F5344CB8AC3E}">
        <p14:creationId xmlns:p14="http://schemas.microsoft.com/office/powerpoint/2010/main" val="21750127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4F4115-82B6-4D1D-9C03-853EC54E3D5E}"/>
            </a:ext>
          </a:extLst>
        </p:cNvPr>
        <p:cNvGrpSpPr/>
        <p:nvPr/>
      </p:nvGrpSpPr>
      <p:grpSpPr>
        <a:xfrm>
          <a:off x="0" y="0"/>
          <a:ext cx="0" cy="0"/>
          <a:chOff x="0" y="0"/>
          <a:chExt cx="0" cy="0"/>
        </a:xfrm>
      </p:grpSpPr>
      <p:sp>
        <p:nvSpPr>
          <p:cNvPr id="51" name="Rectangle 50">
            <a:extLst>
              <a:ext uri="{FF2B5EF4-FFF2-40B4-BE49-F238E27FC236}">
                <a16:creationId xmlns:a16="http://schemas.microsoft.com/office/drawing/2014/main" id="{7E537B5A-7692-94F8-2AD0-48F9E53E76D4}"/>
              </a:ext>
            </a:extLst>
          </p:cNvPr>
          <p:cNvSpPr/>
          <p:nvPr/>
        </p:nvSpPr>
        <p:spPr>
          <a:xfrm>
            <a:off x="5660569" y="-8516736"/>
            <a:ext cx="39010249" cy="6566262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Rounded Corners 13">
            <a:extLst>
              <a:ext uri="{FF2B5EF4-FFF2-40B4-BE49-F238E27FC236}">
                <a16:creationId xmlns:a16="http://schemas.microsoft.com/office/drawing/2014/main" id="{7E2204B4-3CAB-B64F-B1B6-FF85B7944E02}"/>
              </a:ext>
            </a:extLst>
          </p:cNvPr>
          <p:cNvSpPr/>
          <p:nvPr/>
        </p:nvSpPr>
        <p:spPr>
          <a:xfrm>
            <a:off x="6629847" y="-3969405"/>
            <a:ext cx="37071692" cy="5165792"/>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TextBox 52">
            <a:extLst>
              <a:ext uri="{FF2B5EF4-FFF2-40B4-BE49-F238E27FC236}">
                <a16:creationId xmlns:a16="http://schemas.microsoft.com/office/drawing/2014/main" id="{BF06A2BF-8375-DF19-7071-5832E7FAF41D}"/>
              </a:ext>
            </a:extLst>
          </p:cNvPr>
          <p:cNvSpPr txBox="1"/>
          <p:nvPr/>
        </p:nvSpPr>
        <p:spPr>
          <a:xfrm>
            <a:off x="15788362" y="1610289"/>
            <a:ext cx="18754663" cy="1015663"/>
          </a:xfrm>
          <a:prstGeom prst="rect">
            <a:avLst/>
          </a:prstGeom>
          <a:noFill/>
        </p:spPr>
        <p:txBody>
          <a:bodyPr wrap="square">
            <a:spAutoFit/>
          </a:bodyPr>
          <a:lstStyle/>
          <a:p>
            <a:pPr algn="ctr"/>
            <a:r>
              <a:rPr lang="en-US" sz="6000" b="1" i="0" noProof="0" dirty="0">
                <a:solidFill>
                  <a:srgbClr val="0F0F0F"/>
                </a:solidFill>
                <a:effectLst/>
              </a:rPr>
              <a:t>Classification performance and compound selection</a:t>
            </a:r>
          </a:p>
        </p:txBody>
      </p:sp>
      <p:sp>
        <p:nvSpPr>
          <p:cNvPr id="2" name="Rectangle: Top Corners Rounded 1">
            <a:extLst>
              <a:ext uri="{FF2B5EF4-FFF2-40B4-BE49-F238E27FC236}">
                <a16:creationId xmlns:a16="http://schemas.microsoft.com/office/drawing/2014/main" id="{47913F08-C653-ED54-3619-06CF5C45D840}"/>
              </a:ext>
            </a:extLst>
          </p:cNvPr>
          <p:cNvSpPr/>
          <p:nvPr/>
        </p:nvSpPr>
        <p:spPr>
          <a:xfrm>
            <a:off x="6644517" y="-8143712"/>
            <a:ext cx="37042353" cy="3858422"/>
          </a:xfrm>
          <a:prstGeom prst="round2Same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6000" noProof="0" dirty="0">
                <a:solidFill>
                  <a:schemeClr val="tx1"/>
                </a:solidFill>
              </a:rPr>
              <a:t>Train two different GNN models on a compound activity prediction dataset and compare their performances. Select a compound from the test set correctly predicted as active by both models. Explain the predictions using EdgeSHAPer and highlight the differences between the learning characteristics of the models showing relevant visualizations.</a:t>
            </a:r>
          </a:p>
        </p:txBody>
      </p:sp>
      <p:sp>
        <p:nvSpPr>
          <p:cNvPr id="49" name="Rectangle: Rounded Corners 48">
            <a:extLst>
              <a:ext uri="{FF2B5EF4-FFF2-40B4-BE49-F238E27FC236}">
                <a16:creationId xmlns:a16="http://schemas.microsoft.com/office/drawing/2014/main" id="{014F82AE-7444-B7D9-CABE-AE495689435A}"/>
              </a:ext>
            </a:extLst>
          </p:cNvPr>
          <p:cNvSpPr/>
          <p:nvPr/>
        </p:nvSpPr>
        <p:spPr>
          <a:xfrm>
            <a:off x="6629848" y="8076676"/>
            <a:ext cx="37071691" cy="5049566"/>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5" name="Rectangle: Top Corners Rounded 74">
            <a:extLst>
              <a:ext uri="{FF2B5EF4-FFF2-40B4-BE49-F238E27FC236}">
                <a16:creationId xmlns:a16="http://schemas.microsoft.com/office/drawing/2014/main" id="{55C163C5-1941-E68A-54B6-4BDBEFABF25A}"/>
              </a:ext>
            </a:extLst>
          </p:cNvPr>
          <p:cNvSpPr/>
          <p:nvPr/>
        </p:nvSpPr>
        <p:spPr>
          <a:xfrm rot="10800000">
            <a:off x="6659186" y="29927725"/>
            <a:ext cx="37013016" cy="2843247"/>
          </a:xfrm>
          <a:prstGeom prst="round2Same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sz="4400" noProof="0" dirty="0">
              <a:solidFill>
                <a:schemeClr val="tx1"/>
              </a:solidFill>
            </a:endParaRPr>
          </a:p>
        </p:txBody>
      </p:sp>
      <p:sp>
        <p:nvSpPr>
          <p:cNvPr id="80" name="TextBox 79">
            <a:extLst>
              <a:ext uri="{FF2B5EF4-FFF2-40B4-BE49-F238E27FC236}">
                <a16:creationId xmlns:a16="http://schemas.microsoft.com/office/drawing/2014/main" id="{81F5C08C-2F4E-9B17-FDCF-8B62402C0DCD}"/>
              </a:ext>
            </a:extLst>
          </p:cNvPr>
          <p:cNvSpPr txBox="1"/>
          <p:nvPr/>
        </p:nvSpPr>
        <p:spPr>
          <a:xfrm>
            <a:off x="16587008" y="28904896"/>
            <a:ext cx="17157371" cy="1015663"/>
          </a:xfrm>
          <a:prstGeom prst="rect">
            <a:avLst/>
          </a:prstGeom>
          <a:noFill/>
        </p:spPr>
        <p:txBody>
          <a:bodyPr wrap="square">
            <a:spAutoFit/>
          </a:bodyPr>
          <a:lstStyle/>
          <a:p>
            <a:pPr algn="ctr"/>
            <a:r>
              <a:rPr lang="en-US" sz="6000" b="1" noProof="0" dirty="0">
                <a:solidFill>
                  <a:srgbClr val="0F0F0F"/>
                </a:solidFill>
              </a:rPr>
              <a:t>Conclusions</a:t>
            </a:r>
            <a:endParaRPr lang="en-US" sz="6000" b="1" i="0" noProof="0" dirty="0">
              <a:solidFill>
                <a:srgbClr val="0F0F0F"/>
              </a:solidFill>
              <a:effectLst/>
            </a:endParaRPr>
          </a:p>
        </p:txBody>
      </p:sp>
      <p:grpSp>
        <p:nvGrpSpPr>
          <p:cNvPr id="55" name="Group 54">
            <a:extLst>
              <a:ext uri="{FF2B5EF4-FFF2-40B4-BE49-F238E27FC236}">
                <a16:creationId xmlns:a16="http://schemas.microsoft.com/office/drawing/2014/main" id="{F50ED4A0-B433-B82F-9A5C-A43F662F5403}"/>
              </a:ext>
            </a:extLst>
          </p:cNvPr>
          <p:cNvGrpSpPr/>
          <p:nvPr/>
        </p:nvGrpSpPr>
        <p:grpSpPr>
          <a:xfrm>
            <a:off x="11555152" y="59436827"/>
            <a:ext cx="27221082" cy="923330"/>
            <a:chOff x="11490222" y="63365996"/>
            <a:chExt cx="27221082" cy="923330"/>
          </a:xfrm>
        </p:grpSpPr>
        <p:sp>
          <p:nvSpPr>
            <p:cNvPr id="81" name="Rectangle 80">
              <a:extLst>
                <a:ext uri="{FF2B5EF4-FFF2-40B4-BE49-F238E27FC236}">
                  <a16:creationId xmlns:a16="http://schemas.microsoft.com/office/drawing/2014/main" id="{E701C404-2A78-F23D-5A34-946E8BE551C8}"/>
                </a:ext>
              </a:extLst>
            </p:cNvPr>
            <p:cNvSpPr/>
            <p:nvPr/>
          </p:nvSpPr>
          <p:spPr>
            <a:xfrm>
              <a:off x="11490222" y="63475858"/>
              <a:ext cx="1646814" cy="703607"/>
            </a:xfrm>
            <a:prstGeom prst="rect">
              <a:avLst/>
            </a:prstGeom>
            <a:solidFill>
              <a:srgbClr val="A6CAE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2" name="TextBox 81">
              <a:extLst>
                <a:ext uri="{FF2B5EF4-FFF2-40B4-BE49-F238E27FC236}">
                  <a16:creationId xmlns:a16="http://schemas.microsoft.com/office/drawing/2014/main" id="{33A61E6D-3385-42D1-34F2-DDA02C0D67B5}"/>
                </a:ext>
              </a:extLst>
            </p:cNvPr>
            <p:cNvSpPr txBox="1"/>
            <p:nvPr/>
          </p:nvSpPr>
          <p:spPr>
            <a:xfrm>
              <a:off x="12289284" y="63365996"/>
              <a:ext cx="6199523" cy="923330"/>
            </a:xfrm>
            <a:prstGeom prst="rect">
              <a:avLst/>
            </a:prstGeom>
            <a:noFill/>
          </p:spPr>
          <p:txBody>
            <a:bodyPr wrap="square" rtlCol="0">
              <a:spAutoFit/>
            </a:bodyPr>
            <a:lstStyle/>
            <a:p>
              <a:pPr algn="ctr"/>
              <a:r>
                <a:rPr lang="en-US" sz="5400" noProof="0" dirty="0"/>
                <a:t>User prompt</a:t>
              </a:r>
            </a:p>
          </p:txBody>
        </p:sp>
        <p:sp>
          <p:nvSpPr>
            <p:cNvPr id="83" name="Rectangle 82">
              <a:extLst>
                <a:ext uri="{FF2B5EF4-FFF2-40B4-BE49-F238E27FC236}">
                  <a16:creationId xmlns:a16="http://schemas.microsoft.com/office/drawing/2014/main" id="{73ED0363-E995-02D2-F6FE-344E09323DF6}"/>
                </a:ext>
              </a:extLst>
            </p:cNvPr>
            <p:cNvSpPr/>
            <p:nvPr/>
          </p:nvSpPr>
          <p:spPr>
            <a:xfrm>
              <a:off x="24077638" y="63475858"/>
              <a:ext cx="1646814" cy="70360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4" name="TextBox 83">
              <a:extLst>
                <a:ext uri="{FF2B5EF4-FFF2-40B4-BE49-F238E27FC236}">
                  <a16:creationId xmlns:a16="http://schemas.microsoft.com/office/drawing/2014/main" id="{BEE6936F-6FE7-DA34-B84F-5060A220E9A4}"/>
                </a:ext>
              </a:extLst>
            </p:cNvPr>
            <p:cNvSpPr txBox="1"/>
            <p:nvPr/>
          </p:nvSpPr>
          <p:spPr>
            <a:xfrm>
              <a:off x="24705250" y="63365996"/>
              <a:ext cx="8218539" cy="923330"/>
            </a:xfrm>
            <a:prstGeom prst="rect">
              <a:avLst/>
            </a:prstGeom>
            <a:noFill/>
          </p:spPr>
          <p:txBody>
            <a:bodyPr wrap="square" rtlCol="0">
              <a:spAutoFit/>
            </a:bodyPr>
            <a:lstStyle/>
            <a:p>
              <a:pPr algn="ctr"/>
              <a:r>
                <a:rPr lang="en-US" sz="5400" noProof="0" dirty="0"/>
                <a:t>Response &amp; output</a:t>
              </a:r>
            </a:p>
          </p:txBody>
        </p:sp>
        <p:sp>
          <p:nvSpPr>
            <p:cNvPr id="86" name="Rectangle 85">
              <a:extLst>
                <a:ext uri="{FF2B5EF4-FFF2-40B4-BE49-F238E27FC236}">
                  <a16:creationId xmlns:a16="http://schemas.microsoft.com/office/drawing/2014/main" id="{01498B35-FE0B-6C0D-D5DF-5DF7CDB066F8}"/>
                </a:ext>
              </a:extLst>
            </p:cNvPr>
            <p:cNvSpPr/>
            <p:nvPr/>
          </p:nvSpPr>
          <p:spPr>
            <a:xfrm>
              <a:off x="32533237" y="63475858"/>
              <a:ext cx="1646814" cy="703607"/>
            </a:xfrm>
            <a:prstGeom prst="rect">
              <a:avLst/>
            </a:prstGeom>
            <a:solidFill>
              <a:srgbClr val="B4E5A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7" name="TextBox 86">
              <a:extLst>
                <a:ext uri="{FF2B5EF4-FFF2-40B4-BE49-F238E27FC236}">
                  <a16:creationId xmlns:a16="http://schemas.microsoft.com/office/drawing/2014/main" id="{750FF3DF-CE24-E8D4-8086-B283594AF8EA}"/>
                </a:ext>
              </a:extLst>
            </p:cNvPr>
            <p:cNvSpPr txBox="1"/>
            <p:nvPr/>
          </p:nvSpPr>
          <p:spPr>
            <a:xfrm>
              <a:off x="33655462" y="63365996"/>
              <a:ext cx="5055842" cy="923330"/>
            </a:xfrm>
            <a:prstGeom prst="rect">
              <a:avLst/>
            </a:prstGeom>
            <a:noFill/>
          </p:spPr>
          <p:txBody>
            <a:bodyPr wrap="square" rtlCol="0">
              <a:spAutoFit/>
            </a:bodyPr>
            <a:lstStyle/>
            <a:p>
              <a:pPr algn="ctr"/>
              <a:r>
                <a:rPr lang="en-US" sz="5400" noProof="0" dirty="0"/>
                <a:t>Discussion</a:t>
              </a:r>
            </a:p>
          </p:txBody>
        </p:sp>
        <p:sp>
          <p:nvSpPr>
            <p:cNvPr id="5" name="Rectangle 4">
              <a:extLst>
                <a:ext uri="{FF2B5EF4-FFF2-40B4-BE49-F238E27FC236}">
                  <a16:creationId xmlns:a16="http://schemas.microsoft.com/office/drawing/2014/main" id="{2C356A53-8A46-0A18-A321-0888B77C5338}"/>
                </a:ext>
              </a:extLst>
            </p:cNvPr>
            <p:cNvSpPr/>
            <p:nvPr/>
          </p:nvSpPr>
          <p:spPr>
            <a:xfrm>
              <a:off x="18269705" y="63475858"/>
              <a:ext cx="1646814" cy="703607"/>
            </a:xfrm>
            <a:prstGeom prst="rect">
              <a:avLst/>
            </a:prstGeom>
            <a:solidFill>
              <a:srgbClr val="D9D9D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solidFill>
                  <a:srgbClr val="FFFFFF"/>
                </a:solidFill>
              </a:endParaRPr>
            </a:p>
          </p:txBody>
        </p:sp>
        <p:sp>
          <p:nvSpPr>
            <p:cNvPr id="6" name="TextBox 5">
              <a:extLst>
                <a:ext uri="{FF2B5EF4-FFF2-40B4-BE49-F238E27FC236}">
                  <a16:creationId xmlns:a16="http://schemas.microsoft.com/office/drawing/2014/main" id="{06F703A5-F80A-9F7B-B413-F7DEA8770F76}"/>
                </a:ext>
              </a:extLst>
            </p:cNvPr>
            <p:cNvSpPr txBox="1"/>
            <p:nvPr/>
          </p:nvSpPr>
          <p:spPr>
            <a:xfrm>
              <a:off x="18611567" y="63365996"/>
              <a:ext cx="6199523" cy="923330"/>
            </a:xfrm>
            <a:prstGeom prst="rect">
              <a:avLst/>
            </a:prstGeom>
            <a:noFill/>
          </p:spPr>
          <p:txBody>
            <a:bodyPr wrap="square" rtlCol="0">
              <a:spAutoFit/>
            </a:bodyPr>
            <a:lstStyle/>
            <a:p>
              <a:pPr algn="ctr"/>
              <a:r>
                <a:rPr lang="en-US" sz="5400" noProof="0" dirty="0"/>
                <a:t>Tool calls</a:t>
              </a:r>
            </a:p>
          </p:txBody>
        </p:sp>
      </p:grpSp>
      <p:grpSp>
        <p:nvGrpSpPr>
          <p:cNvPr id="54" name="Group 53">
            <a:extLst>
              <a:ext uri="{FF2B5EF4-FFF2-40B4-BE49-F238E27FC236}">
                <a16:creationId xmlns:a16="http://schemas.microsoft.com/office/drawing/2014/main" id="{7AA3C75F-68D6-09CE-CC33-C97540D1EDA8}"/>
              </a:ext>
            </a:extLst>
          </p:cNvPr>
          <p:cNvGrpSpPr/>
          <p:nvPr/>
        </p:nvGrpSpPr>
        <p:grpSpPr>
          <a:xfrm>
            <a:off x="7171036" y="-3662374"/>
            <a:ext cx="35989315" cy="4410947"/>
            <a:chOff x="7138763" y="4842998"/>
            <a:chExt cx="35989315" cy="4410947"/>
          </a:xfrm>
        </p:grpSpPr>
        <p:sp>
          <p:nvSpPr>
            <p:cNvPr id="3" name="Rectangle: Rounded Corners 2">
              <a:extLst>
                <a:ext uri="{FF2B5EF4-FFF2-40B4-BE49-F238E27FC236}">
                  <a16:creationId xmlns:a16="http://schemas.microsoft.com/office/drawing/2014/main" id="{6E6EAEA9-B1BF-AE9E-5AC5-2752E814078C}"/>
                </a:ext>
              </a:extLst>
            </p:cNvPr>
            <p:cNvSpPr/>
            <p:nvPr/>
          </p:nvSpPr>
          <p:spPr>
            <a:xfrm>
              <a:off x="7138763" y="5245955"/>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Find dataset</a:t>
              </a:r>
            </a:p>
          </p:txBody>
        </p:sp>
        <p:sp>
          <p:nvSpPr>
            <p:cNvPr id="4" name="Rectangle: Rounded Corners 3">
              <a:extLst>
                <a:ext uri="{FF2B5EF4-FFF2-40B4-BE49-F238E27FC236}">
                  <a16:creationId xmlns:a16="http://schemas.microsoft.com/office/drawing/2014/main" id="{63845690-4B52-F709-D483-29E88F94AFB2}"/>
                </a:ext>
              </a:extLst>
            </p:cNvPr>
            <p:cNvSpPr/>
            <p:nvPr/>
          </p:nvSpPr>
          <p:spPr>
            <a:xfrm>
              <a:off x="7138763" y="7665754"/>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Load dataset</a:t>
              </a:r>
            </a:p>
          </p:txBody>
        </p:sp>
        <p:sp>
          <p:nvSpPr>
            <p:cNvPr id="8" name="Rectangle: Rounded Corners 7">
              <a:extLst>
                <a:ext uri="{FF2B5EF4-FFF2-40B4-BE49-F238E27FC236}">
                  <a16:creationId xmlns:a16="http://schemas.microsoft.com/office/drawing/2014/main" id="{7056F1FC-F268-E966-8BC9-B67DD13FC518}"/>
                </a:ext>
              </a:extLst>
            </p:cNvPr>
            <p:cNvSpPr/>
            <p:nvPr/>
          </p:nvSpPr>
          <p:spPr>
            <a:xfrm>
              <a:off x="14389926" y="7665754"/>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Split dataset</a:t>
              </a:r>
            </a:p>
          </p:txBody>
        </p:sp>
        <p:sp>
          <p:nvSpPr>
            <p:cNvPr id="9" name="Rectangle: Rounded Corners 8">
              <a:extLst>
                <a:ext uri="{FF2B5EF4-FFF2-40B4-BE49-F238E27FC236}">
                  <a16:creationId xmlns:a16="http://schemas.microsoft.com/office/drawing/2014/main" id="{4F649310-FD1C-B503-4AB1-D3B467CCF8D6}"/>
                </a:ext>
              </a:extLst>
            </p:cNvPr>
            <p:cNvSpPr/>
            <p:nvPr/>
          </p:nvSpPr>
          <p:spPr>
            <a:xfrm>
              <a:off x="14389926" y="4997790"/>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Prepare GNN dataset</a:t>
              </a:r>
            </a:p>
          </p:txBody>
        </p:sp>
        <p:sp>
          <p:nvSpPr>
            <p:cNvPr id="10" name="Rectangle: Rounded Corners 9">
              <a:extLst>
                <a:ext uri="{FF2B5EF4-FFF2-40B4-BE49-F238E27FC236}">
                  <a16:creationId xmlns:a16="http://schemas.microsoft.com/office/drawing/2014/main" id="{4534430C-4D7C-7B2C-2E86-AD6824ECEA6A}"/>
                </a:ext>
              </a:extLst>
            </p:cNvPr>
            <p:cNvSpPr/>
            <p:nvPr/>
          </p:nvSpPr>
          <p:spPr>
            <a:xfrm>
              <a:off x="21700724" y="4842998"/>
              <a:ext cx="6499225" cy="2144353"/>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Train GNN model (twice)</a:t>
              </a:r>
            </a:p>
          </p:txBody>
        </p:sp>
        <p:sp>
          <p:nvSpPr>
            <p:cNvPr id="12" name="Rectangle: Rounded Corners 11">
              <a:extLst>
                <a:ext uri="{FF2B5EF4-FFF2-40B4-BE49-F238E27FC236}">
                  <a16:creationId xmlns:a16="http://schemas.microsoft.com/office/drawing/2014/main" id="{5DBD3AF7-FE71-5C07-C4F2-4365DF8FF2D3}"/>
                </a:ext>
              </a:extLst>
            </p:cNvPr>
            <p:cNvSpPr/>
            <p:nvPr/>
          </p:nvSpPr>
          <p:spPr>
            <a:xfrm>
              <a:off x="21700724" y="7667461"/>
              <a:ext cx="6499225" cy="1335024"/>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Select compound</a:t>
              </a:r>
            </a:p>
          </p:txBody>
        </p:sp>
        <p:sp>
          <p:nvSpPr>
            <p:cNvPr id="13" name="Rectangle: Rounded Corners 12">
              <a:extLst>
                <a:ext uri="{FF2B5EF4-FFF2-40B4-BE49-F238E27FC236}">
                  <a16:creationId xmlns:a16="http://schemas.microsoft.com/office/drawing/2014/main" id="{D98E827A-7187-348E-D5BA-0ED3C9DC3D97}"/>
                </a:ext>
              </a:extLst>
            </p:cNvPr>
            <p:cNvSpPr/>
            <p:nvPr/>
          </p:nvSpPr>
          <p:spPr>
            <a:xfrm>
              <a:off x="28971765" y="7416001"/>
              <a:ext cx="6927707" cy="1837944"/>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Explain with EdgeSHAPer (twice)</a:t>
              </a:r>
            </a:p>
          </p:txBody>
        </p:sp>
        <p:cxnSp>
          <p:nvCxnSpPr>
            <p:cNvPr id="16" name="Straight Arrow Connector 15">
              <a:extLst>
                <a:ext uri="{FF2B5EF4-FFF2-40B4-BE49-F238E27FC236}">
                  <a16:creationId xmlns:a16="http://schemas.microsoft.com/office/drawing/2014/main" id="{52DC33FD-901D-A3BC-9E40-50D4B139D24F}"/>
                </a:ext>
              </a:extLst>
            </p:cNvPr>
            <p:cNvCxnSpPr>
              <a:cxnSpLocks/>
              <a:stCxn id="3" idx="2"/>
              <a:endCxn id="4" idx="0"/>
            </p:cNvCxnSpPr>
            <p:nvPr/>
          </p:nvCxnSpPr>
          <p:spPr>
            <a:xfrm>
              <a:off x="10388376" y="6584394"/>
              <a:ext cx="0" cy="108136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D61B2D19-D1FD-4C90-F299-3BDA4CF6E4C2}"/>
                </a:ext>
              </a:extLst>
            </p:cNvPr>
            <p:cNvCxnSpPr>
              <a:cxnSpLocks/>
              <a:stCxn id="4" idx="3"/>
              <a:endCxn id="8" idx="1"/>
            </p:cNvCxnSpPr>
            <p:nvPr/>
          </p:nvCxnSpPr>
          <p:spPr>
            <a:xfrm>
              <a:off x="13637988" y="8334974"/>
              <a:ext cx="751938"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C21BEE02-ED5C-CE2E-CDC0-B1417EEDFDC8}"/>
                </a:ext>
              </a:extLst>
            </p:cNvPr>
            <p:cNvCxnSpPr>
              <a:cxnSpLocks/>
              <a:stCxn id="8" idx="0"/>
              <a:endCxn id="9" idx="2"/>
            </p:cNvCxnSpPr>
            <p:nvPr/>
          </p:nvCxnSpPr>
          <p:spPr>
            <a:xfrm flipV="1">
              <a:off x="17639539" y="6832559"/>
              <a:ext cx="0" cy="833195"/>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2" name="Straight Arrow Connector 31">
              <a:extLst>
                <a:ext uri="{FF2B5EF4-FFF2-40B4-BE49-F238E27FC236}">
                  <a16:creationId xmlns:a16="http://schemas.microsoft.com/office/drawing/2014/main" id="{A65583C8-11B7-AC37-35E9-9F1807A33970}"/>
                </a:ext>
              </a:extLst>
            </p:cNvPr>
            <p:cNvCxnSpPr>
              <a:cxnSpLocks/>
              <a:stCxn id="9" idx="3"/>
            </p:cNvCxnSpPr>
            <p:nvPr/>
          </p:nvCxnSpPr>
          <p:spPr>
            <a:xfrm>
              <a:off x="20889151" y="5915175"/>
              <a:ext cx="811573"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8" name="Straight Arrow Connector 37">
              <a:extLst>
                <a:ext uri="{FF2B5EF4-FFF2-40B4-BE49-F238E27FC236}">
                  <a16:creationId xmlns:a16="http://schemas.microsoft.com/office/drawing/2014/main" id="{8B7460A7-2EF3-DD92-C404-D13C7B9BA363}"/>
                </a:ext>
              </a:extLst>
            </p:cNvPr>
            <p:cNvCxnSpPr>
              <a:cxnSpLocks/>
              <a:stCxn id="10" idx="2"/>
              <a:endCxn id="12" idx="0"/>
            </p:cNvCxnSpPr>
            <p:nvPr/>
          </p:nvCxnSpPr>
          <p:spPr>
            <a:xfrm>
              <a:off x="24950337" y="6987351"/>
              <a:ext cx="0" cy="68011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3EFA9D4B-623E-53DF-62F0-BD67B5ED09EF}"/>
                </a:ext>
              </a:extLst>
            </p:cNvPr>
            <p:cNvCxnSpPr>
              <a:cxnSpLocks/>
              <a:stCxn id="12" idx="3"/>
              <a:endCxn id="13" idx="1"/>
            </p:cNvCxnSpPr>
            <p:nvPr/>
          </p:nvCxnSpPr>
          <p:spPr>
            <a:xfrm>
              <a:off x="28199949" y="8334973"/>
              <a:ext cx="771816"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11" name="Rectangle: Rounded Corners 10">
              <a:extLst>
                <a:ext uri="{FF2B5EF4-FFF2-40B4-BE49-F238E27FC236}">
                  <a16:creationId xmlns:a16="http://schemas.microsoft.com/office/drawing/2014/main" id="{20106174-678C-CC40-5A36-4B8121020EF7}"/>
                </a:ext>
              </a:extLst>
            </p:cNvPr>
            <p:cNvSpPr/>
            <p:nvPr/>
          </p:nvSpPr>
          <p:spPr>
            <a:xfrm>
              <a:off x="28971765" y="4997790"/>
              <a:ext cx="6927707"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Visualize EdgeSHAPer results</a:t>
              </a:r>
            </a:p>
          </p:txBody>
        </p:sp>
        <p:sp>
          <p:nvSpPr>
            <p:cNvPr id="15" name="Rectangle: Rounded Corners 14">
              <a:extLst>
                <a:ext uri="{FF2B5EF4-FFF2-40B4-BE49-F238E27FC236}">
                  <a16:creationId xmlns:a16="http://schemas.microsoft.com/office/drawing/2014/main" id="{E65DF2A4-20C1-CB43-80C6-69F49BA3E1E5}"/>
                </a:ext>
              </a:extLst>
            </p:cNvPr>
            <p:cNvSpPr/>
            <p:nvPr/>
          </p:nvSpPr>
          <p:spPr>
            <a:xfrm>
              <a:off x="36628853" y="4997790"/>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Get bond environments</a:t>
              </a:r>
            </a:p>
          </p:txBody>
        </p:sp>
        <p:cxnSp>
          <p:nvCxnSpPr>
            <p:cNvPr id="21" name="Straight Arrow Connector 20">
              <a:extLst>
                <a:ext uri="{FF2B5EF4-FFF2-40B4-BE49-F238E27FC236}">
                  <a16:creationId xmlns:a16="http://schemas.microsoft.com/office/drawing/2014/main" id="{7752F61F-B458-9F85-6EE2-E85A08E9B943}"/>
                </a:ext>
              </a:extLst>
            </p:cNvPr>
            <p:cNvCxnSpPr>
              <a:cxnSpLocks/>
              <a:stCxn id="13" idx="0"/>
              <a:endCxn id="11" idx="2"/>
            </p:cNvCxnSpPr>
            <p:nvPr/>
          </p:nvCxnSpPr>
          <p:spPr>
            <a:xfrm flipV="1">
              <a:off x="32435619" y="6832559"/>
              <a:ext cx="0" cy="583442"/>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43" name="Straight Arrow Connector 42">
              <a:extLst>
                <a:ext uri="{FF2B5EF4-FFF2-40B4-BE49-F238E27FC236}">
                  <a16:creationId xmlns:a16="http://schemas.microsoft.com/office/drawing/2014/main" id="{BB6D9BA9-E110-6BAD-4DE4-C37BB0027653}"/>
                </a:ext>
              </a:extLst>
            </p:cNvPr>
            <p:cNvCxnSpPr>
              <a:cxnSpLocks/>
              <a:stCxn id="11" idx="3"/>
              <a:endCxn id="15" idx="1"/>
            </p:cNvCxnSpPr>
            <p:nvPr/>
          </p:nvCxnSpPr>
          <p:spPr>
            <a:xfrm>
              <a:off x="35899472" y="5915175"/>
              <a:ext cx="729381"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grpSp>
      <p:sp>
        <p:nvSpPr>
          <p:cNvPr id="76" name="TextBox 75">
            <a:extLst>
              <a:ext uri="{FF2B5EF4-FFF2-40B4-BE49-F238E27FC236}">
                <a16:creationId xmlns:a16="http://schemas.microsoft.com/office/drawing/2014/main" id="{5202A1DD-F4D6-2D47-1F63-D17E12211C37}"/>
              </a:ext>
            </a:extLst>
          </p:cNvPr>
          <p:cNvSpPr txBox="1"/>
          <p:nvPr/>
        </p:nvSpPr>
        <p:spPr>
          <a:xfrm>
            <a:off x="7547960" y="8694747"/>
            <a:ext cx="20183156" cy="4247317"/>
          </a:xfrm>
          <a:prstGeom prst="rect">
            <a:avLst/>
          </a:prstGeom>
          <a:noFill/>
        </p:spPr>
        <p:txBody>
          <a:bodyPr wrap="square">
            <a:spAutoFit/>
          </a:bodyPr>
          <a:lstStyle/>
          <a:p>
            <a:pPr marL="571500" indent="-571500">
              <a:buFont typeface="Arial" panose="020B0604020202020204" pitchFamily="34" charset="0"/>
              <a:buChar char="•"/>
            </a:pPr>
            <a:r>
              <a:rPr lang="en-US" sz="5400" b="1" dirty="0"/>
              <a:t>SMILES: </a:t>
            </a:r>
            <a:r>
              <a:rPr lang="en-US" sz="5400" dirty="0"/>
              <a:t>COc1ccccc1N1CCN(Cc2cc(CN(C)C)c3cccccc2-3)CC1</a:t>
            </a:r>
          </a:p>
          <a:p>
            <a:pPr marL="571500" indent="-571500">
              <a:buFont typeface="Arial" panose="020B0604020202020204" pitchFamily="34" charset="0"/>
              <a:buChar char="•"/>
            </a:pPr>
            <a:r>
              <a:rPr lang="en-US" sz="5400" b="1" dirty="0"/>
              <a:t>True Label</a:t>
            </a:r>
            <a:r>
              <a:rPr lang="en-US" sz="5400" dirty="0"/>
              <a:t>: Active (Class 1) ✅</a:t>
            </a:r>
          </a:p>
          <a:p>
            <a:pPr marL="571500" indent="-571500">
              <a:buFont typeface="Arial" panose="020B0604020202020204" pitchFamily="34" charset="0"/>
              <a:buChar char="•"/>
            </a:pPr>
            <a:r>
              <a:rPr lang="en-US" sz="5400" b="1" dirty="0"/>
              <a:t>Predicted by Both Models</a:t>
            </a:r>
            <a:r>
              <a:rPr lang="en-US" sz="5400" dirty="0"/>
              <a:t>: Active (Class 1) ✅</a:t>
            </a:r>
          </a:p>
          <a:p>
            <a:pPr marL="571500" indent="-571500">
              <a:buFont typeface="Arial" panose="020B0604020202020204" pitchFamily="34" charset="0"/>
              <a:buChar char="•"/>
            </a:pPr>
            <a:r>
              <a:rPr lang="en-US" sz="5400" b="1" dirty="0"/>
              <a:t>GCN Predicted Probability</a:t>
            </a:r>
            <a:r>
              <a:rPr lang="en-US" sz="5400" dirty="0"/>
              <a:t>: 99.96% </a:t>
            </a:r>
          </a:p>
          <a:p>
            <a:pPr marL="571500" indent="-571500">
              <a:buFont typeface="Arial" panose="020B0604020202020204" pitchFamily="34" charset="0"/>
              <a:buChar char="•"/>
            </a:pPr>
            <a:r>
              <a:rPr lang="en-US" sz="5400" b="1" dirty="0"/>
              <a:t>GAT Predicted Probability </a:t>
            </a:r>
            <a:r>
              <a:rPr lang="en-US" sz="5400" dirty="0"/>
              <a:t>: 99.99%</a:t>
            </a:r>
          </a:p>
        </p:txBody>
      </p:sp>
      <p:graphicFrame>
        <p:nvGraphicFramePr>
          <p:cNvPr id="22" name="Table 21">
            <a:extLst>
              <a:ext uri="{FF2B5EF4-FFF2-40B4-BE49-F238E27FC236}">
                <a16:creationId xmlns:a16="http://schemas.microsoft.com/office/drawing/2014/main" id="{1DEEB8C8-11B2-665B-E1F9-94AED42554AD}"/>
              </a:ext>
            </a:extLst>
          </p:cNvPr>
          <p:cNvGraphicFramePr>
            <a:graphicFrameLocks noGrp="1"/>
          </p:cNvGraphicFramePr>
          <p:nvPr>
            <p:extLst>
              <p:ext uri="{D42A27DB-BD31-4B8C-83A1-F6EECF244321}">
                <p14:modId xmlns:p14="http://schemas.microsoft.com/office/powerpoint/2010/main" val="112715129"/>
              </p:ext>
            </p:extLst>
          </p:nvPr>
        </p:nvGraphicFramePr>
        <p:xfrm>
          <a:off x="11069015" y="2906783"/>
          <a:ext cx="28193357" cy="3615435"/>
        </p:xfrm>
        <a:graphic>
          <a:graphicData uri="http://schemas.openxmlformats.org/drawingml/2006/table">
            <a:tbl>
              <a:tblPr/>
              <a:tblGrid>
                <a:gridCol w="7521776">
                  <a:extLst>
                    <a:ext uri="{9D8B030D-6E8A-4147-A177-3AD203B41FA5}">
                      <a16:colId xmlns:a16="http://schemas.microsoft.com/office/drawing/2014/main" val="1233123932"/>
                    </a:ext>
                  </a:extLst>
                </a:gridCol>
                <a:gridCol w="6890527">
                  <a:extLst>
                    <a:ext uri="{9D8B030D-6E8A-4147-A177-3AD203B41FA5}">
                      <a16:colId xmlns:a16="http://schemas.microsoft.com/office/drawing/2014/main" val="3585787003"/>
                    </a:ext>
                  </a:extLst>
                </a:gridCol>
                <a:gridCol w="6890527">
                  <a:extLst>
                    <a:ext uri="{9D8B030D-6E8A-4147-A177-3AD203B41FA5}">
                      <a16:colId xmlns:a16="http://schemas.microsoft.com/office/drawing/2014/main" val="2947608322"/>
                    </a:ext>
                  </a:extLst>
                </a:gridCol>
                <a:gridCol w="6890527">
                  <a:extLst>
                    <a:ext uri="{9D8B030D-6E8A-4147-A177-3AD203B41FA5}">
                      <a16:colId xmlns:a16="http://schemas.microsoft.com/office/drawing/2014/main" val="439636012"/>
                    </a:ext>
                  </a:extLst>
                </a:gridCol>
              </a:tblGrid>
              <a:tr h="1172155">
                <a:tc>
                  <a:txBody>
                    <a:bodyPr/>
                    <a:lstStyle/>
                    <a:p>
                      <a:pPr algn="ctr" latinLnBrk="0"/>
                      <a:r>
                        <a:rPr lang="de-DE" sz="6000" b="1" dirty="0" err="1">
                          <a:effectLst/>
                        </a:rPr>
                        <a:t>Metric</a:t>
                      </a:r>
                      <a:endParaRPr lang="de-DE" sz="6000" b="1" dirty="0">
                        <a:effectLst/>
                      </a:endParaRP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0"/>
                      <a:r>
                        <a:rPr lang="de-DE" sz="6000" b="1" dirty="0">
                          <a:effectLst/>
                        </a:rPr>
                        <a:t>GCN</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0"/>
                      <a:r>
                        <a:rPr lang="de-DE" sz="6000" b="1" dirty="0">
                          <a:effectLst/>
                        </a:rPr>
                        <a:t>GAT</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latinLnBrk="0"/>
                      <a:r>
                        <a:rPr lang="de-DE" sz="6000" b="1" dirty="0">
                          <a:effectLst/>
                        </a:rPr>
                        <a:t>Winner</a:t>
                      </a:r>
                    </a:p>
                  </a:txBody>
                  <a:tcPr marL="83004" marR="83004" marT="41502" marB="4150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87605109"/>
                  </a:ext>
                </a:extLst>
              </a:tr>
              <a:tr h="1271125">
                <a:tc>
                  <a:txBody>
                    <a:bodyPr/>
                    <a:lstStyle/>
                    <a:p>
                      <a:pPr algn="ctr" fontAlgn="t" latinLnBrk="0"/>
                      <a:r>
                        <a:rPr lang="de-DE" sz="6000" b="1" dirty="0">
                          <a:effectLst/>
                        </a:rPr>
                        <a:t>Validation </a:t>
                      </a:r>
                      <a:r>
                        <a:rPr lang="de-DE" sz="6000" b="1" dirty="0" err="1">
                          <a:effectLst/>
                        </a:rPr>
                        <a:t>Accuracy</a:t>
                      </a:r>
                      <a:endParaRPr lang="de-DE" sz="6000" dirty="0">
                        <a:effectLst/>
                      </a:endParaRP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6000" dirty="0">
                          <a:effectLst/>
                        </a:rPr>
                        <a:t>94.54%</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6000">
                          <a:effectLst/>
                        </a:rPr>
                        <a:t>95.06%</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6000" dirty="0">
                          <a:effectLst/>
                        </a:rPr>
                        <a:t>🏆 GAT</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58846645"/>
                  </a:ext>
                </a:extLst>
              </a:tr>
              <a:tr h="1172155">
                <a:tc>
                  <a:txBody>
                    <a:bodyPr/>
                    <a:lstStyle/>
                    <a:p>
                      <a:pPr algn="ctr" fontAlgn="t" latinLnBrk="0"/>
                      <a:r>
                        <a:rPr lang="de-DE" sz="6000" b="1" dirty="0">
                          <a:effectLst/>
                        </a:rPr>
                        <a:t>Test </a:t>
                      </a:r>
                      <a:r>
                        <a:rPr lang="de-DE" sz="6000" b="1" dirty="0" err="1">
                          <a:effectLst/>
                        </a:rPr>
                        <a:t>Accuracy</a:t>
                      </a:r>
                      <a:endParaRPr lang="de-DE" sz="6000" dirty="0">
                        <a:effectLst/>
                      </a:endParaRP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6000" dirty="0">
                          <a:effectLst/>
                        </a:rPr>
                        <a:t>93.89%</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6000" dirty="0">
                          <a:effectLst/>
                        </a:rPr>
                        <a:t>95.57%</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t" latinLnBrk="0"/>
                      <a:r>
                        <a:rPr lang="de-DE" sz="6000" dirty="0">
                          <a:effectLst/>
                        </a:rPr>
                        <a:t>🏆 GAT</a:t>
                      </a:r>
                    </a:p>
                  </a:txBody>
                  <a:tcPr marL="83004" marR="83004" marT="41502" marB="41502">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9880196"/>
                  </a:ext>
                </a:extLst>
              </a:tr>
            </a:tbl>
          </a:graphicData>
        </a:graphic>
      </p:graphicFrame>
      <p:sp>
        <p:nvSpPr>
          <p:cNvPr id="23" name="TextBox 22">
            <a:extLst>
              <a:ext uri="{FF2B5EF4-FFF2-40B4-BE49-F238E27FC236}">
                <a16:creationId xmlns:a16="http://schemas.microsoft.com/office/drawing/2014/main" id="{E99FBBC9-9D07-B5EE-815B-7F01757328AD}"/>
              </a:ext>
            </a:extLst>
          </p:cNvPr>
          <p:cNvSpPr txBox="1"/>
          <p:nvPr/>
        </p:nvSpPr>
        <p:spPr>
          <a:xfrm>
            <a:off x="18576884" y="7113128"/>
            <a:ext cx="13177619" cy="1015663"/>
          </a:xfrm>
          <a:prstGeom prst="rect">
            <a:avLst/>
          </a:prstGeom>
          <a:noFill/>
        </p:spPr>
        <p:txBody>
          <a:bodyPr wrap="square" rtlCol="0">
            <a:spAutoFit/>
          </a:bodyPr>
          <a:lstStyle/>
          <a:p>
            <a:pPr algn="ctr"/>
            <a:r>
              <a:rPr lang="en-US" sz="6000" b="1" noProof="0" dirty="0"/>
              <a:t>Compound selected for XAI analysis </a:t>
            </a:r>
          </a:p>
        </p:txBody>
      </p:sp>
      <p:pic>
        <p:nvPicPr>
          <p:cNvPr id="24" name="Picture 23">
            <a:extLst>
              <a:ext uri="{FF2B5EF4-FFF2-40B4-BE49-F238E27FC236}">
                <a16:creationId xmlns:a16="http://schemas.microsoft.com/office/drawing/2014/main" id="{3FF8A2E5-55C8-9DBB-654A-0F5D4F4597B8}"/>
              </a:ext>
            </a:extLst>
          </p:cNvPr>
          <p:cNvPicPr>
            <a:picLocks noChangeAspect="1"/>
          </p:cNvPicPr>
          <p:nvPr/>
        </p:nvPicPr>
        <p:blipFill>
          <a:blip r:embed="rId3"/>
          <a:srcRect l="20494" t="3911" r="20105" b="4313"/>
          <a:stretch/>
        </p:blipFill>
        <p:spPr>
          <a:xfrm>
            <a:off x="31691107" y="8369752"/>
            <a:ext cx="9077548" cy="4675071"/>
          </a:xfrm>
          <a:prstGeom prst="rect">
            <a:avLst/>
          </a:prstGeom>
        </p:spPr>
      </p:pic>
      <p:sp>
        <p:nvSpPr>
          <p:cNvPr id="25" name="TextBox 24">
            <a:extLst>
              <a:ext uri="{FF2B5EF4-FFF2-40B4-BE49-F238E27FC236}">
                <a16:creationId xmlns:a16="http://schemas.microsoft.com/office/drawing/2014/main" id="{4CE48D05-B126-D54C-413D-DCDA5AE9FC58}"/>
              </a:ext>
            </a:extLst>
          </p:cNvPr>
          <p:cNvSpPr txBox="1"/>
          <p:nvPr/>
        </p:nvSpPr>
        <p:spPr>
          <a:xfrm>
            <a:off x="16587008" y="13361118"/>
            <a:ext cx="17157371" cy="1015663"/>
          </a:xfrm>
          <a:prstGeom prst="rect">
            <a:avLst/>
          </a:prstGeom>
          <a:noFill/>
        </p:spPr>
        <p:txBody>
          <a:bodyPr wrap="square">
            <a:spAutoFit/>
          </a:bodyPr>
          <a:lstStyle/>
          <a:p>
            <a:pPr algn="ctr"/>
            <a:r>
              <a:rPr lang="en-US" sz="6000" b="1" noProof="0" dirty="0">
                <a:solidFill>
                  <a:srgbClr val="0F0F0F"/>
                </a:solidFill>
              </a:rPr>
              <a:t>Key differences in learning characteristics</a:t>
            </a:r>
            <a:endParaRPr lang="en-US" sz="6000" b="1" i="0" noProof="0" dirty="0">
              <a:solidFill>
                <a:srgbClr val="0F0F0F"/>
              </a:solidFill>
              <a:effectLst/>
            </a:endParaRPr>
          </a:p>
        </p:txBody>
      </p:sp>
      <p:sp>
        <p:nvSpPr>
          <p:cNvPr id="27" name="Rectangle: Rounded Corners 26">
            <a:extLst>
              <a:ext uri="{FF2B5EF4-FFF2-40B4-BE49-F238E27FC236}">
                <a16:creationId xmlns:a16="http://schemas.microsoft.com/office/drawing/2014/main" id="{2F5BE80C-AC0A-AAC2-EEDE-6158791B2973}"/>
              </a:ext>
            </a:extLst>
          </p:cNvPr>
          <p:cNvSpPr/>
          <p:nvPr/>
        </p:nvSpPr>
        <p:spPr>
          <a:xfrm>
            <a:off x="6629848" y="14322547"/>
            <a:ext cx="37071691" cy="1434149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8" name="TextBox 27">
            <a:extLst>
              <a:ext uri="{FF2B5EF4-FFF2-40B4-BE49-F238E27FC236}">
                <a16:creationId xmlns:a16="http://schemas.microsoft.com/office/drawing/2014/main" id="{3BF35937-34B7-6B3F-5969-506294AAF37B}"/>
              </a:ext>
            </a:extLst>
          </p:cNvPr>
          <p:cNvSpPr txBox="1"/>
          <p:nvPr/>
        </p:nvSpPr>
        <p:spPr>
          <a:xfrm>
            <a:off x="12896309" y="14656379"/>
            <a:ext cx="6603459" cy="923330"/>
          </a:xfrm>
          <a:prstGeom prst="rect">
            <a:avLst/>
          </a:prstGeom>
          <a:noFill/>
        </p:spPr>
        <p:txBody>
          <a:bodyPr wrap="square" rtlCol="0">
            <a:spAutoFit/>
          </a:bodyPr>
          <a:lstStyle/>
          <a:p>
            <a:pPr algn="ctr"/>
            <a:r>
              <a:rPr lang="en-US" sz="5400" b="1" noProof="0" dirty="0"/>
              <a:t>GCN</a:t>
            </a:r>
          </a:p>
        </p:txBody>
      </p:sp>
      <p:sp>
        <p:nvSpPr>
          <p:cNvPr id="30" name="TextBox 29">
            <a:extLst>
              <a:ext uri="{FF2B5EF4-FFF2-40B4-BE49-F238E27FC236}">
                <a16:creationId xmlns:a16="http://schemas.microsoft.com/office/drawing/2014/main" id="{2CF8CC4C-F1F1-D5BF-CBB8-5E0E708EA77A}"/>
              </a:ext>
            </a:extLst>
          </p:cNvPr>
          <p:cNvSpPr txBox="1"/>
          <p:nvPr/>
        </p:nvSpPr>
        <p:spPr>
          <a:xfrm>
            <a:off x="31540379" y="14656379"/>
            <a:ext cx="6603459" cy="923330"/>
          </a:xfrm>
          <a:prstGeom prst="rect">
            <a:avLst/>
          </a:prstGeom>
          <a:noFill/>
        </p:spPr>
        <p:txBody>
          <a:bodyPr wrap="square" rtlCol="0">
            <a:spAutoFit/>
          </a:bodyPr>
          <a:lstStyle/>
          <a:p>
            <a:pPr algn="ctr"/>
            <a:r>
              <a:rPr lang="en-US" sz="5400" b="1" noProof="0" dirty="0"/>
              <a:t>GAT</a:t>
            </a:r>
          </a:p>
        </p:txBody>
      </p:sp>
      <p:pic>
        <p:nvPicPr>
          <p:cNvPr id="33" name="Picture 32">
            <a:extLst>
              <a:ext uri="{FF2B5EF4-FFF2-40B4-BE49-F238E27FC236}">
                <a16:creationId xmlns:a16="http://schemas.microsoft.com/office/drawing/2014/main" id="{4E78B125-F6D3-07FB-6797-E0FBC358CB65}"/>
              </a:ext>
            </a:extLst>
          </p:cNvPr>
          <p:cNvPicPr>
            <a:picLocks noChangeAspect="1"/>
          </p:cNvPicPr>
          <p:nvPr/>
        </p:nvPicPr>
        <p:blipFill>
          <a:blip r:embed="rId4">
            <a:extLst>
              <a:ext uri="{28A0092B-C50C-407E-A947-70E740481C1C}">
                <a14:useLocalDpi xmlns:a14="http://schemas.microsoft.com/office/drawing/2010/main" val="0"/>
              </a:ext>
            </a:extLst>
          </a:blip>
          <a:srcRect l="20033" t="18182" r="19282" b="16396"/>
          <a:stretch/>
        </p:blipFill>
        <p:spPr>
          <a:xfrm>
            <a:off x="30645011" y="15748405"/>
            <a:ext cx="8394195" cy="5090265"/>
          </a:xfrm>
          <a:prstGeom prst="rect">
            <a:avLst/>
          </a:prstGeom>
        </p:spPr>
      </p:pic>
      <p:pic>
        <p:nvPicPr>
          <p:cNvPr id="35" name="Picture 34">
            <a:extLst>
              <a:ext uri="{FF2B5EF4-FFF2-40B4-BE49-F238E27FC236}">
                <a16:creationId xmlns:a16="http://schemas.microsoft.com/office/drawing/2014/main" id="{0D979286-B2A2-0A87-7BD9-276141D2CC60}"/>
              </a:ext>
            </a:extLst>
          </p:cNvPr>
          <p:cNvPicPr>
            <a:picLocks noChangeAspect="1"/>
          </p:cNvPicPr>
          <p:nvPr/>
        </p:nvPicPr>
        <p:blipFill>
          <a:blip r:embed="rId5">
            <a:extLst>
              <a:ext uri="{28A0092B-C50C-407E-A947-70E740481C1C}">
                <a14:useLocalDpi xmlns:a14="http://schemas.microsoft.com/office/drawing/2010/main" val="0"/>
              </a:ext>
            </a:extLst>
          </a:blip>
          <a:srcRect l="19366" t="17146" r="18712" b="17556"/>
          <a:stretch/>
        </p:blipFill>
        <p:spPr>
          <a:xfrm>
            <a:off x="11511738" y="15591457"/>
            <a:ext cx="9372601" cy="5404161"/>
          </a:xfrm>
          <a:prstGeom prst="rect">
            <a:avLst/>
          </a:prstGeom>
        </p:spPr>
      </p:pic>
      <p:sp>
        <p:nvSpPr>
          <p:cNvPr id="40" name="TextBox 39">
            <a:extLst>
              <a:ext uri="{FF2B5EF4-FFF2-40B4-BE49-F238E27FC236}">
                <a16:creationId xmlns:a16="http://schemas.microsoft.com/office/drawing/2014/main" id="{689D1DE1-0258-D31E-1B7F-EBD9C471A38B}"/>
              </a:ext>
            </a:extLst>
          </p:cNvPr>
          <p:cNvSpPr txBox="1"/>
          <p:nvPr/>
        </p:nvSpPr>
        <p:spPr>
          <a:xfrm>
            <a:off x="25981363" y="20852245"/>
            <a:ext cx="17721491" cy="6740307"/>
          </a:xfrm>
          <a:prstGeom prst="rect">
            <a:avLst/>
          </a:prstGeom>
          <a:noFill/>
        </p:spPr>
        <p:txBody>
          <a:bodyPr wrap="square">
            <a:spAutoFit/>
          </a:bodyPr>
          <a:lstStyle/>
          <a:p>
            <a:pPr algn="l"/>
            <a:r>
              <a:rPr lang="en-US" sz="5400" b="1" i="0" dirty="0">
                <a:effectLst/>
              </a:rPr>
              <a:t>GAT: Context-Aware Learning</a:t>
            </a:r>
          </a:p>
          <a:p>
            <a:pPr marL="571500" indent="-571500" algn="l">
              <a:buFont typeface="Arial" panose="020B0604020202020204" pitchFamily="34" charset="0"/>
              <a:buChar char="•"/>
            </a:pPr>
            <a:r>
              <a:rPr lang="en-US" sz="5400" b="1" i="0" dirty="0">
                <a:effectLst/>
              </a:rPr>
              <a:t>Top contributors</a:t>
            </a:r>
            <a:r>
              <a:rPr lang="en-US" sz="5400" b="0" i="0" dirty="0">
                <a:effectLst/>
              </a:rPr>
              <a:t>: Piperazine backbone (NCCN) and aliphatic C-C bonds</a:t>
            </a:r>
          </a:p>
          <a:p>
            <a:pPr marL="571500" indent="-571500" algn="l">
              <a:buFont typeface="Arial" panose="020B0604020202020204" pitchFamily="34" charset="0"/>
              <a:buChar char="•"/>
            </a:pPr>
            <a:r>
              <a:rPr lang="en-US" sz="5400" b="1" i="0" dirty="0">
                <a:effectLst/>
              </a:rPr>
              <a:t>Learning pattern</a:t>
            </a:r>
            <a:r>
              <a:rPr lang="en-US" sz="5400" b="0" i="0" dirty="0">
                <a:effectLst/>
              </a:rPr>
              <a:t>: Focuses on </a:t>
            </a:r>
            <a:r>
              <a:rPr lang="en-US" sz="5400" b="1" i="0" dirty="0">
                <a:effectLst/>
              </a:rPr>
              <a:t>molecular backbone</a:t>
            </a:r>
            <a:r>
              <a:rPr lang="en-US" sz="5400" b="0" i="0" dirty="0">
                <a:effectLst/>
              </a:rPr>
              <a:t> and </a:t>
            </a:r>
            <a:r>
              <a:rPr lang="en-US" sz="5400" b="1" i="0" dirty="0">
                <a:effectLst/>
              </a:rPr>
              <a:t>connectivity patterns</a:t>
            </a:r>
            <a:endParaRPr lang="en-US" sz="5400" b="0" i="0" dirty="0">
              <a:effectLst/>
            </a:endParaRPr>
          </a:p>
          <a:p>
            <a:pPr marL="571500" indent="-571500" algn="l">
              <a:buFont typeface="Arial" panose="020B0604020202020204" pitchFamily="34" charset="0"/>
              <a:buChar char="•"/>
            </a:pPr>
            <a:r>
              <a:rPr lang="en-US" sz="5400" b="1" i="0" dirty="0">
                <a:effectLst/>
              </a:rPr>
              <a:t>Mechanism</a:t>
            </a:r>
            <a:r>
              <a:rPr lang="en-US" sz="5400" b="0" i="0" dirty="0">
                <a:effectLst/>
              </a:rPr>
              <a:t>: Attention weights allow GAT to </a:t>
            </a:r>
            <a:r>
              <a:rPr lang="en-US" sz="5400" b="1" i="0" dirty="0">
                <a:effectLst/>
              </a:rPr>
              <a:t>dynamically weight</a:t>
            </a:r>
            <a:r>
              <a:rPr lang="en-US" sz="5400" b="0" i="0" dirty="0">
                <a:effectLst/>
              </a:rPr>
              <a:t> important neighbors</a:t>
            </a:r>
          </a:p>
          <a:p>
            <a:pPr marL="571500" indent="-571500" algn="l">
              <a:buFont typeface="Arial" panose="020B0604020202020204" pitchFamily="34" charset="0"/>
              <a:buChar char="•"/>
            </a:pPr>
            <a:r>
              <a:rPr lang="en-US" sz="5400" b="1" i="0" dirty="0">
                <a:effectLst/>
              </a:rPr>
              <a:t>Top bonds</a:t>
            </a:r>
            <a:r>
              <a:rPr lang="en-US" sz="5400" b="0" i="0" dirty="0">
                <a:effectLst/>
              </a:rPr>
              <a:t>: Bonds within the piperazine ring system</a:t>
            </a:r>
          </a:p>
        </p:txBody>
      </p:sp>
      <p:sp>
        <p:nvSpPr>
          <p:cNvPr id="19" name="TextBox 18">
            <a:extLst>
              <a:ext uri="{FF2B5EF4-FFF2-40B4-BE49-F238E27FC236}">
                <a16:creationId xmlns:a16="http://schemas.microsoft.com/office/drawing/2014/main" id="{E0F346CC-30D8-484D-815D-B5485F237337}"/>
              </a:ext>
            </a:extLst>
          </p:cNvPr>
          <p:cNvSpPr txBox="1"/>
          <p:nvPr/>
        </p:nvSpPr>
        <p:spPr>
          <a:xfrm>
            <a:off x="6793355" y="30164795"/>
            <a:ext cx="36744677" cy="4093428"/>
          </a:xfrm>
          <a:prstGeom prst="rect">
            <a:avLst/>
          </a:prstGeom>
          <a:noFill/>
        </p:spPr>
        <p:txBody>
          <a:bodyPr wrap="square">
            <a:spAutoFit/>
          </a:bodyPr>
          <a:lstStyle/>
          <a:p>
            <a:pPr algn="just"/>
            <a:r>
              <a:rPr lang="en-US" sz="5400" dirty="0"/>
              <a:t>While both models correctly predict this compound as active, </a:t>
            </a:r>
            <a:r>
              <a:rPr lang="en-US" sz="5400" b="1" dirty="0"/>
              <a:t>GAT demonstrates superior performance</a:t>
            </a:r>
            <a:r>
              <a:rPr lang="en-US" sz="5400" dirty="0"/>
              <a:t> and learns more sophisticated molecular representations through its attention mechanism. GAT's focus on the piperazine backbone suggests it captures </a:t>
            </a:r>
            <a:r>
              <a:rPr lang="en-US" sz="5400" b="1" dirty="0"/>
              <a:t>pharmacophore-relevant features</a:t>
            </a:r>
            <a:r>
              <a:rPr lang="en-US" sz="5400" dirty="0"/>
              <a:t> more effectively than GCN's fragment-based approach.</a:t>
            </a:r>
          </a:p>
          <a:p>
            <a:pPr algn="just"/>
            <a:endParaRPr lang="en-US" sz="5400" dirty="0"/>
          </a:p>
          <a:p>
            <a:endParaRPr lang="de-DE" sz="4400" dirty="0"/>
          </a:p>
        </p:txBody>
      </p:sp>
      <p:sp>
        <p:nvSpPr>
          <p:cNvPr id="29" name="TextBox 28">
            <a:extLst>
              <a:ext uri="{FF2B5EF4-FFF2-40B4-BE49-F238E27FC236}">
                <a16:creationId xmlns:a16="http://schemas.microsoft.com/office/drawing/2014/main" id="{072B84F6-E735-97C2-0E24-34A2F18912DD}"/>
              </a:ext>
            </a:extLst>
          </p:cNvPr>
          <p:cNvSpPr txBox="1"/>
          <p:nvPr/>
        </p:nvSpPr>
        <p:spPr>
          <a:xfrm>
            <a:off x="16587008" y="33157665"/>
            <a:ext cx="17157371" cy="1015663"/>
          </a:xfrm>
          <a:prstGeom prst="rect">
            <a:avLst/>
          </a:prstGeom>
          <a:noFill/>
        </p:spPr>
        <p:txBody>
          <a:bodyPr wrap="square">
            <a:spAutoFit/>
          </a:bodyPr>
          <a:lstStyle/>
          <a:p>
            <a:pPr algn="ctr"/>
            <a:r>
              <a:rPr lang="en-US" sz="6000" b="1" noProof="0" dirty="0">
                <a:solidFill>
                  <a:srgbClr val="0F0F0F"/>
                </a:solidFill>
              </a:rPr>
              <a:t>Re-prompt</a:t>
            </a:r>
            <a:r>
              <a:rPr lang="en-US" sz="6000" b="1" dirty="0" err="1">
                <a:solidFill>
                  <a:srgbClr val="0F0F0F"/>
                </a:solidFill>
              </a:rPr>
              <a:t>ing</a:t>
            </a:r>
            <a:endParaRPr lang="en-US" sz="6000" b="1" i="0" noProof="0" dirty="0">
              <a:solidFill>
                <a:srgbClr val="0F0F0F"/>
              </a:solidFill>
              <a:effectLst/>
            </a:endParaRPr>
          </a:p>
        </p:txBody>
      </p:sp>
      <p:sp>
        <p:nvSpPr>
          <p:cNvPr id="31" name="Rectangle: Top Corners Rounded 30">
            <a:extLst>
              <a:ext uri="{FF2B5EF4-FFF2-40B4-BE49-F238E27FC236}">
                <a16:creationId xmlns:a16="http://schemas.microsoft.com/office/drawing/2014/main" id="{E8C9E957-8B0E-F097-DA94-DCE0FC0ACB6D}"/>
              </a:ext>
            </a:extLst>
          </p:cNvPr>
          <p:cNvSpPr/>
          <p:nvPr/>
        </p:nvSpPr>
        <p:spPr>
          <a:xfrm>
            <a:off x="6644517" y="34183302"/>
            <a:ext cx="37042353" cy="2267793"/>
          </a:xfrm>
          <a:prstGeom prst="round2Same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5400" dirty="0">
                <a:solidFill>
                  <a:schemeClr val="tx1"/>
                </a:solidFill>
              </a:rPr>
              <a:t>You highlighted the differences, but it seems that the explanations are similar. Can you describe the similarities?</a:t>
            </a:r>
          </a:p>
        </p:txBody>
      </p:sp>
      <p:sp>
        <p:nvSpPr>
          <p:cNvPr id="20" name="TextBox 19">
            <a:extLst>
              <a:ext uri="{FF2B5EF4-FFF2-40B4-BE49-F238E27FC236}">
                <a16:creationId xmlns:a16="http://schemas.microsoft.com/office/drawing/2014/main" id="{83B4C9A5-9744-41BC-99C1-C0B22E0AC4C0}"/>
              </a:ext>
            </a:extLst>
          </p:cNvPr>
          <p:cNvSpPr txBox="1"/>
          <p:nvPr/>
        </p:nvSpPr>
        <p:spPr>
          <a:xfrm>
            <a:off x="16587008" y="36935856"/>
            <a:ext cx="17157371" cy="1015663"/>
          </a:xfrm>
          <a:prstGeom prst="rect">
            <a:avLst/>
          </a:prstGeom>
          <a:noFill/>
        </p:spPr>
        <p:txBody>
          <a:bodyPr wrap="square">
            <a:spAutoFit/>
          </a:bodyPr>
          <a:lstStyle/>
          <a:p>
            <a:pPr algn="ctr"/>
            <a:r>
              <a:rPr lang="en-US" sz="6000" b="1" noProof="0" dirty="0">
                <a:solidFill>
                  <a:srgbClr val="0F0F0F"/>
                </a:solidFill>
              </a:rPr>
              <a:t>Key similarities in learning characteristics</a:t>
            </a:r>
            <a:endParaRPr lang="en-US" sz="6000" b="1" i="0" noProof="0" dirty="0">
              <a:solidFill>
                <a:srgbClr val="0F0F0F"/>
              </a:solidFill>
              <a:effectLst/>
            </a:endParaRPr>
          </a:p>
        </p:txBody>
      </p:sp>
      <p:sp>
        <p:nvSpPr>
          <p:cNvPr id="39" name="TextBox 38">
            <a:extLst>
              <a:ext uri="{FF2B5EF4-FFF2-40B4-BE49-F238E27FC236}">
                <a16:creationId xmlns:a16="http://schemas.microsoft.com/office/drawing/2014/main" id="{86E3E9A9-142D-4472-F472-64F1DBDDFA78}"/>
              </a:ext>
            </a:extLst>
          </p:cNvPr>
          <p:cNvSpPr txBox="1"/>
          <p:nvPr/>
        </p:nvSpPr>
        <p:spPr>
          <a:xfrm>
            <a:off x="7171038" y="20852763"/>
            <a:ext cx="18054000" cy="7571303"/>
          </a:xfrm>
          <a:prstGeom prst="rect">
            <a:avLst/>
          </a:prstGeom>
          <a:noFill/>
        </p:spPr>
        <p:txBody>
          <a:bodyPr wrap="square">
            <a:spAutoFit/>
          </a:bodyPr>
          <a:lstStyle/>
          <a:p>
            <a:pPr algn="l"/>
            <a:r>
              <a:rPr lang="en-US" sz="5400" b="1" i="0" dirty="0">
                <a:effectLst/>
              </a:rPr>
              <a:t> GCN: Fragment-Driven Learning</a:t>
            </a:r>
          </a:p>
          <a:p>
            <a:pPr marL="571500" indent="-571500" algn="l">
              <a:buFont typeface="Arial" panose="020B0604020202020204" pitchFamily="34" charset="0"/>
              <a:buChar char="•"/>
            </a:pPr>
            <a:r>
              <a:rPr lang="en-US" sz="5400" b="1" i="0" dirty="0">
                <a:effectLst/>
              </a:rPr>
              <a:t>Top contributors</a:t>
            </a:r>
            <a:r>
              <a:rPr lang="en-US" sz="5400" b="0" i="0" dirty="0">
                <a:effectLst/>
              </a:rPr>
              <a:t>: Aromatic ring bonds (</a:t>
            </a:r>
            <a:r>
              <a:rPr lang="en-US" sz="5400" b="0" i="0" dirty="0" err="1">
                <a:effectLst/>
              </a:rPr>
              <a:t>cC</a:t>
            </a:r>
            <a:r>
              <a:rPr lang="en-US" sz="5400" b="0" i="0" dirty="0">
                <a:effectLst/>
              </a:rPr>
              <a:t>) and N-C single bonds</a:t>
            </a:r>
          </a:p>
          <a:p>
            <a:pPr marL="571500" indent="-571500" algn="l">
              <a:buFont typeface="Arial" panose="020B0604020202020204" pitchFamily="34" charset="0"/>
              <a:buChar char="•"/>
            </a:pPr>
            <a:r>
              <a:rPr lang="en-US" sz="5400" b="1" i="0" dirty="0">
                <a:effectLst/>
              </a:rPr>
              <a:t>Learning pattern</a:t>
            </a:r>
            <a:r>
              <a:rPr lang="en-US" sz="5400" b="0" i="0" dirty="0">
                <a:effectLst/>
              </a:rPr>
              <a:t>: Focuses on </a:t>
            </a:r>
            <a:r>
              <a:rPr lang="en-US" sz="5400" b="1" i="0" dirty="0">
                <a:effectLst/>
              </a:rPr>
              <a:t>local atomic environments</a:t>
            </a:r>
            <a:r>
              <a:rPr lang="en-US" sz="5400" b="0" i="0" dirty="0">
                <a:effectLst/>
              </a:rPr>
              <a:t> and </a:t>
            </a:r>
            <a:r>
              <a:rPr lang="en-US" sz="5400" b="1" i="0" dirty="0">
                <a:effectLst/>
              </a:rPr>
              <a:t>bond types</a:t>
            </a:r>
            <a:endParaRPr lang="en-US" sz="5400" b="0" i="0" dirty="0">
              <a:effectLst/>
            </a:endParaRPr>
          </a:p>
          <a:p>
            <a:pPr marL="571500" indent="-571500" algn="l">
              <a:buFont typeface="Arial" panose="020B0604020202020204" pitchFamily="34" charset="0"/>
              <a:buChar char="•"/>
            </a:pPr>
            <a:r>
              <a:rPr lang="en-US" sz="5400" b="1" i="0" dirty="0">
                <a:effectLst/>
              </a:rPr>
              <a:t>Mechanism</a:t>
            </a:r>
            <a:r>
              <a:rPr lang="en-US" sz="5400" b="0" i="0" dirty="0">
                <a:effectLst/>
              </a:rPr>
              <a:t>: Message passing treats all neighbors equally → learns </a:t>
            </a:r>
            <a:r>
              <a:rPr lang="en-US" sz="5400" b="1" i="0" dirty="0">
                <a:effectLst/>
              </a:rPr>
              <a:t>structural motifs</a:t>
            </a:r>
            <a:endParaRPr lang="en-US" sz="5400" b="0" i="0" dirty="0">
              <a:effectLst/>
            </a:endParaRPr>
          </a:p>
          <a:p>
            <a:pPr marL="571500" indent="-571500" algn="l">
              <a:buFont typeface="Arial" panose="020B0604020202020204" pitchFamily="34" charset="0"/>
              <a:buChar char="•"/>
            </a:pPr>
            <a:r>
              <a:rPr lang="en-US" sz="5400" b="1" i="0" dirty="0">
                <a:effectLst/>
              </a:rPr>
              <a:t>Top bonds</a:t>
            </a:r>
            <a:r>
              <a:rPr lang="en-US" sz="5400" b="0" i="0" dirty="0">
                <a:effectLst/>
              </a:rPr>
              <a:t>: Bonds connecting aromatic rings to alkyl chains</a:t>
            </a:r>
          </a:p>
        </p:txBody>
      </p:sp>
      <p:graphicFrame>
        <p:nvGraphicFramePr>
          <p:cNvPr id="46" name="Table 45">
            <a:extLst>
              <a:ext uri="{FF2B5EF4-FFF2-40B4-BE49-F238E27FC236}">
                <a16:creationId xmlns:a16="http://schemas.microsoft.com/office/drawing/2014/main" id="{6AEE52AD-E0F4-934E-6E93-6C1DB4280711}"/>
              </a:ext>
            </a:extLst>
          </p:cNvPr>
          <p:cNvGraphicFramePr>
            <a:graphicFrameLocks noGrp="1"/>
          </p:cNvGraphicFramePr>
          <p:nvPr>
            <p:extLst>
              <p:ext uri="{D42A27DB-BD31-4B8C-83A1-F6EECF244321}">
                <p14:modId xmlns:p14="http://schemas.microsoft.com/office/powerpoint/2010/main" val="2447525744"/>
              </p:ext>
            </p:extLst>
          </p:nvPr>
        </p:nvGraphicFramePr>
        <p:xfrm>
          <a:off x="7099424" y="38112912"/>
          <a:ext cx="36132539" cy="14723231"/>
        </p:xfrm>
        <a:graphic>
          <a:graphicData uri="http://schemas.openxmlformats.org/drawingml/2006/table">
            <a:tbl>
              <a:tblPr/>
              <a:tblGrid>
                <a:gridCol w="8840310">
                  <a:extLst>
                    <a:ext uri="{9D8B030D-6E8A-4147-A177-3AD203B41FA5}">
                      <a16:colId xmlns:a16="http://schemas.microsoft.com/office/drawing/2014/main" val="2407134813"/>
                    </a:ext>
                  </a:extLst>
                </a:gridCol>
                <a:gridCol w="7495485">
                  <a:extLst>
                    <a:ext uri="{9D8B030D-6E8A-4147-A177-3AD203B41FA5}">
                      <a16:colId xmlns:a16="http://schemas.microsoft.com/office/drawing/2014/main" val="3394484769"/>
                    </a:ext>
                  </a:extLst>
                </a:gridCol>
                <a:gridCol w="7703336">
                  <a:extLst>
                    <a:ext uri="{9D8B030D-6E8A-4147-A177-3AD203B41FA5}">
                      <a16:colId xmlns:a16="http://schemas.microsoft.com/office/drawing/2014/main" val="2342868628"/>
                    </a:ext>
                  </a:extLst>
                </a:gridCol>
                <a:gridCol w="12093408">
                  <a:extLst>
                    <a:ext uri="{9D8B030D-6E8A-4147-A177-3AD203B41FA5}">
                      <a16:colId xmlns:a16="http://schemas.microsoft.com/office/drawing/2014/main" val="2145227561"/>
                    </a:ext>
                  </a:extLst>
                </a:gridCol>
              </a:tblGrid>
              <a:tr h="791765">
                <a:tc>
                  <a:txBody>
                    <a:bodyPr/>
                    <a:lstStyle/>
                    <a:p>
                      <a:pPr marL="0" marR="0" algn="ctr">
                        <a:lnSpc>
                          <a:spcPct val="107000"/>
                        </a:lnSpc>
                        <a:spcAft>
                          <a:spcPts val="790"/>
                        </a:spcAft>
                        <a:buNone/>
                      </a:pPr>
                      <a:r>
                        <a:rPr lang="de-DE" sz="5400" b="1" dirty="0" err="1">
                          <a:effectLst/>
                        </a:rPr>
                        <a:t>Similarity</a:t>
                      </a:r>
                      <a:r>
                        <a:rPr lang="de-DE" sz="5400" b="1" dirty="0">
                          <a:effectLst/>
                        </a:rPr>
                        <a:t> </a:t>
                      </a:r>
                      <a:r>
                        <a:rPr lang="de-DE" sz="5400" b="1" dirty="0" err="1">
                          <a:effectLst/>
                        </a:rPr>
                        <a:t>Aspect</a:t>
                      </a:r>
                      <a:endParaRPr lang="en-US" sz="5400" b="1"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gn="ctr">
                        <a:lnSpc>
                          <a:spcPct val="107000"/>
                        </a:lnSpc>
                        <a:spcAft>
                          <a:spcPts val="790"/>
                        </a:spcAft>
                        <a:buNone/>
                      </a:pPr>
                      <a:r>
                        <a:rPr lang="de-DE" sz="5400" b="1" dirty="0">
                          <a:effectLst/>
                        </a:rPr>
                        <a:t>GCN </a:t>
                      </a:r>
                      <a:r>
                        <a:rPr lang="de-DE" sz="5400" b="1" dirty="0" err="1">
                          <a:effectLst/>
                        </a:rPr>
                        <a:t>Evidence</a:t>
                      </a:r>
                      <a:endParaRPr lang="en-US" sz="5400" b="1"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gn="ctr">
                        <a:lnSpc>
                          <a:spcPct val="107000"/>
                        </a:lnSpc>
                        <a:spcAft>
                          <a:spcPts val="790"/>
                        </a:spcAft>
                        <a:buNone/>
                      </a:pPr>
                      <a:r>
                        <a:rPr lang="de-DE" sz="5400" b="1" dirty="0">
                          <a:effectLst/>
                        </a:rPr>
                        <a:t>GAT </a:t>
                      </a:r>
                      <a:r>
                        <a:rPr lang="de-DE" sz="5400" b="1" dirty="0" err="1">
                          <a:effectLst/>
                        </a:rPr>
                        <a:t>Evidence</a:t>
                      </a:r>
                      <a:endParaRPr lang="en-US" sz="5400" b="1"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gn="ctr">
                        <a:lnSpc>
                          <a:spcPct val="107000"/>
                        </a:lnSpc>
                        <a:spcAft>
                          <a:spcPts val="790"/>
                        </a:spcAft>
                        <a:buNone/>
                      </a:pPr>
                      <a:r>
                        <a:rPr lang="de-DE" sz="5400" b="1" dirty="0">
                          <a:effectLst/>
                        </a:rPr>
                        <a:t>Interpretation</a:t>
                      </a:r>
                      <a:endParaRPr lang="en-US" sz="5400" b="1"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2803175"/>
                  </a:ext>
                </a:extLst>
              </a:tr>
              <a:tr h="0">
                <a:tc>
                  <a:txBody>
                    <a:bodyPr/>
                    <a:lstStyle/>
                    <a:p>
                      <a:pPr marL="0" marR="0" algn="ctr">
                        <a:lnSpc>
                          <a:spcPct val="107000"/>
                        </a:lnSpc>
                        <a:spcAft>
                          <a:spcPts val="800"/>
                        </a:spcAft>
                        <a:buNone/>
                      </a:pPr>
                      <a:r>
                        <a:rPr lang="de-DE" sz="5400" b="1" dirty="0">
                          <a:effectLst/>
                        </a:rPr>
                        <a:t>🎯 Top </a:t>
                      </a:r>
                      <a:r>
                        <a:rPr lang="de-DE" sz="5400" b="1" dirty="0" err="1">
                          <a:effectLst/>
                        </a:rPr>
                        <a:t>Structural</a:t>
                      </a:r>
                      <a:r>
                        <a:rPr lang="de-DE" sz="5400" b="1" dirty="0">
                          <a:effectLst/>
                        </a:rPr>
                        <a:t> </a:t>
                      </a:r>
                      <a:r>
                        <a:rPr lang="de-DE" sz="5400" b="1" dirty="0" err="1">
                          <a:effectLst/>
                        </a:rPr>
                        <a:t>Motif</a:t>
                      </a:r>
                      <a:endParaRPr lang="en-US" sz="5400" b="1"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gn="ctr">
                        <a:lnSpc>
                          <a:spcPct val="107000"/>
                        </a:lnSpc>
                        <a:spcAft>
                          <a:spcPts val="800"/>
                        </a:spcAft>
                        <a:buNone/>
                      </a:pPr>
                      <a:r>
                        <a:rPr lang="en-US" sz="5400" dirty="0">
                          <a:effectLst/>
                        </a:rPr>
                        <a:t>NCCN (piperazine backbone) appears in top 5</a:t>
                      </a:r>
                      <a:endParaRPr lang="en-US" sz="54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gn="ctr">
                        <a:lnSpc>
                          <a:spcPct val="107000"/>
                        </a:lnSpc>
                        <a:spcAft>
                          <a:spcPts val="800"/>
                        </a:spcAft>
                        <a:buNone/>
                      </a:pPr>
                      <a:r>
                        <a:rPr lang="de-DE" sz="5400" dirty="0">
                          <a:effectLst/>
                        </a:rPr>
                        <a:t>NCCN </a:t>
                      </a:r>
                      <a:r>
                        <a:rPr lang="de-DE" sz="5400" dirty="0" err="1">
                          <a:effectLst/>
                        </a:rPr>
                        <a:t>is</a:t>
                      </a:r>
                      <a:r>
                        <a:rPr lang="de-DE" sz="5400" dirty="0">
                          <a:effectLst/>
                        </a:rPr>
                        <a:t> </a:t>
                      </a:r>
                      <a:r>
                        <a:rPr lang="de-DE" sz="5400" dirty="0" err="1">
                          <a:effectLst/>
                        </a:rPr>
                        <a:t>the</a:t>
                      </a:r>
                      <a:r>
                        <a:rPr lang="de-DE" sz="5400" dirty="0">
                          <a:effectLst/>
                        </a:rPr>
                        <a:t> #1 </a:t>
                      </a:r>
                      <a:r>
                        <a:rPr lang="de-DE" sz="5400" dirty="0" err="1">
                          <a:effectLst/>
                        </a:rPr>
                        <a:t>contributor</a:t>
                      </a:r>
                      <a:endParaRPr lang="en-US" sz="54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gn="ctr">
                        <a:lnSpc>
                          <a:spcPct val="107000"/>
                        </a:lnSpc>
                        <a:spcAft>
                          <a:spcPts val="800"/>
                        </a:spcAft>
                        <a:buNone/>
                      </a:pPr>
                      <a:r>
                        <a:rPr lang="en-US" sz="5400" dirty="0">
                          <a:effectLst/>
                        </a:rPr>
                        <a:t>Both models identify the piperazine core as the most critical pharmacophore</a:t>
                      </a:r>
                      <a:endParaRPr lang="en-US" sz="54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70565512"/>
                  </a:ext>
                </a:extLst>
              </a:tr>
              <a:tr h="458089">
                <a:tc>
                  <a:txBody>
                    <a:bodyPr/>
                    <a:lstStyle/>
                    <a:p>
                      <a:pPr marL="0" marR="0" algn="ctr">
                        <a:lnSpc>
                          <a:spcPct val="107000"/>
                        </a:lnSpc>
                        <a:spcAft>
                          <a:spcPts val="800"/>
                        </a:spcAft>
                        <a:buNone/>
                      </a:pPr>
                      <a:r>
                        <a:rPr lang="de-DE" sz="5400" b="1" dirty="0">
                          <a:effectLst/>
                        </a:rPr>
                        <a:t>📈 </a:t>
                      </a:r>
                      <a:r>
                        <a:rPr lang="de-DE" sz="5400" b="1" dirty="0" err="1">
                          <a:effectLst/>
                        </a:rPr>
                        <a:t>Contribution</a:t>
                      </a:r>
                      <a:r>
                        <a:rPr lang="de-DE" sz="5400" b="1" dirty="0">
                          <a:effectLst/>
                        </a:rPr>
                        <a:t> </a:t>
                      </a:r>
                      <a:r>
                        <a:rPr lang="de-DE" sz="5400" b="1" dirty="0" err="1">
                          <a:effectLst/>
                        </a:rPr>
                        <a:t>Direction</a:t>
                      </a:r>
                      <a:endParaRPr lang="en-US" sz="5400" b="1"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gn="ctr">
                        <a:lnSpc>
                          <a:spcPct val="107000"/>
                        </a:lnSpc>
                        <a:spcAft>
                          <a:spcPts val="800"/>
                        </a:spcAft>
                        <a:buNone/>
                      </a:pPr>
                      <a:r>
                        <a:rPr lang="en-US" sz="5400" dirty="0">
                          <a:effectLst/>
                        </a:rPr>
                        <a:t>All top 5 bonds have positive phi values</a:t>
                      </a:r>
                      <a:endParaRPr lang="en-US" sz="54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gn="ctr">
                        <a:lnSpc>
                          <a:spcPct val="107000"/>
                        </a:lnSpc>
                        <a:spcAft>
                          <a:spcPts val="800"/>
                        </a:spcAft>
                        <a:buNone/>
                      </a:pPr>
                      <a:r>
                        <a:rPr lang="en-US" sz="5400">
                          <a:effectLst/>
                        </a:rPr>
                        <a:t>All top 5 bonds have positive phi values</a:t>
                      </a:r>
                      <a:endParaRPr lang="en-US" sz="540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gn="ctr">
                        <a:lnSpc>
                          <a:spcPct val="107000"/>
                        </a:lnSpc>
                        <a:spcAft>
                          <a:spcPts val="800"/>
                        </a:spcAft>
                        <a:buNone/>
                      </a:pPr>
                      <a:r>
                        <a:rPr lang="en-US" sz="5400" dirty="0">
                          <a:effectLst/>
                        </a:rPr>
                        <a:t>Both models agree these regions drive activity (not inhibit it)</a:t>
                      </a:r>
                      <a:endParaRPr lang="en-US" sz="54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08158282"/>
                  </a:ext>
                </a:extLst>
              </a:tr>
              <a:tr h="1885084">
                <a:tc>
                  <a:txBody>
                    <a:bodyPr/>
                    <a:lstStyle/>
                    <a:p>
                      <a:pPr marL="0" marR="0" algn="ctr">
                        <a:lnSpc>
                          <a:spcPct val="107000"/>
                        </a:lnSpc>
                        <a:spcAft>
                          <a:spcPts val="800"/>
                        </a:spcAft>
                        <a:buNone/>
                      </a:pPr>
                      <a:r>
                        <a:rPr lang="de-DE" sz="5400" b="1" dirty="0">
                          <a:effectLst/>
                        </a:rPr>
                        <a:t>🔗 Bond Type Preference</a:t>
                      </a:r>
                      <a:endParaRPr lang="en-US" sz="5400" b="1"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gn="ctr">
                        <a:lnSpc>
                          <a:spcPct val="107000"/>
                        </a:lnSpc>
                        <a:spcAft>
                          <a:spcPts val="800"/>
                        </a:spcAft>
                        <a:buNone/>
                      </a:pPr>
                      <a:r>
                        <a:rPr lang="en-US" sz="5400" dirty="0">
                          <a:effectLst/>
                        </a:rPr>
                        <a:t>Prioritizes single bonds (C-C, C-N)</a:t>
                      </a:r>
                      <a:endParaRPr lang="en-US" sz="54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gn="ctr">
                        <a:lnSpc>
                          <a:spcPct val="107000"/>
                        </a:lnSpc>
                        <a:spcAft>
                          <a:spcPts val="800"/>
                        </a:spcAft>
                        <a:buNone/>
                      </a:pPr>
                      <a:r>
                        <a:rPr lang="en-US" sz="5400" dirty="0">
                          <a:effectLst/>
                        </a:rPr>
                        <a:t>Prioritizes single bonds (C-C, C-N)</a:t>
                      </a:r>
                      <a:endParaRPr lang="en-US" sz="54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gn="ctr">
                        <a:lnSpc>
                          <a:spcPct val="107000"/>
                        </a:lnSpc>
                        <a:spcAft>
                          <a:spcPts val="800"/>
                        </a:spcAft>
                        <a:buNone/>
                      </a:pPr>
                      <a:r>
                        <a:rPr lang="en-US" sz="5400" dirty="0">
                          <a:effectLst/>
                        </a:rPr>
                        <a:t>Both learn that aliphatic connectivity matters more than aromaticity for this scaffold</a:t>
                      </a:r>
                      <a:endParaRPr lang="en-US" sz="54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47202585"/>
                  </a:ext>
                </a:extLst>
              </a:tr>
              <a:tr h="1533997">
                <a:tc>
                  <a:txBody>
                    <a:bodyPr/>
                    <a:lstStyle/>
                    <a:p>
                      <a:pPr marL="0" marR="0" algn="ctr">
                        <a:lnSpc>
                          <a:spcPct val="107000"/>
                        </a:lnSpc>
                        <a:spcAft>
                          <a:spcPts val="800"/>
                        </a:spcAft>
                        <a:buNone/>
                      </a:pPr>
                      <a:r>
                        <a:rPr lang="de-DE" sz="5400" b="1" dirty="0">
                          <a:effectLst/>
                        </a:rPr>
                        <a:t>🧩 Critical </a:t>
                      </a:r>
                      <a:r>
                        <a:rPr lang="de-DE" sz="5400" b="1" dirty="0" err="1">
                          <a:effectLst/>
                        </a:rPr>
                        <a:t>Regions</a:t>
                      </a:r>
                      <a:endParaRPr lang="en-US" sz="5400" b="1"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gn="ctr">
                        <a:lnSpc>
                          <a:spcPct val="107000"/>
                        </a:lnSpc>
                        <a:spcAft>
                          <a:spcPts val="800"/>
                        </a:spcAft>
                        <a:buNone/>
                      </a:pPr>
                      <a:r>
                        <a:rPr lang="en-US" sz="5400" dirty="0">
                          <a:effectLst/>
                        </a:rPr>
                        <a:t>Piperazine ring + N-alkyl linkers (CCN(C)C, </a:t>
                      </a:r>
                      <a:r>
                        <a:rPr lang="en-US" sz="5400" dirty="0" err="1">
                          <a:effectLst/>
                        </a:rPr>
                        <a:t>cCN</a:t>
                      </a:r>
                      <a:r>
                        <a:rPr lang="en-US" sz="5400" dirty="0">
                          <a:effectLst/>
                        </a:rPr>
                        <a:t>(C)C)</a:t>
                      </a:r>
                      <a:endParaRPr lang="en-US" sz="54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gn="ctr">
                        <a:lnSpc>
                          <a:spcPct val="107000"/>
                        </a:lnSpc>
                        <a:spcAft>
                          <a:spcPts val="800"/>
                        </a:spcAft>
                        <a:buNone/>
                      </a:pPr>
                      <a:r>
                        <a:rPr lang="en-US" sz="5400" dirty="0">
                          <a:effectLst/>
                        </a:rPr>
                        <a:t>Piperazine ring + N-alkyl linkers (CCN(C)C, </a:t>
                      </a:r>
                      <a:r>
                        <a:rPr lang="en-US" sz="5400" dirty="0" err="1">
                          <a:effectLst/>
                        </a:rPr>
                        <a:t>cCN</a:t>
                      </a:r>
                      <a:r>
                        <a:rPr lang="en-US" sz="5400" dirty="0">
                          <a:effectLst/>
                        </a:rPr>
                        <a:t>(C)C)</a:t>
                      </a:r>
                      <a:endParaRPr lang="en-US" sz="54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gn="ctr">
                        <a:lnSpc>
                          <a:spcPct val="107000"/>
                        </a:lnSpc>
                        <a:spcAft>
                          <a:spcPts val="800"/>
                        </a:spcAft>
                        <a:buNone/>
                      </a:pPr>
                      <a:r>
                        <a:rPr lang="en-US" sz="5400" dirty="0">
                          <a:effectLst/>
                        </a:rPr>
                        <a:t>Both converge on the central scaffold + substituent attachment points</a:t>
                      </a:r>
                      <a:endParaRPr lang="en-US" sz="54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807445967"/>
                  </a:ext>
                </a:extLst>
              </a:tr>
              <a:tr h="1590152">
                <a:tc>
                  <a:txBody>
                    <a:bodyPr/>
                    <a:lstStyle/>
                    <a:p>
                      <a:pPr marL="0" marR="0" algn="ctr">
                        <a:lnSpc>
                          <a:spcPct val="107000"/>
                        </a:lnSpc>
                        <a:spcAft>
                          <a:spcPts val="800"/>
                        </a:spcAft>
                        <a:buNone/>
                      </a:pPr>
                      <a:r>
                        <a:rPr lang="de-DE" sz="5400" b="1" dirty="0">
                          <a:effectLst/>
                        </a:rPr>
                        <a:t>📊 Explanation </a:t>
                      </a:r>
                      <a:r>
                        <a:rPr lang="de-DE" sz="5400" b="1" dirty="0" err="1">
                          <a:effectLst/>
                        </a:rPr>
                        <a:t>Reliability</a:t>
                      </a:r>
                      <a:endParaRPr lang="en-US" sz="5400" b="1"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gn="ctr">
                        <a:lnSpc>
                          <a:spcPct val="107000"/>
                        </a:lnSpc>
                        <a:spcAft>
                          <a:spcPts val="800"/>
                        </a:spcAft>
                        <a:buNone/>
                      </a:pPr>
                      <a:r>
                        <a:rPr lang="de-DE" sz="5400" dirty="0" err="1">
                          <a:effectLst/>
                        </a:rPr>
                        <a:t>Trustworthiness</a:t>
                      </a:r>
                      <a:r>
                        <a:rPr lang="de-DE" sz="5400" dirty="0">
                          <a:effectLst/>
                        </a:rPr>
                        <a:t> : 0.7077</a:t>
                      </a:r>
                      <a:endParaRPr lang="en-US" sz="54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gn="ctr">
                        <a:lnSpc>
                          <a:spcPct val="107000"/>
                        </a:lnSpc>
                        <a:spcAft>
                          <a:spcPts val="800"/>
                        </a:spcAft>
                        <a:buNone/>
                      </a:pPr>
                      <a:r>
                        <a:rPr lang="de-DE" sz="5400" dirty="0" err="1">
                          <a:effectLst/>
                        </a:rPr>
                        <a:t>Trustworthiness</a:t>
                      </a:r>
                      <a:r>
                        <a:rPr lang="de-DE" sz="5400" dirty="0">
                          <a:effectLst/>
                        </a:rPr>
                        <a:t>: 0.6869</a:t>
                      </a:r>
                      <a:endParaRPr lang="en-US" sz="54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algn="ctr">
                        <a:lnSpc>
                          <a:spcPct val="107000"/>
                        </a:lnSpc>
                        <a:spcAft>
                          <a:spcPts val="800"/>
                        </a:spcAft>
                        <a:buNone/>
                      </a:pPr>
                      <a:r>
                        <a:rPr lang="en-US" sz="5400" dirty="0">
                          <a:effectLst/>
                        </a:rPr>
                        <a:t>Nearly identical fidelity/infidelity balance → similar explanation stability</a:t>
                      </a:r>
                      <a:endParaRPr lang="en-US" sz="5400" dirty="0">
                        <a:effectLst/>
                        <a:latin typeface="Calibri" panose="020F0502020204030204" pitchFamily="34" charset="0"/>
                        <a:ea typeface="Calibri" panose="020F0502020204030204" pitchFamily="34" charset="0"/>
                        <a:cs typeface="Times New Roman" panose="02020603050405020304" pitchFamily="18" charset="0"/>
                      </a:endParaRPr>
                    </a:p>
                  </a:txBody>
                  <a:tcPr marL="308403" marR="308403" marT="142340" marB="14234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2119250"/>
                  </a:ext>
                </a:extLst>
              </a:tr>
            </a:tbl>
          </a:graphicData>
        </a:graphic>
      </p:graphicFrame>
      <p:sp>
        <p:nvSpPr>
          <p:cNvPr id="52" name="Rectangle: Top Corners Rounded 51">
            <a:extLst>
              <a:ext uri="{FF2B5EF4-FFF2-40B4-BE49-F238E27FC236}">
                <a16:creationId xmlns:a16="http://schemas.microsoft.com/office/drawing/2014/main" id="{ABB52417-02DD-A9D5-4E97-1CF62FA267F7}"/>
              </a:ext>
            </a:extLst>
          </p:cNvPr>
          <p:cNvSpPr/>
          <p:nvPr/>
        </p:nvSpPr>
        <p:spPr>
          <a:xfrm rot="10800000">
            <a:off x="6629848" y="54223668"/>
            <a:ext cx="37071690" cy="4497180"/>
          </a:xfrm>
          <a:prstGeom prst="round2Same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sz="4400" noProof="0" dirty="0">
              <a:solidFill>
                <a:schemeClr val="tx1"/>
              </a:solidFill>
            </a:endParaRPr>
          </a:p>
        </p:txBody>
      </p:sp>
      <p:sp>
        <p:nvSpPr>
          <p:cNvPr id="47" name="TextBox 46">
            <a:extLst>
              <a:ext uri="{FF2B5EF4-FFF2-40B4-BE49-F238E27FC236}">
                <a16:creationId xmlns:a16="http://schemas.microsoft.com/office/drawing/2014/main" id="{18AD3421-1665-4A56-A998-74BE19CE1394}"/>
              </a:ext>
            </a:extLst>
          </p:cNvPr>
          <p:cNvSpPr txBox="1"/>
          <p:nvPr/>
        </p:nvSpPr>
        <p:spPr>
          <a:xfrm>
            <a:off x="6998522" y="54402807"/>
            <a:ext cx="36334342" cy="4924425"/>
          </a:xfrm>
          <a:prstGeom prst="rect">
            <a:avLst/>
          </a:prstGeom>
          <a:noFill/>
        </p:spPr>
        <p:txBody>
          <a:bodyPr wrap="square">
            <a:spAutoFit/>
          </a:bodyPr>
          <a:lstStyle/>
          <a:p>
            <a:r>
              <a:rPr lang="en-US" sz="5400" dirty="0"/>
              <a:t>Both models independently highlight the </a:t>
            </a:r>
            <a:r>
              <a:rPr lang="en-US" sz="5400" b="1" dirty="0"/>
              <a:t>piperazine nitrogen-carbon backbone</a:t>
            </a:r>
            <a:r>
              <a:rPr lang="en-US" sz="5400" dirty="0"/>
              <a:t> (NCCN) and the </a:t>
            </a:r>
            <a:r>
              <a:rPr lang="en-US" sz="5400" b="1" dirty="0"/>
              <a:t>N-methylbenzyl linker</a:t>
            </a:r>
            <a:r>
              <a:rPr lang="en-US" sz="5400" dirty="0"/>
              <a:t> (CCN(C)C / </a:t>
            </a:r>
            <a:r>
              <a:rPr lang="en-US" sz="5400" dirty="0" err="1"/>
              <a:t>cCN</a:t>
            </a:r>
            <a:r>
              <a:rPr lang="en-US" sz="5400" dirty="0"/>
              <a:t>(C)C). This isn't a coincidence—it reflects a </a:t>
            </a:r>
            <a:r>
              <a:rPr lang="en-US" sz="5400" b="1" dirty="0"/>
              <a:t>real structure-activity relationship (SAR)</a:t>
            </a:r>
            <a:r>
              <a:rPr lang="en-US" sz="5400" dirty="0"/>
              <a:t> in the training data. Both architectures extract the same patterns despite different message-passing mechanisms. This convergence strongly suggests that the </a:t>
            </a:r>
            <a:r>
              <a:rPr lang="en-US" sz="5400" b="1" dirty="0"/>
              <a:t>piperazine-N-alkyl motif</a:t>
            </a:r>
            <a:r>
              <a:rPr lang="en-US" sz="5400" dirty="0"/>
              <a:t> is a genuine, data-supported pharmacophore for this target, rather than an artifact of a specific GNN architecture.</a:t>
            </a:r>
          </a:p>
          <a:p>
            <a:endParaRPr lang="de-DE" sz="4400" dirty="0"/>
          </a:p>
        </p:txBody>
      </p:sp>
      <p:sp>
        <p:nvSpPr>
          <p:cNvPr id="50" name="TextBox 49">
            <a:extLst>
              <a:ext uri="{FF2B5EF4-FFF2-40B4-BE49-F238E27FC236}">
                <a16:creationId xmlns:a16="http://schemas.microsoft.com/office/drawing/2014/main" id="{534ECA4A-0BE1-60BA-B1E8-38B118EEEDDF}"/>
              </a:ext>
            </a:extLst>
          </p:cNvPr>
          <p:cNvSpPr txBox="1"/>
          <p:nvPr/>
        </p:nvSpPr>
        <p:spPr>
          <a:xfrm>
            <a:off x="16587008" y="53341354"/>
            <a:ext cx="17157371" cy="1015663"/>
          </a:xfrm>
          <a:prstGeom prst="rect">
            <a:avLst/>
          </a:prstGeom>
          <a:noFill/>
        </p:spPr>
        <p:txBody>
          <a:bodyPr wrap="square">
            <a:spAutoFit/>
          </a:bodyPr>
          <a:lstStyle/>
          <a:p>
            <a:pPr algn="ctr"/>
            <a:r>
              <a:rPr lang="en-US" sz="6000" b="1" i="0" dirty="0">
                <a:solidFill>
                  <a:srgbClr val="0F0F0F"/>
                </a:solidFill>
                <a:effectLst/>
              </a:rPr>
              <a:t>Revised conclusions</a:t>
            </a:r>
            <a:endParaRPr lang="en-US" sz="6000" b="1" i="0" noProof="0" dirty="0">
              <a:solidFill>
                <a:srgbClr val="0F0F0F"/>
              </a:solidFill>
              <a:effectLst/>
            </a:endParaRPr>
          </a:p>
        </p:txBody>
      </p:sp>
    </p:spTree>
    <p:extLst>
      <p:ext uri="{BB962C8B-B14F-4D97-AF65-F5344CB8AC3E}">
        <p14:creationId xmlns:p14="http://schemas.microsoft.com/office/powerpoint/2010/main" val="992596180"/>
      </p:ext>
    </p:extLst>
  </p:cSld>
  <p:clrMapOvr>
    <a:masterClrMapping/>
  </p:clrMapOvr>
  <p:extLst>
    <p:ext uri="{6950BFC3-D8DA-4A85-94F7-54DA5524770B}">
      <p188:commentRel xmlns:p188="http://schemas.microsoft.com/office/powerpoint/2018/8/main" r:id="rId2"/>
    </p:ext>
  </p:extLs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98" name="Picture 97">
            <a:extLst>
              <a:ext uri="{FF2B5EF4-FFF2-40B4-BE49-F238E27FC236}">
                <a16:creationId xmlns:a16="http://schemas.microsoft.com/office/drawing/2014/main" id="{A7F1FF81-F85B-AEE0-1DE8-5EB96DE47216}"/>
              </a:ext>
            </a:extLst>
          </p:cNvPr>
          <p:cNvPicPr>
            <a:picLocks noChangeAspect="1"/>
          </p:cNvPicPr>
          <p:nvPr/>
        </p:nvPicPr>
        <p:blipFill>
          <a:blip r:embed="rId2">
            <a:extLst>
              <a:ext uri="{28A0092B-C50C-407E-A947-70E740481C1C}">
                <a14:useLocalDpi xmlns:a14="http://schemas.microsoft.com/office/drawing/2010/main" val="0"/>
              </a:ext>
            </a:extLst>
          </a:blip>
          <a:srcRect l="25671" t="16772" r="25601" b="34684"/>
          <a:stretch/>
        </p:blipFill>
        <p:spPr>
          <a:xfrm>
            <a:off x="6677917" y="30348496"/>
            <a:ext cx="16999639" cy="4019155"/>
          </a:xfrm>
          <a:prstGeom prst="rect">
            <a:avLst/>
          </a:prstGeom>
        </p:spPr>
      </p:pic>
      <p:sp>
        <p:nvSpPr>
          <p:cNvPr id="14" name="Rectangle: Rounded Corners 13">
            <a:extLst>
              <a:ext uri="{FF2B5EF4-FFF2-40B4-BE49-F238E27FC236}">
                <a16:creationId xmlns:a16="http://schemas.microsoft.com/office/drawing/2014/main" id="{DBF4675B-24DA-ECE6-C51C-65069789A359}"/>
              </a:ext>
            </a:extLst>
          </p:cNvPr>
          <p:cNvSpPr/>
          <p:nvPr/>
        </p:nvSpPr>
        <p:spPr>
          <a:xfrm>
            <a:off x="6564917" y="7050566"/>
            <a:ext cx="37071692" cy="5165792"/>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TextBox 52">
            <a:extLst>
              <a:ext uri="{FF2B5EF4-FFF2-40B4-BE49-F238E27FC236}">
                <a16:creationId xmlns:a16="http://schemas.microsoft.com/office/drawing/2014/main" id="{4D9CB3D1-7BFC-3386-B306-BDBBA5137ABA}"/>
              </a:ext>
            </a:extLst>
          </p:cNvPr>
          <p:cNvSpPr txBox="1"/>
          <p:nvPr/>
        </p:nvSpPr>
        <p:spPr>
          <a:xfrm>
            <a:off x="16522078" y="12574083"/>
            <a:ext cx="17157371" cy="923330"/>
          </a:xfrm>
          <a:prstGeom prst="rect">
            <a:avLst/>
          </a:prstGeom>
          <a:noFill/>
        </p:spPr>
        <p:txBody>
          <a:bodyPr wrap="square">
            <a:spAutoFit/>
          </a:bodyPr>
          <a:lstStyle/>
          <a:p>
            <a:pPr algn="ctr"/>
            <a:r>
              <a:rPr lang="en-US" sz="5400" b="1" noProof="0" dirty="0">
                <a:solidFill>
                  <a:srgbClr val="0F0F0F"/>
                </a:solidFill>
                <a:latin typeface="ui-sans-serif"/>
              </a:rPr>
              <a:t>Pair 1: </a:t>
            </a:r>
            <a:r>
              <a:rPr lang="en-US" sz="5400" b="1" noProof="0" dirty="0" err="1">
                <a:solidFill>
                  <a:srgbClr val="0F0F0F"/>
                </a:solidFill>
                <a:latin typeface="ui-sans-serif"/>
              </a:rPr>
              <a:t>MolAnchor</a:t>
            </a:r>
            <a:r>
              <a:rPr lang="en-US" sz="5400" b="1" noProof="0" dirty="0">
                <a:solidFill>
                  <a:srgbClr val="0F0F0F"/>
                </a:solidFill>
                <a:latin typeface="ui-sans-serif"/>
              </a:rPr>
              <a:t> vs SHAP</a:t>
            </a:r>
            <a:endParaRPr lang="en-US" sz="5400" b="1" i="0" noProof="0" dirty="0">
              <a:solidFill>
                <a:srgbClr val="0F0F0F"/>
              </a:solidFill>
              <a:effectLst/>
              <a:latin typeface="ui-sans-serif"/>
            </a:endParaRPr>
          </a:p>
        </p:txBody>
      </p:sp>
      <p:sp>
        <p:nvSpPr>
          <p:cNvPr id="2" name="Rectangle: Top Corners Rounded 1">
            <a:extLst>
              <a:ext uri="{FF2B5EF4-FFF2-40B4-BE49-F238E27FC236}">
                <a16:creationId xmlns:a16="http://schemas.microsoft.com/office/drawing/2014/main" id="{6C13FBF4-81B4-461D-A19D-5804EED023DD}"/>
              </a:ext>
            </a:extLst>
          </p:cNvPr>
          <p:cNvSpPr/>
          <p:nvPr/>
        </p:nvSpPr>
        <p:spPr>
          <a:xfrm>
            <a:off x="6564918" y="492287"/>
            <a:ext cx="37071691" cy="6053787"/>
          </a:xfrm>
          <a:prstGeom prst="round2Same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6000" noProof="0" dirty="0">
                <a:solidFill>
                  <a:schemeClr val="tx1"/>
                </a:solidFill>
              </a:rPr>
              <a:t>You are running an explainability benchmarking study for compound bioactivity prediction. The goal is to train a Deep Neural Network to distinguish compounds active against the D(2) dopamine receptor (UniProt P14416) from inactive compounds, evaluate its performance, and then directly compare two pairs of explainability methods on the same on the same correctly predicted active compound: </a:t>
            </a:r>
            <a:r>
              <a:rPr lang="en-US" sz="6000" noProof="0" dirty="0" err="1">
                <a:solidFill>
                  <a:schemeClr val="tx1"/>
                </a:solidFill>
              </a:rPr>
              <a:t>Molanchor</a:t>
            </a:r>
            <a:r>
              <a:rPr lang="en-US" sz="6000" noProof="0" dirty="0">
                <a:solidFill>
                  <a:schemeClr val="tx1"/>
                </a:solidFill>
              </a:rPr>
              <a:t> vs SHAP and </a:t>
            </a:r>
            <a:r>
              <a:rPr lang="en-US" sz="6000" noProof="0" dirty="0" err="1">
                <a:solidFill>
                  <a:schemeClr val="tx1"/>
                </a:solidFill>
              </a:rPr>
              <a:t>MolCE</a:t>
            </a:r>
            <a:r>
              <a:rPr lang="en-US" sz="6000" noProof="0" dirty="0">
                <a:solidFill>
                  <a:schemeClr val="tx1"/>
                </a:solidFill>
              </a:rPr>
              <a:t> vs Counterfactuals. Summarize where the methods agree on the structural determinants of the predictions and where they disagree</a:t>
            </a:r>
            <a:r>
              <a:rPr lang="en-US" sz="1800" noProof="0" dirty="0">
                <a:solidFill>
                  <a:schemeClr val="tx1"/>
                </a:solidFill>
              </a:rPr>
              <a:t>.</a:t>
            </a:r>
            <a:endParaRPr lang="en-US" sz="6000" noProof="0" dirty="0">
              <a:solidFill>
                <a:schemeClr val="tx1"/>
              </a:solidFill>
            </a:endParaRPr>
          </a:p>
        </p:txBody>
      </p:sp>
      <p:sp>
        <p:nvSpPr>
          <p:cNvPr id="49" name="Rectangle: Rounded Corners 48">
            <a:extLst>
              <a:ext uri="{FF2B5EF4-FFF2-40B4-BE49-F238E27FC236}">
                <a16:creationId xmlns:a16="http://schemas.microsoft.com/office/drawing/2014/main" id="{1C29497D-2B90-2BE5-88BB-D67B8144BA05}"/>
              </a:ext>
            </a:extLst>
          </p:cNvPr>
          <p:cNvSpPr/>
          <p:nvPr/>
        </p:nvSpPr>
        <p:spPr>
          <a:xfrm>
            <a:off x="6564918" y="13607274"/>
            <a:ext cx="37071691" cy="1430996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5" name="Rectangle: Top Corners Rounded 74">
            <a:extLst>
              <a:ext uri="{FF2B5EF4-FFF2-40B4-BE49-F238E27FC236}">
                <a16:creationId xmlns:a16="http://schemas.microsoft.com/office/drawing/2014/main" id="{ADA389BC-6277-D00F-8843-FDFC3BF7E611}"/>
              </a:ext>
            </a:extLst>
          </p:cNvPr>
          <p:cNvSpPr/>
          <p:nvPr/>
        </p:nvSpPr>
        <p:spPr>
          <a:xfrm rot="10800000">
            <a:off x="6594255" y="43149687"/>
            <a:ext cx="37013016" cy="7781566"/>
          </a:xfrm>
          <a:prstGeom prst="round2Same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sz="4400" noProof="0" dirty="0">
              <a:solidFill>
                <a:schemeClr val="tx1"/>
              </a:solidFill>
            </a:endParaRPr>
          </a:p>
        </p:txBody>
      </p:sp>
      <p:sp>
        <p:nvSpPr>
          <p:cNvPr id="77" name="TextBox 76">
            <a:extLst>
              <a:ext uri="{FF2B5EF4-FFF2-40B4-BE49-F238E27FC236}">
                <a16:creationId xmlns:a16="http://schemas.microsoft.com/office/drawing/2014/main" id="{C9821E32-A8A6-C518-B031-E9D5E16F9A8D}"/>
              </a:ext>
            </a:extLst>
          </p:cNvPr>
          <p:cNvSpPr txBox="1"/>
          <p:nvPr/>
        </p:nvSpPr>
        <p:spPr>
          <a:xfrm>
            <a:off x="6891932" y="43647051"/>
            <a:ext cx="36417663" cy="8094524"/>
          </a:xfrm>
          <a:prstGeom prst="rect">
            <a:avLst/>
          </a:prstGeom>
          <a:noFill/>
        </p:spPr>
        <p:txBody>
          <a:bodyPr wrap="square">
            <a:spAutoFit/>
          </a:bodyPr>
          <a:lstStyle/>
          <a:p>
            <a:pPr marL="228600" indent="-228600">
              <a:spcAft>
                <a:spcPts val="1200"/>
              </a:spcAft>
              <a:buFont typeface="+mj-lt"/>
              <a:buAutoNum type="arabicPeriod"/>
            </a:pPr>
            <a:r>
              <a:rPr lang="en-US" sz="4400" b="1" i="0" noProof="0" dirty="0">
                <a:solidFill>
                  <a:srgbClr val="0F0F0F"/>
                </a:solidFill>
                <a:effectLst/>
                <a:latin typeface="ui-sans-serif"/>
              </a:rPr>
              <a:t> Convergent Pharmacophore: </a:t>
            </a:r>
            <a:r>
              <a:rPr lang="en-US" sz="4400" i="0" noProof="0" dirty="0">
                <a:solidFill>
                  <a:srgbClr val="0F0F0F"/>
                </a:solidFill>
                <a:effectLst/>
                <a:latin typeface="ui-sans-serif"/>
              </a:rPr>
              <a:t>All four methods agree that the piperazine-benzyl-morpholinone core is the essential pharmacophore for D2 receptor binding.</a:t>
            </a:r>
          </a:p>
          <a:p>
            <a:pPr marL="228600" indent="-228600">
              <a:spcAft>
                <a:spcPts val="1200"/>
              </a:spcAft>
              <a:buFont typeface="+mj-lt"/>
              <a:buAutoNum type="arabicPeriod"/>
            </a:pPr>
            <a:r>
              <a:rPr lang="en-US" sz="4400" b="1" i="0" noProof="0" dirty="0">
                <a:solidFill>
                  <a:srgbClr val="0F0F0F"/>
                </a:solidFill>
                <a:effectLst/>
                <a:latin typeface="ui-sans-serif"/>
              </a:rPr>
              <a:t> Critical Switch: </a:t>
            </a:r>
            <a:r>
              <a:rPr lang="en-US" sz="4400" i="0" noProof="0" dirty="0">
                <a:solidFill>
                  <a:srgbClr val="0F0F0F"/>
                </a:solidFill>
                <a:effectLst/>
                <a:latin typeface="ui-sans-serif"/>
              </a:rPr>
              <a:t>The piperazine nitrogen substituent acts as an "on/off switch"—modifying it can eliminate activity even with the intact core scaffold intact.</a:t>
            </a:r>
          </a:p>
          <a:p>
            <a:pPr marL="228600" indent="-228600">
              <a:spcAft>
                <a:spcPts val="1200"/>
              </a:spcAft>
              <a:buFont typeface="+mj-lt"/>
              <a:buAutoNum type="arabicPeriod"/>
            </a:pPr>
            <a:r>
              <a:rPr lang="en-US" sz="4400" b="1" i="0" noProof="0" dirty="0">
                <a:solidFill>
                  <a:srgbClr val="0F0F0F"/>
                </a:solidFill>
                <a:effectLst/>
                <a:latin typeface="ui-sans-serif"/>
              </a:rPr>
              <a:t> Method Complementarity:</a:t>
            </a:r>
          </a:p>
          <a:p>
            <a:pPr marL="571500" indent="-571500">
              <a:spcAft>
                <a:spcPts val="1200"/>
              </a:spcAft>
              <a:buFont typeface="Arial" panose="020B0604020202020204" pitchFamily="34" charset="0"/>
              <a:buChar char="•"/>
            </a:pPr>
            <a:r>
              <a:rPr lang="en-US" sz="4400" b="1" i="0" noProof="0" dirty="0" err="1">
                <a:solidFill>
                  <a:srgbClr val="0F0F0F"/>
                </a:solidFill>
                <a:effectLst/>
                <a:latin typeface="ui-sans-serif"/>
              </a:rPr>
              <a:t>MolAnchor</a:t>
            </a:r>
            <a:r>
              <a:rPr lang="en-US" sz="4400" b="1" i="0" noProof="0" dirty="0">
                <a:solidFill>
                  <a:srgbClr val="0F0F0F"/>
                </a:solidFill>
                <a:effectLst/>
                <a:latin typeface="ui-sans-serif"/>
              </a:rPr>
              <a:t>: </a:t>
            </a:r>
            <a:r>
              <a:rPr lang="en-US" sz="4400" i="0" noProof="0" dirty="0">
                <a:solidFill>
                  <a:srgbClr val="0F0F0F"/>
                </a:solidFill>
                <a:effectLst/>
                <a:latin typeface="ui-sans-serif"/>
              </a:rPr>
              <a:t>Best for identifying dominant fragments with high precision</a:t>
            </a:r>
          </a:p>
          <a:p>
            <a:pPr marL="571500" indent="-571500">
              <a:spcAft>
                <a:spcPts val="1200"/>
              </a:spcAft>
              <a:buFont typeface="Arial" panose="020B0604020202020204" pitchFamily="34" charset="0"/>
              <a:buChar char="•"/>
            </a:pPr>
            <a:r>
              <a:rPr lang="en-US" sz="4400" b="1" i="0" noProof="0" dirty="0">
                <a:solidFill>
                  <a:srgbClr val="0F0F0F"/>
                </a:solidFill>
                <a:effectLst/>
                <a:latin typeface="ui-sans-serif"/>
              </a:rPr>
              <a:t>SHAP: </a:t>
            </a:r>
            <a:r>
              <a:rPr lang="en-US" sz="4400" i="0" noProof="0" dirty="0">
                <a:solidFill>
                  <a:srgbClr val="0F0F0F"/>
                </a:solidFill>
                <a:effectLst/>
                <a:latin typeface="ui-sans-serif"/>
              </a:rPr>
              <a:t>Best for revealing distributed importance and negative contributions</a:t>
            </a:r>
          </a:p>
          <a:p>
            <a:pPr marL="571500" indent="-571500">
              <a:spcAft>
                <a:spcPts val="1200"/>
              </a:spcAft>
              <a:buFont typeface="Arial" panose="020B0604020202020204" pitchFamily="34" charset="0"/>
              <a:buChar char="•"/>
            </a:pPr>
            <a:r>
              <a:rPr lang="en-US" sz="4400" b="1" i="0" noProof="0" dirty="0" err="1">
                <a:solidFill>
                  <a:srgbClr val="0F0F0F"/>
                </a:solidFill>
                <a:effectLst/>
                <a:latin typeface="ui-sans-serif"/>
              </a:rPr>
              <a:t>MolCE</a:t>
            </a:r>
            <a:r>
              <a:rPr lang="en-US" sz="4400" i="0" noProof="0" dirty="0">
                <a:solidFill>
                  <a:srgbClr val="0F0F0F"/>
                </a:solidFill>
                <a:effectLst/>
                <a:latin typeface="ui-sans-serif"/>
              </a:rPr>
              <a:t>: Best for identifying contrastive features (what distinguishes active from inactive)</a:t>
            </a:r>
          </a:p>
          <a:p>
            <a:pPr marL="571500" indent="-571500">
              <a:spcAft>
                <a:spcPts val="1200"/>
              </a:spcAft>
              <a:buFont typeface="Arial" panose="020B0604020202020204" pitchFamily="34" charset="0"/>
              <a:buChar char="•"/>
            </a:pPr>
            <a:r>
              <a:rPr lang="en-US" sz="4400" b="1" i="0" noProof="0" dirty="0">
                <a:solidFill>
                  <a:srgbClr val="0F0F0F"/>
                </a:solidFill>
                <a:effectLst/>
                <a:latin typeface="ui-sans-serif"/>
              </a:rPr>
              <a:t>Counterfactuals: </a:t>
            </a:r>
            <a:r>
              <a:rPr lang="en-US" sz="4400" i="0" noProof="0" dirty="0">
                <a:solidFill>
                  <a:srgbClr val="0F0F0F"/>
                </a:solidFill>
                <a:effectLst/>
                <a:latin typeface="ui-sans-serif"/>
              </a:rPr>
              <a:t>Best for generating actionable structural modifications</a:t>
            </a:r>
          </a:p>
          <a:p>
            <a:pPr marL="742950" indent="-742950">
              <a:spcAft>
                <a:spcPts val="1200"/>
              </a:spcAft>
              <a:buFont typeface="+mj-lt"/>
              <a:buAutoNum type="arabicPeriod" startAt="4"/>
            </a:pPr>
            <a:r>
              <a:rPr lang="en-US" sz="4400" b="1" i="0" noProof="0" dirty="0">
                <a:solidFill>
                  <a:srgbClr val="0F0F0F"/>
                </a:solidFill>
                <a:effectLst/>
                <a:latin typeface="ui-sans-serif"/>
              </a:rPr>
              <a:t>Limitation Insight: </a:t>
            </a:r>
            <a:r>
              <a:rPr lang="en-US" sz="4400" i="0" noProof="0" dirty="0" err="1">
                <a:solidFill>
                  <a:srgbClr val="0F0F0F"/>
                </a:solidFill>
                <a:effectLst/>
                <a:latin typeface="ui-sans-serif"/>
              </a:rPr>
              <a:t>MolAnchor's</a:t>
            </a:r>
            <a:r>
              <a:rPr lang="en-US" sz="4400" i="0" noProof="0" dirty="0">
                <a:solidFill>
                  <a:srgbClr val="0F0F0F"/>
                </a:solidFill>
                <a:effectLst/>
                <a:latin typeface="ui-sans-serif"/>
              </a:rPr>
              <a:t> single-anchor view may oversimplify; SHAP reveals the benzothiazole's positive contribution that </a:t>
            </a:r>
            <a:r>
              <a:rPr lang="en-US" sz="4400" i="0" noProof="0" dirty="0" err="1">
                <a:solidFill>
                  <a:srgbClr val="0F0F0F"/>
                </a:solidFill>
                <a:effectLst/>
                <a:latin typeface="ui-sans-serif"/>
              </a:rPr>
              <a:t>MolAnchor</a:t>
            </a:r>
            <a:r>
              <a:rPr lang="en-US" sz="4400" i="0" noProof="0" dirty="0">
                <a:solidFill>
                  <a:srgbClr val="0F0F0F"/>
                </a:solidFill>
                <a:effectLst/>
                <a:latin typeface="ui-sans-serif"/>
              </a:rPr>
              <a:t> misses. Counterfactuals show that the core scaffold alone is necessary but not sufficient—the N-substituent is the decisive factor.</a:t>
            </a:r>
          </a:p>
          <a:p>
            <a:pPr marL="228600" indent="-228600">
              <a:buFont typeface="+mj-lt"/>
              <a:buAutoNum type="arabicPeriod" startAt="4"/>
            </a:pPr>
            <a:endParaRPr lang="en-US" sz="4400" b="1" i="0" noProof="0" dirty="0">
              <a:solidFill>
                <a:srgbClr val="0F0F0F"/>
              </a:solidFill>
              <a:effectLst/>
              <a:latin typeface="ui-sans-serif"/>
            </a:endParaRPr>
          </a:p>
        </p:txBody>
      </p:sp>
      <p:sp>
        <p:nvSpPr>
          <p:cNvPr id="80" name="TextBox 79">
            <a:extLst>
              <a:ext uri="{FF2B5EF4-FFF2-40B4-BE49-F238E27FC236}">
                <a16:creationId xmlns:a16="http://schemas.microsoft.com/office/drawing/2014/main" id="{4F75911C-6BD0-922D-B821-7CE96BED0CA3}"/>
              </a:ext>
            </a:extLst>
          </p:cNvPr>
          <p:cNvSpPr txBox="1"/>
          <p:nvPr/>
        </p:nvSpPr>
        <p:spPr>
          <a:xfrm>
            <a:off x="16522078" y="42190355"/>
            <a:ext cx="17157371" cy="923330"/>
          </a:xfrm>
          <a:prstGeom prst="rect">
            <a:avLst/>
          </a:prstGeom>
          <a:noFill/>
        </p:spPr>
        <p:txBody>
          <a:bodyPr wrap="square">
            <a:spAutoFit/>
          </a:bodyPr>
          <a:lstStyle/>
          <a:p>
            <a:pPr algn="ctr"/>
            <a:r>
              <a:rPr lang="en-US" sz="5400" b="1" noProof="0" dirty="0">
                <a:solidFill>
                  <a:srgbClr val="0F0F0F"/>
                </a:solidFill>
                <a:latin typeface="ui-sans-serif"/>
              </a:rPr>
              <a:t>Key takeaways</a:t>
            </a:r>
            <a:endParaRPr lang="en-US" sz="5400" b="1" i="0" noProof="0" dirty="0">
              <a:solidFill>
                <a:srgbClr val="0F0F0F"/>
              </a:solidFill>
              <a:effectLst/>
              <a:latin typeface="ui-sans-serif"/>
            </a:endParaRPr>
          </a:p>
        </p:txBody>
      </p:sp>
      <p:grpSp>
        <p:nvGrpSpPr>
          <p:cNvPr id="7" name="Group 6">
            <a:extLst>
              <a:ext uri="{FF2B5EF4-FFF2-40B4-BE49-F238E27FC236}">
                <a16:creationId xmlns:a16="http://schemas.microsoft.com/office/drawing/2014/main" id="{AE02D07E-FA83-46F7-FBED-29C7C8CFC31A}"/>
              </a:ext>
            </a:extLst>
          </p:cNvPr>
          <p:cNvGrpSpPr/>
          <p:nvPr/>
        </p:nvGrpSpPr>
        <p:grpSpPr>
          <a:xfrm>
            <a:off x="11490222" y="51440427"/>
            <a:ext cx="27221082" cy="923330"/>
            <a:chOff x="13161742" y="35331084"/>
            <a:chExt cx="27221082" cy="923330"/>
          </a:xfrm>
        </p:grpSpPr>
        <p:sp>
          <p:nvSpPr>
            <p:cNvPr id="81" name="Rectangle 80">
              <a:extLst>
                <a:ext uri="{FF2B5EF4-FFF2-40B4-BE49-F238E27FC236}">
                  <a16:creationId xmlns:a16="http://schemas.microsoft.com/office/drawing/2014/main" id="{72807964-5BD9-B45A-64B0-2645DF88EB3B}"/>
                </a:ext>
              </a:extLst>
            </p:cNvPr>
            <p:cNvSpPr/>
            <p:nvPr/>
          </p:nvSpPr>
          <p:spPr>
            <a:xfrm>
              <a:off x="13161742" y="35440946"/>
              <a:ext cx="1646814" cy="703607"/>
            </a:xfrm>
            <a:prstGeom prst="rect">
              <a:avLst/>
            </a:prstGeom>
            <a:solidFill>
              <a:srgbClr val="A6CAE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2" name="TextBox 81">
              <a:extLst>
                <a:ext uri="{FF2B5EF4-FFF2-40B4-BE49-F238E27FC236}">
                  <a16:creationId xmlns:a16="http://schemas.microsoft.com/office/drawing/2014/main" id="{EACA069E-8CED-5E8A-69B1-E9F4FC24041A}"/>
                </a:ext>
              </a:extLst>
            </p:cNvPr>
            <p:cNvSpPr txBox="1"/>
            <p:nvPr/>
          </p:nvSpPr>
          <p:spPr>
            <a:xfrm>
              <a:off x="13960804" y="35331084"/>
              <a:ext cx="6199523" cy="923330"/>
            </a:xfrm>
            <a:prstGeom prst="rect">
              <a:avLst/>
            </a:prstGeom>
            <a:noFill/>
          </p:spPr>
          <p:txBody>
            <a:bodyPr wrap="square" rtlCol="0">
              <a:spAutoFit/>
            </a:bodyPr>
            <a:lstStyle/>
            <a:p>
              <a:pPr algn="ctr"/>
              <a:r>
                <a:rPr lang="en-US" sz="5400" noProof="0" dirty="0"/>
                <a:t>User prompt</a:t>
              </a:r>
            </a:p>
          </p:txBody>
        </p:sp>
        <p:sp>
          <p:nvSpPr>
            <p:cNvPr id="83" name="Rectangle 82">
              <a:extLst>
                <a:ext uri="{FF2B5EF4-FFF2-40B4-BE49-F238E27FC236}">
                  <a16:creationId xmlns:a16="http://schemas.microsoft.com/office/drawing/2014/main" id="{083E7B6A-0D88-EE7A-862D-CD52DE210854}"/>
                </a:ext>
              </a:extLst>
            </p:cNvPr>
            <p:cNvSpPr/>
            <p:nvPr/>
          </p:nvSpPr>
          <p:spPr>
            <a:xfrm>
              <a:off x="25749158" y="35440946"/>
              <a:ext cx="1646814" cy="70360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4" name="TextBox 83">
              <a:extLst>
                <a:ext uri="{FF2B5EF4-FFF2-40B4-BE49-F238E27FC236}">
                  <a16:creationId xmlns:a16="http://schemas.microsoft.com/office/drawing/2014/main" id="{358AE044-1305-34FC-BBC0-450EF8C6264C}"/>
                </a:ext>
              </a:extLst>
            </p:cNvPr>
            <p:cNvSpPr txBox="1"/>
            <p:nvPr/>
          </p:nvSpPr>
          <p:spPr>
            <a:xfrm>
              <a:off x="26376770" y="35331084"/>
              <a:ext cx="8218539" cy="923330"/>
            </a:xfrm>
            <a:prstGeom prst="rect">
              <a:avLst/>
            </a:prstGeom>
            <a:noFill/>
          </p:spPr>
          <p:txBody>
            <a:bodyPr wrap="square" rtlCol="0">
              <a:spAutoFit/>
            </a:bodyPr>
            <a:lstStyle/>
            <a:p>
              <a:pPr algn="ctr"/>
              <a:r>
                <a:rPr lang="en-US" sz="5400" noProof="0" dirty="0"/>
                <a:t>Response &amp; output</a:t>
              </a:r>
            </a:p>
          </p:txBody>
        </p:sp>
        <p:sp>
          <p:nvSpPr>
            <p:cNvPr id="86" name="Rectangle 85">
              <a:extLst>
                <a:ext uri="{FF2B5EF4-FFF2-40B4-BE49-F238E27FC236}">
                  <a16:creationId xmlns:a16="http://schemas.microsoft.com/office/drawing/2014/main" id="{350C722C-59C7-EC1B-EC99-E1777E1494CE}"/>
                </a:ext>
              </a:extLst>
            </p:cNvPr>
            <p:cNvSpPr/>
            <p:nvPr/>
          </p:nvSpPr>
          <p:spPr>
            <a:xfrm>
              <a:off x="34204757" y="35440946"/>
              <a:ext cx="1646814" cy="703607"/>
            </a:xfrm>
            <a:prstGeom prst="rect">
              <a:avLst/>
            </a:prstGeom>
            <a:solidFill>
              <a:srgbClr val="B4E5A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7" name="TextBox 86">
              <a:extLst>
                <a:ext uri="{FF2B5EF4-FFF2-40B4-BE49-F238E27FC236}">
                  <a16:creationId xmlns:a16="http://schemas.microsoft.com/office/drawing/2014/main" id="{24FCF701-8B21-25B2-2AE4-BF962FF75654}"/>
                </a:ext>
              </a:extLst>
            </p:cNvPr>
            <p:cNvSpPr txBox="1"/>
            <p:nvPr/>
          </p:nvSpPr>
          <p:spPr>
            <a:xfrm>
              <a:off x="35326982" y="35331084"/>
              <a:ext cx="5055842" cy="923330"/>
            </a:xfrm>
            <a:prstGeom prst="rect">
              <a:avLst/>
            </a:prstGeom>
            <a:noFill/>
          </p:spPr>
          <p:txBody>
            <a:bodyPr wrap="square" rtlCol="0">
              <a:spAutoFit/>
            </a:bodyPr>
            <a:lstStyle/>
            <a:p>
              <a:pPr algn="ctr"/>
              <a:r>
                <a:rPr lang="en-US" sz="5400" noProof="0" dirty="0"/>
                <a:t>Discussion</a:t>
              </a:r>
            </a:p>
          </p:txBody>
        </p:sp>
        <p:sp>
          <p:nvSpPr>
            <p:cNvPr id="5" name="Rectangle 4">
              <a:extLst>
                <a:ext uri="{FF2B5EF4-FFF2-40B4-BE49-F238E27FC236}">
                  <a16:creationId xmlns:a16="http://schemas.microsoft.com/office/drawing/2014/main" id="{A2B5BA64-5C49-72B3-4807-202BB7511121}"/>
                </a:ext>
              </a:extLst>
            </p:cNvPr>
            <p:cNvSpPr/>
            <p:nvPr/>
          </p:nvSpPr>
          <p:spPr>
            <a:xfrm>
              <a:off x="19941225" y="35440946"/>
              <a:ext cx="1646814" cy="703607"/>
            </a:xfrm>
            <a:prstGeom prst="rect">
              <a:avLst/>
            </a:prstGeom>
            <a:solidFill>
              <a:srgbClr val="D9D9D9"/>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solidFill>
                  <a:srgbClr val="FFFFFF"/>
                </a:solidFill>
              </a:endParaRPr>
            </a:p>
          </p:txBody>
        </p:sp>
        <p:sp>
          <p:nvSpPr>
            <p:cNvPr id="6" name="TextBox 5">
              <a:extLst>
                <a:ext uri="{FF2B5EF4-FFF2-40B4-BE49-F238E27FC236}">
                  <a16:creationId xmlns:a16="http://schemas.microsoft.com/office/drawing/2014/main" id="{0B838B24-BA64-D5F2-D98D-5C4BC2C2CAD6}"/>
                </a:ext>
              </a:extLst>
            </p:cNvPr>
            <p:cNvSpPr txBox="1"/>
            <p:nvPr/>
          </p:nvSpPr>
          <p:spPr>
            <a:xfrm>
              <a:off x="20283087" y="35331084"/>
              <a:ext cx="6199523" cy="923330"/>
            </a:xfrm>
            <a:prstGeom prst="rect">
              <a:avLst/>
            </a:prstGeom>
            <a:noFill/>
          </p:spPr>
          <p:txBody>
            <a:bodyPr wrap="square" rtlCol="0">
              <a:spAutoFit/>
            </a:bodyPr>
            <a:lstStyle/>
            <a:p>
              <a:pPr algn="ctr"/>
              <a:r>
                <a:rPr lang="en-US" sz="5400" noProof="0" dirty="0"/>
                <a:t>Tool calls</a:t>
              </a:r>
            </a:p>
          </p:txBody>
        </p:sp>
      </p:grpSp>
      <p:grpSp>
        <p:nvGrpSpPr>
          <p:cNvPr id="103" name="Group 102">
            <a:extLst>
              <a:ext uri="{FF2B5EF4-FFF2-40B4-BE49-F238E27FC236}">
                <a16:creationId xmlns:a16="http://schemas.microsoft.com/office/drawing/2014/main" id="{686AEDAD-7926-E065-5CEF-0258F653ADAC}"/>
              </a:ext>
            </a:extLst>
          </p:cNvPr>
          <p:cNvGrpSpPr/>
          <p:nvPr/>
        </p:nvGrpSpPr>
        <p:grpSpPr>
          <a:xfrm>
            <a:off x="7138763" y="7498381"/>
            <a:ext cx="35924001" cy="4270163"/>
            <a:chOff x="6759986" y="11876103"/>
            <a:chExt cx="35924001" cy="4270163"/>
          </a:xfrm>
        </p:grpSpPr>
        <p:sp>
          <p:nvSpPr>
            <p:cNvPr id="3" name="Rectangle: Rounded Corners 2">
              <a:extLst>
                <a:ext uri="{FF2B5EF4-FFF2-40B4-BE49-F238E27FC236}">
                  <a16:creationId xmlns:a16="http://schemas.microsoft.com/office/drawing/2014/main" id="{465AE2D3-52C5-2D04-D846-EC865A9F4DC7}"/>
                </a:ext>
              </a:extLst>
            </p:cNvPr>
            <p:cNvSpPr/>
            <p:nvPr/>
          </p:nvSpPr>
          <p:spPr>
            <a:xfrm>
              <a:off x="6759986" y="12124268"/>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Find dataset</a:t>
              </a:r>
            </a:p>
          </p:txBody>
        </p:sp>
        <p:sp>
          <p:nvSpPr>
            <p:cNvPr id="4" name="Rectangle: Rounded Corners 3">
              <a:extLst>
                <a:ext uri="{FF2B5EF4-FFF2-40B4-BE49-F238E27FC236}">
                  <a16:creationId xmlns:a16="http://schemas.microsoft.com/office/drawing/2014/main" id="{6DB85F9D-5273-DCFF-C989-7562C2561479}"/>
                </a:ext>
              </a:extLst>
            </p:cNvPr>
            <p:cNvSpPr/>
            <p:nvPr/>
          </p:nvSpPr>
          <p:spPr>
            <a:xfrm>
              <a:off x="6759986" y="14558075"/>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Load dataset</a:t>
              </a:r>
            </a:p>
          </p:txBody>
        </p:sp>
        <p:sp>
          <p:nvSpPr>
            <p:cNvPr id="8" name="Rectangle: Rounded Corners 7">
              <a:extLst>
                <a:ext uri="{FF2B5EF4-FFF2-40B4-BE49-F238E27FC236}">
                  <a16:creationId xmlns:a16="http://schemas.microsoft.com/office/drawing/2014/main" id="{872B3574-1A6E-95E9-EEA3-C496E1B2F4CE}"/>
                </a:ext>
              </a:extLst>
            </p:cNvPr>
            <p:cNvSpPr/>
            <p:nvPr/>
          </p:nvSpPr>
          <p:spPr>
            <a:xfrm>
              <a:off x="14116180" y="14558075"/>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Compute features</a:t>
              </a:r>
            </a:p>
          </p:txBody>
        </p:sp>
        <p:sp>
          <p:nvSpPr>
            <p:cNvPr id="9" name="Rectangle: Rounded Corners 8">
              <a:extLst>
                <a:ext uri="{FF2B5EF4-FFF2-40B4-BE49-F238E27FC236}">
                  <a16:creationId xmlns:a16="http://schemas.microsoft.com/office/drawing/2014/main" id="{AB67E2D9-9E9D-F863-4BAE-D1ACB7A59896}"/>
                </a:ext>
              </a:extLst>
            </p:cNvPr>
            <p:cNvSpPr/>
            <p:nvPr/>
          </p:nvSpPr>
          <p:spPr>
            <a:xfrm>
              <a:off x="14116180" y="12124268"/>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Split dataset</a:t>
              </a:r>
            </a:p>
          </p:txBody>
        </p:sp>
        <p:sp>
          <p:nvSpPr>
            <p:cNvPr id="10" name="Rectangle: Rounded Corners 9">
              <a:extLst>
                <a:ext uri="{FF2B5EF4-FFF2-40B4-BE49-F238E27FC236}">
                  <a16:creationId xmlns:a16="http://schemas.microsoft.com/office/drawing/2014/main" id="{1344948B-9127-5D85-04AF-9E27623C51DB}"/>
                </a:ext>
              </a:extLst>
            </p:cNvPr>
            <p:cNvSpPr/>
            <p:nvPr/>
          </p:nvSpPr>
          <p:spPr>
            <a:xfrm>
              <a:off x="21472374" y="12124268"/>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Train model</a:t>
              </a:r>
            </a:p>
          </p:txBody>
        </p:sp>
        <p:sp>
          <p:nvSpPr>
            <p:cNvPr id="12" name="Rectangle: Rounded Corners 11">
              <a:extLst>
                <a:ext uri="{FF2B5EF4-FFF2-40B4-BE49-F238E27FC236}">
                  <a16:creationId xmlns:a16="http://schemas.microsoft.com/office/drawing/2014/main" id="{9B31298B-CDEF-CDC2-2977-DCA4EAA13569}"/>
                </a:ext>
              </a:extLst>
            </p:cNvPr>
            <p:cNvSpPr/>
            <p:nvPr/>
          </p:nvSpPr>
          <p:spPr>
            <a:xfrm>
              <a:off x="21472374" y="14309910"/>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Explain with </a:t>
              </a:r>
              <a:r>
                <a:rPr lang="en-US" sz="6000" noProof="0" dirty="0" err="1">
                  <a:solidFill>
                    <a:schemeClr val="tx1"/>
                  </a:solidFill>
                </a:rPr>
                <a:t>molanchor</a:t>
              </a:r>
              <a:endParaRPr lang="en-US" sz="6000" noProof="0" dirty="0">
                <a:solidFill>
                  <a:schemeClr val="tx1"/>
                </a:solidFill>
              </a:endParaRPr>
            </a:p>
          </p:txBody>
        </p:sp>
        <p:sp>
          <p:nvSpPr>
            <p:cNvPr id="13" name="Rectangle: Rounded Corners 12">
              <a:extLst>
                <a:ext uri="{FF2B5EF4-FFF2-40B4-BE49-F238E27FC236}">
                  <a16:creationId xmlns:a16="http://schemas.microsoft.com/office/drawing/2014/main" id="{A2D69792-6240-2A88-CEB7-39F07C646BE7}"/>
                </a:ext>
              </a:extLst>
            </p:cNvPr>
            <p:cNvSpPr/>
            <p:nvPr/>
          </p:nvSpPr>
          <p:spPr>
            <a:xfrm>
              <a:off x="28828568" y="14308322"/>
              <a:ext cx="6499225" cy="1837944"/>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Explain smiles with SHAP</a:t>
              </a:r>
            </a:p>
          </p:txBody>
        </p:sp>
        <p:cxnSp>
          <p:nvCxnSpPr>
            <p:cNvPr id="16" name="Straight Arrow Connector 15">
              <a:extLst>
                <a:ext uri="{FF2B5EF4-FFF2-40B4-BE49-F238E27FC236}">
                  <a16:creationId xmlns:a16="http://schemas.microsoft.com/office/drawing/2014/main" id="{0EB09105-A603-3792-FA56-C202D530844E}"/>
                </a:ext>
              </a:extLst>
            </p:cNvPr>
            <p:cNvCxnSpPr>
              <a:cxnSpLocks/>
              <a:stCxn id="3" idx="2"/>
              <a:endCxn id="4" idx="0"/>
            </p:cNvCxnSpPr>
            <p:nvPr/>
          </p:nvCxnSpPr>
          <p:spPr>
            <a:xfrm>
              <a:off x="10009599" y="13462707"/>
              <a:ext cx="0" cy="1095368"/>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826109EB-84B7-25A1-4C4D-5E40E7C05280}"/>
                </a:ext>
              </a:extLst>
            </p:cNvPr>
            <p:cNvCxnSpPr>
              <a:cxnSpLocks/>
              <a:stCxn id="4" idx="3"/>
              <a:endCxn id="8" idx="1"/>
            </p:cNvCxnSpPr>
            <p:nvPr/>
          </p:nvCxnSpPr>
          <p:spPr>
            <a:xfrm>
              <a:off x="13259211" y="15227295"/>
              <a:ext cx="856969"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FE9E200C-F61C-E3BC-C813-973305E697A5}"/>
                </a:ext>
              </a:extLst>
            </p:cNvPr>
            <p:cNvCxnSpPr>
              <a:cxnSpLocks/>
              <a:stCxn id="8" idx="0"/>
              <a:endCxn id="9" idx="2"/>
            </p:cNvCxnSpPr>
            <p:nvPr/>
          </p:nvCxnSpPr>
          <p:spPr>
            <a:xfrm flipV="1">
              <a:off x="17365793" y="13462707"/>
              <a:ext cx="0" cy="1095368"/>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2" name="Straight Arrow Connector 31">
              <a:extLst>
                <a:ext uri="{FF2B5EF4-FFF2-40B4-BE49-F238E27FC236}">
                  <a16:creationId xmlns:a16="http://schemas.microsoft.com/office/drawing/2014/main" id="{6B958271-883F-8940-76BB-8AF8F00A9DC4}"/>
                </a:ext>
              </a:extLst>
            </p:cNvPr>
            <p:cNvCxnSpPr>
              <a:cxnSpLocks/>
              <a:stCxn id="9" idx="3"/>
            </p:cNvCxnSpPr>
            <p:nvPr/>
          </p:nvCxnSpPr>
          <p:spPr>
            <a:xfrm flipV="1">
              <a:off x="20615405" y="12793487"/>
              <a:ext cx="856969" cy="1"/>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8" name="Straight Arrow Connector 37">
              <a:extLst>
                <a:ext uri="{FF2B5EF4-FFF2-40B4-BE49-F238E27FC236}">
                  <a16:creationId xmlns:a16="http://schemas.microsoft.com/office/drawing/2014/main" id="{14B6177B-6EC6-A0F4-463E-CAAB2559ADE4}"/>
                </a:ext>
              </a:extLst>
            </p:cNvPr>
            <p:cNvCxnSpPr>
              <a:cxnSpLocks/>
              <a:stCxn id="10" idx="2"/>
              <a:endCxn id="12" idx="0"/>
            </p:cNvCxnSpPr>
            <p:nvPr/>
          </p:nvCxnSpPr>
          <p:spPr>
            <a:xfrm>
              <a:off x="24721987" y="13462707"/>
              <a:ext cx="0" cy="847203"/>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617806EB-FC1C-9A83-BF43-2E984DA88F27}"/>
                </a:ext>
              </a:extLst>
            </p:cNvPr>
            <p:cNvCxnSpPr>
              <a:cxnSpLocks/>
              <a:stCxn id="12" idx="3"/>
              <a:endCxn id="13" idx="1"/>
            </p:cNvCxnSpPr>
            <p:nvPr/>
          </p:nvCxnSpPr>
          <p:spPr>
            <a:xfrm flipV="1">
              <a:off x="27971599" y="15227294"/>
              <a:ext cx="856969" cy="1"/>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11" name="Rectangle: Rounded Corners 10">
              <a:extLst>
                <a:ext uri="{FF2B5EF4-FFF2-40B4-BE49-F238E27FC236}">
                  <a16:creationId xmlns:a16="http://schemas.microsoft.com/office/drawing/2014/main" id="{B9E2F0D2-758C-ADDA-FB1D-86150C43DBFB}"/>
                </a:ext>
              </a:extLst>
            </p:cNvPr>
            <p:cNvSpPr/>
            <p:nvPr/>
          </p:nvSpPr>
          <p:spPr>
            <a:xfrm>
              <a:off x="28828568" y="11876103"/>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Explain with </a:t>
              </a:r>
              <a:r>
                <a:rPr lang="en-US" sz="6000" noProof="0" dirty="0" err="1">
                  <a:solidFill>
                    <a:schemeClr val="tx1"/>
                  </a:solidFill>
                </a:rPr>
                <a:t>MolCE</a:t>
              </a:r>
              <a:endParaRPr lang="en-US" sz="6000" noProof="0" dirty="0">
                <a:solidFill>
                  <a:schemeClr val="tx1"/>
                </a:solidFill>
              </a:endParaRPr>
            </a:p>
          </p:txBody>
        </p:sp>
        <p:sp>
          <p:nvSpPr>
            <p:cNvPr id="15" name="Rectangle: Rounded Corners 14">
              <a:extLst>
                <a:ext uri="{FF2B5EF4-FFF2-40B4-BE49-F238E27FC236}">
                  <a16:creationId xmlns:a16="http://schemas.microsoft.com/office/drawing/2014/main" id="{B8F65186-81B1-D1B8-C13F-3957238F2887}"/>
                </a:ext>
              </a:extLst>
            </p:cNvPr>
            <p:cNvSpPr/>
            <p:nvPr/>
          </p:nvSpPr>
          <p:spPr>
            <a:xfrm>
              <a:off x="36184762" y="11876103"/>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Generate counterfactuals</a:t>
              </a:r>
            </a:p>
          </p:txBody>
        </p:sp>
        <p:cxnSp>
          <p:nvCxnSpPr>
            <p:cNvPr id="21" name="Straight Arrow Connector 20">
              <a:extLst>
                <a:ext uri="{FF2B5EF4-FFF2-40B4-BE49-F238E27FC236}">
                  <a16:creationId xmlns:a16="http://schemas.microsoft.com/office/drawing/2014/main" id="{C494FD80-29C3-EE6B-FDB2-9A808DC94B6F}"/>
                </a:ext>
              </a:extLst>
            </p:cNvPr>
            <p:cNvCxnSpPr>
              <a:cxnSpLocks/>
              <a:stCxn id="13" idx="0"/>
              <a:endCxn id="11" idx="2"/>
            </p:cNvCxnSpPr>
            <p:nvPr/>
          </p:nvCxnSpPr>
          <p:spPr>
            <a:xfrm flipV="1">
              <a:off x="32078181" y="13710872"/>
              <a:ext cx="0" cy="59745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34" name="Rectangle: Rounded Corners 33">
              <a:extLst>
                <a:ext uri="{FF2B5EF4-FFF2-40B4-BE49-F238E27FC236}">
                  <a16:creationId xmlns:a16="http://schemas.microsoft.com/office/drawing/2014/main" id="{87FD3E7C-BE4B-8079-4E21-3CAB73D84A8F}"/>
                </a:ext>
              </a:extLst>
            </p:cNvPr>
            <p:cNvSpPr/>
            <p:nvPr/>
          </p:nvSpPr>
          <p:spPr>
            <a:xfrm>
              <a:off x="36184762" y="14308322"/>
              <a:ext cx="6499225" cy="1837944"/>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Get top k bit environments</a:t>
              </a:r>
            </a:p>
          </p:txBody>
        </p:sp>
        <p:cxnSp>
          <p:nvCxnSpPr>
            <p:cNvPr id="43" name="Straight Arrow Connector 42">
              <a:extLst>
                <a:ext uri="{FF2B5EF4-FFF2-40B4-BE49-F238E27FC236}">
                  <a16:creationId xmlns:a16="http://schemas.microsoft.com/office/drawing/2014/main" id="{6B52E9F8-65B2-1599-AE34-E1A6FD0F09B4}"/>
                </a:ext>
              </a:extLst>
            </p:cNvPr>
            <p:cNvCxnSpPr>
              <a:cxnSpLocks/>
              <a:stCxn id="11" idx="3"/>
              <a:endCxn id="15" idx="1"/>
            </p:cNvCxnSpPr>
            <p:nvPr/>
          </p:nvCxnSpPr>
          <p:spPr>
            <a:xfrm>
              <a:off x="35327793" y="12793488"/>
              <a:ext cx="856969"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47" name="Straight Arrow Connector 46">
              <a:extLst>
                <a:ext uri="{FF2B5EF4-FFF2-40B4-BE49-F238E27FC236}">
                  <a16:creationId xmlns:a16="http://schemas.microsoft.com/office/drawing/2014/main" id="{1E37A21C-5BCA-35D4-54D6-C61119FAA409}"/>
                </a:ext>
              </a:extLst>
            </p:cNvPr>
            <p:cNvCxnSpPr>
              <a:cxnSpLocks/>
              <a:stCxn id="15" idx="2"/>
              <a:endCxn id="34" idx="0"/>
            </p:cNvCxnSpPr>
            <p:nvPr/>
          </p:nvCxnSpPr>
          <p:spPr>
            <a:xfrm>
              <a:off x="39434375" y="13710872"/>
              <a:ext cx="0" cy="59745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grpSp>
      <p:sp>
        <p:nvSpPr>
          <p:cNvPr id="64" name="TextBox 63">
            <a:extLst>
              <a:ext uri="{FF2B5EF4-FFF2-40B4-BE49-F238E27FC236}">
                <a16:creationId xmlns:a16="http://schemas.microsoft.com/office/drawing/2014/main" id="{375CDCAE-E997-6AB6-EE31-7EEA0E2E635E}"/>
              </a:ext>
            </a:extLst>
          </p:cNvPr>
          <p:cNvSpPr txBox="1"/>
          <p:nvPr/>
        </p:nvSpPr>
        <p:spPr>
          <a:xfrm>
            <a:off x="31448517" y="13705366"/>
            <a:ext cx="6310257" cy="923330"/>
          </a:xfrm>
          <a:prstGeom prst="rect">
            <a:avLst/>
          </a:prstGeom>
          <a:noFill/>
        </p:spPr>
        <p:txBody>
          <a:bodyPr wrap="square" rtlCol="0">
            <a:spAutoFit/>
          </a:bodyPr>
          <a:lstStyle/>
          <a:p>
            <a:pPr algn="ctr"/>
            <a:r>
              <a:rPr lang="en-US" sz="5400" b="1" noProof="0" dirty="0"/>
              <a:t>SHAP</a:t>
            </a:r>
          </a:p>
        </p:txBody>
      </p:sp>
      <p:sp>
        <p:nvSpPr>
          <p:cNvPr id="63" name="TextBox 62">
            <a:extLst>
              <a:ext uri="{FF2B5EF4-FFF2-40B4-BE49-F238E27FC236}">
                <a16:creationId xmlns:a16="http://schemas.microsoft.com/office/drawing/2014/main" id="{6A5C72D7-D885-252B-9D5B-8FCC3218E83B}"/>
              </a:ext>
            </a:extLst>
          </p:cNvPr>
          <p:cNvSpPr txBox="1"/>
          <p:nvPr/>
        </p:nvSpPr>
        <p:spPr>
          <a:xfrm>
            <a:off x="12146227" y="13705366"/>
            <a:ext cx="6603459" cy="923330"/>
          </a:xfrm>
          <a:prstGeom prst="rect">
            <a:avLst/>
          </a:prstGeom>
          <a:noFill/>
        </p:spPr>
        <p:txBody>
          <a:bodyPr wrap="square" rtlCol="0">
            <a:spAutoFit/>
          </a:bodyPr>
          <a:lstStyle/>
          <a:p>
            <a:pPr algn="ctr"/>
            <a:r>
              <a:rPr lang="en-US" sz="5400" b="1" noProof="0" dirty="0" err="1"/>
              <a:t>MolAnchor</a:t>
            </a:r>
            <a:endParaRPr lang="en-US" sz="5400" b="1" noProof="0" dirty="0"/>
          </a:p>
        </p:txBody>
      </p:sp>
      <p:pic>
        <p:nvPicPr>
          <p:cNvPr id="52" name="Picture 51">
            <a:extLst>
              <a:ext uri="{FF2B5EF4-FFF2-40B4-BE49-F238E27FC236}">
                <a16:creationId xmlns:a16="http://schemas.microsoft.com/office/drawing/2014/main" id="{205590DA-02DC-2BC3-5EB1-2191FD671C52}"/>
              </a:ext>
            </a:extLst>
          </p:cNvPr>
          <p:cNvPicPr>
            <a:picLocks noChangeAspect="1"/>
          </p:cNvPicPr>
          <p:nvPr/>
        </p:nvPicPr>
        <p:blipFill>
          <a:blip r:embed="rId3">
            <a:extLst>
              <a:ext uri="{28A0092B-C50C-407E-A947-70E740481C1C}">
                <a14:useLocalDpi xmlns:a14="http://schemas.microsoft.com/office/drawing/2010/main" val="0"/>
              </a:ext>
            </a:extLst>
          </a:blip>
          <a:srcRect l="4656" t="21016" r="3144" b="22505"/>
          <a:stretch/>
        </p:blipFill>
        <p:spPr>
          <a:xfrm>
            <a:off x="10113408" y="14740867"/>
            <a:ext cx="10669097" cy="6535613"/>
          </a:xfrm>
          <a:prstGeom prst="rect">
            <a:avLst/>
          </a:prstGeom>
        </p:spPr>
      </p:pic>
      <p:pic>
        <p:nvPicPr>
          <p:cNvPr id="55" name="Picture 54">
            <a:extLst>
              <a:ext uri="{FF2B5EF4-FFF2-40B4-BE49-F238E27FC236}">
                <a16:creationId xmlns:a16="http://schemas.microsoft.com/office/drawing/2014/main" id="{377B645A-806B-0951-E881-FFC87314EA36}"/>
              </a:ext>
            </a:extLst>
          </p:cNvPr>
          <p:cNvPicPr>
            <a:picLocks noChangeAspect="1"/>
          </p:cNvPicPr>
          <p:nvPr/>
        </p:nvPicPr>
        <p:blipFill>
          <a:blip r:embed="rId4">
            <a:extLst>
              <a:ext uri="{28A0092B-C50C-407E-A947-70E740481C1C}">
                <a14:useLocalDpi xmlns:a14="http://schemas.microsoft.com/office/drawing/2010/main" val="0"/>
              </a:ext>
            </a:extLst>
          </a:blip>
          <a:srcRect l="11525" t="17564" r="10242" b="16495"/>
          <a:stretch/>
        </p:blipFill>
        <p:spPr>
          <a:xfrm>
            <a:off x="29190808" y="14586918"/>
            <a:ext cx="10825674" cy="6843510"/>
          </a:xfrm>
          <a:prstGeom prst="rect">
            <a:avLst/>
          </a:prstGeom>
        </p:spPr>
      </p:pic>
      <p:sp>
        <p:nvSpPr>
          <p:cNvPr id="70" name="TextBox 69">
            <a:extLst>
              <a:ext uri="{FF2B5EF4-FFF2-40B4-BE49-F238E27FC236}">
                <a16:creationId xmlns:a16="http://schemas.microsoft.com/office/drawing/2014/main" id="{F75F65F4-FB7F-51FF-4984-C82E951ABDA0}"/>
              </a:ext>
            </a:extLst>
          </p:cNvPr>
          <p:cNvSpPr txBox="1"/>
          <p:nvPr/>
        </p:nvSpPr>
        <p:spPr>
          <a:xfrm>
            <a:off x="7218356" y="21656089"/>
            <a:ext cx="16459200" cy="5970865"/>
          </a:xfrm>
          <a:prstGeom prst="rect">
            <a:avLst/>
          </a:prstGeom>
          <a:noFill/>
        </p:spPr>
        <p:txBody>
          <a:bodyPr wrap="square">
            <a:spAutoFit/>
          </a:bodyPr>
          <a:lstStyle/>
          <a:p>
            <a:pPr>
              <a:spcAft>
                <a:spcPts val="1200"/>
              </a:spcAft>
            </a:pPr>
            <a:r>
              <a:rPr lang="en-US" sz="4400" b="1" noProof="0" dirty="0"/>
              <a:t>✅ AGREEMENTS (</a:t>
            </a:r>
            <a:r>
              <a:rPr lang="en-US" sz="4400" b="1" noProof="0" dirty="0" err="1"/>
              <a:t>MolAnchor</a:t>
            </a:r>
            <a:r>
              <a:rPr lang="en-US" sz="4400" b="1" noProof="0" dirty="0"/>
              <a:t> ↔ SHAP)</a:t>
            </a:r>
          </a:p>
          <a:p>
            <a:pPr marL="742950" indent="-742950" algn="just">
              <a:spcAft>
                <a:spcPts val="1200"/>
              </a:spcAft>
              <a:buFont typeface="+mj-lt"/>
              <a:buAutoNum type="arabicPeriod"/>
            </a:pPr>
            <a:r>
              <a:rPr lang="en-US" sz="4400" b="1" noProof="0" dirty="0"/>
              <a:t>Core scaffold importance: </a:t>
            </a:r>
            <a:r>
              <a:rPr lang="en-US" sz="4400" noProof="0" dirty="0"/>
              <a:t>Both methods identify the piperazine/benzyl core as critical</a:t>
            </a:r>
          </a:p>
          <a:p>
            <a:pPr marL="742950" indent="-742950" algn="just">
              <a:spcAft>
                <a:spcPts val="1200"/>
              </a:spcAft>
              <a:buFont typeface="+mj-lt"/>
              <a:buAutoNum type="arabicPeriod"/>
            </a:pPr>
            <a:r>
              <a:rPr lang="en-US" sz="4400" b="1" noProof="0" dirty="0"/>
              <a:t>N-methyl motif: </a:t>
            </a:r>
            <a:r>
              <a:rPr lang="en-US" sz="4400" noProof="0" dirty="0"/>
              <a:t>SHAP's top features (Bits 1280, 1791, 1792) all involve the N-methyl/benzyl-dimethylamine region captured by </a:t>
            </a:r>
            <a:r>
              <a:rPr lang="en-US" sz="4400" noProof="0" dirty="0" err="1"/>
              <a:t>MolAnchor's</a:t>
            </a:r>
            <a:r>
              <a:rPr lang="en-US" sz="4400" noProof="0" dirty="0"/>
              <a:t> anchor</a:t>
            </a:r>
          </a:p>
          <a:p>
            <a:pPr marL="742950" indent="-742950" algn="just">
              <a:spcAft>
                <a:spcPts val="1200"/>
              </a:spcAft>
              <a:buFont typeface="+mj-lt"/>
              <a:buAutoNum type="arabicPeriod"/>
            </a:pPr>
            <a:r>
              <a:rPr lang="en-US" sz="4400" b="1" noProof="0" dirty="0"/>
              <a:t>Pharmacophore consensus</a:t>
            </a:r>
            <a:r>
              <a:rPr lang="en-US" sz="4400" noProof="0" dirty="0"/>
              <a:t>: Both confirm the morpholinone-piperazine-benzyl framework is essential for D2 binding</a:t>
            </a:r>
          </a:p>
        </p:txBody>
      </p:sp>
      <p:sp>
        <p:nvSpPr>
          <p:cNvPr id="76" name="TextBox 75">
            <a:extLst>
              <a:ext uri="{FF2B5EF4-FFF2-40B4-BE49-F238E27FC236}">
                <a16:creationId xmlns:a16="http://schemas.microsoft.com/office/drawing/2014/main" id="{7E7006D0-478E-9B07-8E29-CFFE8A3BC008}"/>
              </a:ext>
            </a:extLst>
          </p:cNvPr>
          <p:cNvSpPr txBox="1"/>
          <p:nvPr/>
        </p:nvSpPr>
        <p:spPr>
          <a:xfrm>
            <a:off x="26374045" y="21656089"/>
            <a:ext cx="16459200" cy="5970865"/>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a:pPr>
            <a:r>
              <a:rPr kumimoji="0" lang="en-US" sz="4400" b="1" i="0" u="none" strike="noStrike" kern="1200" cap="none" spc="0" normalizeH="0" baseline="0" noProof="0" dirty="0">
                <a:ln>
                  <a:noFill/>
                </a:ln>
                <a:solidFill>
                  <a:prstClr val="black"/>
                </a:solidFill>
                <a:effectLst/>
                <a:uLnTx/>
                <a:uFillTx/>
                <a:latin typeface="Aptos" panose="02110004020202020204"/>
                <a:ea typeface="+mn-ea"/>
                <a:cs typeface="+mn-cs"/>
              </a:rPr>
              <a:t>❌ DISAGREEMENTS (</a:t>
            </a:r>
            <a:r>
              <a:rPr kumimoji="0" lang="en-US" sz="4400" b="1" i="0" u="none" strike="noStrike" kern="1200" cap="none" spc="0" normalizeH="0" baseline="0" noProof="0" dirty="0" err="1">
                <a:ln>
                  <a:noFill/>
                </a:ln>
                <a:solidFill>
                  <a:prstClr val="black"/>
                </a:solidFill>
                <a:effectLst/>
                <a:uLnTx/>
                <a:uFillTx/>
                <a:latin typeface="Aptos" panose="02110004020202020204"/>
                <a:ea typeface="+mn-ea"/>
                <a:cs typeface="+mn-cs"/>
              </a:rPr>
              <a:t>MolAnchor</a:t>
            </a:r>
            <a:r>
              <a:rPr kumimoji="0" lang="en-US" sz="4400" b="1" i="0" u="none" strike="noStrike" kern="1200" cap="none" spc="0" normalizeH="0" baseline="0" noProof="0" dirty="0">
                <a:ln>
                  <a:noFill/>
                </a:ln>
                <a:solidFill>
                  <a:prstClr val="black"/>
                </a:solidFill>
                <a:effectLst/>
                <a:uLnTx/>
                <a:uFillTx/>
                <a:latin typeface="Aptos" panose="02110004020202020204"/>
                <a:ea typeface="+mn-ea"/>
                <a:cs typeface="+mn-cs"/>
              </a:rPr>
              <a:t> ↔ SHAP)</a:t>
            </a:r>
          </a:p>
          <a:p>
            <a:pPr marL="742950" marR="0" lvl="0" indent="-742950" algn="just" defTabSz="457200" rtl="0" eaLnBrk="1" fontAlgn="auto" latinLnBrk="0" hangingPunct="1">
              <a:lnSpc>
                <a:spcPct val="100000"/>
              </a:lnSpc>
              <a:spcBef>
                <a:spcPts val="0"/>
              </a:spcBef>
              <a:spcAft>
                <a:spcPts val="1200"/>
              </a:spcAft>
              <a:buClrTx/>
              <a:buSzTx/>
              <a:buFont typeface="+mj-lt"/>
              <a:buAutoNum type="arabicPeriod"/>
              <a:tabLst/>
              <a:defRPr/>
            </a:pPr>
            <a:r>
              <a:rPr kumimoji="0" lang="en-US" sz="4400" b="1" i="0" u="none" strike="noStrike" kern="1200" cap="none" spc="0" normalizeH="0" baseline="0" noProof="0" dirty="0">
                <a:ln>
                  <a:noFill/>
                </a:ln>
                <a:solidFill>
                  <a:prstClr val="black"/>
                </a:solidFill>
                <a:effectLst/>
                <a:uLnTx/>
                <a:uFillTx/>
                <a:latin typeface="Aptos" panose="02110004020202020204"/>
                <a:ea typeface="+mn-ea"/>
                <a:cs typeface="+mn-cs"/>
              </a:rPr>
              <a:t>Granularity: </a:t>
            </a:r>
            <a:r>
              <a:rPr kumimoji="0" lang="en-US" sz="4400" b="0" i="0" u="none" strike="noStrike" kern="1200" cap="none" spc="0" normalizeH="0" baseline="0" noProof="0" dirty="0" err="1">
                <a:ln>
                  <a:noFill/>
                </a:ln>
                <a:solidFill>
                  <a:prstClr val="black"/>
                </a:solidFill>
                <a:effectLst/>
                <a:uLnTx/>
                <a:uFillTx/>
                <a:latin typeface="Aptos" panose="02110004020202020204"/>
                <a:ea typeface="+mn-ea"/>
                <a:cs typeface="+mn-cs"/>
              </a:rPr>
              <a:t>MolAnchor</a:t>
            </a: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 identifies ONE dominant anchor; SHAP reveals multiple contributing fragments</a:t>
            </a:r>
          </a:p>
          <a:p>
            <a:pPr marL="742950" marR="0" lvl="0" indent="-742950" algn="just" defTabSz="457200" rtl="0" eaLnBrk="1" fontAlgn="auto" latinLnBrk="0" hangingPunct="1">
              <a:lnSpc>
                <a:spcPct val="100000"/>
              </a:lnSpc>
              <a:spcBef>
                <a:spcPts val="0"/>
              </a:spcBef>
              <a:spcAft>
                <a:spcPts val="1200"/>
              </a:spcAft>
              <a:buClrTx/>
              <a:buSzTx/>
              <a:buFont typeface="+mj-lt"/>
              <a:buAutoNum type="arabicPeriod"/>
              <a:tabLst/>
              <a:defRPr/>
            </a:pPr>
            <a:r>
              <a:rPr kumimoji="0" lang="en-US" sz="4400" b="1" i="0" u="none" strike="noStrike" kern="1200" cap="none" spc="0" normalizeH="0" baseline="0" noProof="0" dirty="0">
                <a:ln>
                  <a:noFill/>
                </a:ln>
                <a:solidFill>
                  <a:prstClr val="black"/>
                </a:solidFill>
                <a:effectLst/>
                <a:uLnTx/>
                <a:uFillTx/>
                <a:latin typeface="Aptos" panose="02110004020202020204"/>
                <a:ea typeface="+mn-ea"/>
                <a:cs typeface="+mn-cs"/>
              </a:rPr>
              <a:t>Peripheral groups: </a:t>
            </a: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SHAP highlights the benzothiazole (Bit 885, +5.39) as important, while </a:t>
            </a:r>
            <a:r>
              <a:rPr kumimoji="0" lang="en-US" sz="4400" b="0" i="0" u="none" strike="noStrike" kern="1200" cap="none" spc="0" normalizeH="0" baseline="0" noProof="0" dirty="0" err="1">
                <a:ln>
                  <a:noFill/>
                </a:ln>
                <a:solidFill>
                  <a:prstClr val="black"/>
                </a:solidFill>
                <a:effectLst/>
                <a:uLnTx/>
                <a:uFillTx/>
                <a:latin typeface="Aptos" panose="02110004020202020204"/>
                <a:ea typeface="+mn-ea"/>
                <a:cs typeface="+mn-cs"/>
              </a:rPr>
              <a:t>MolAnchor</a:t>
            </a: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 doesn't single it out</a:t>
            </a:r>
          </a:p>
          <a:p>
            <a:pPr marL="742950" marR="0" lvl="0" indent="-742950" algn="just" defTabSz="457200" rtl="0" eaLnBrk="1" fontAlgn="auto" latinLnBrk="0" hangingPunct="1">
              <a:lnSpc>
                <a:spcPct val="100000"/>
              </a:lnSpc>
              <a:spcBef>
                <a:spcPts val="0"/>
              </a:spcBef>
              <a:spcAft>
                <a:spcPts val="1200"/>
              </a:spcAft>
              <a:buClrTx/>
              <a:buSzTx/>
              <a:buFont typeface="+mj-lt"/>
              <a:buAutoNum type="arabicPeriod"/>
              <a:tabLst/>
              <a:defRPr/>
            </a:pPr>
            <a:r>
              <a:rPr kumimoji="0" lang="en-US" sz="4400" b="1" i="0" u="none" strike="noStrike" kern="1200" cap="none" spc="0" normalizeH="0" baseline="0" noProof="0" dirty="0">
                <a:ln>
                  <a:noFill/>
                </a:ln>
                <a:solidFill>
                  <a:prstClr val="black"/>
                </a:solidFill>
                <a:effectLst/>
                <a:uLnTx/>
                <a:uFillTx/>
                <a:latin typeface="Aptos" panose="02110004020202020204"/>
                <a:ea typeface="+mn-ea"/>
                <a:cs typeface="+mn-cs"/>
              </a:rPr>
              <a:t>Negative contribution:</a:t>
            </a: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 SHAP identifies thiophene substructure (Bit 552, -5.37) as reducing activity—a nuance </a:t>
            </a:r>
            <a:r>
              <a:rPr kumimoji="0" lang="en-US" sz="4400" b="0" i="0" u="none" strike="noStrike" kern="1200" cap="none" spc="0" normalizeH="0" baseline="0" noProof="0" dirty="0" err="1">
                <a:ln>
                  <a:noFill/>
                </a:ln>
                <a:solidFill>
                  <a:prstClr val="black"/>
                </a:solidFill>
                <a:effectLst/>
                <a:uLnTx/>
                <a:uFillTx/>
                <a:latin typeface="Aptos" panose="02110004020202020204"/>
                <a:ea typeface="+mn-ea"/>
                <a:cs typeface="+mn-cs"/>
              </a:rPr>
              <a:t>MolAnchor</a:t>
            </a: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 misses</a:t>
            </a:r>
          </a:p>
        </p:txBody>
      </p:sp>
      <p:sp>
        <p:nvSpPr>
          <p:cNvPr id="85" name="TextBox 84">
            <a:extLst>
              <a:ext uri="{FF2B5EF4-FFF2-40B4-BE49-F238E27FC236}">
                <a16:creationId xmlns:a16="http://schemas.microsoft.com/office/drawing/2014/main" id="{253B310A-4175-466E-82F8-A8F9C6BF4614}"/>
              </a:ext>
            </a:extLst>
          </p:cNvPr>
          <p:cNvSpPr txBox="1"/>
          <p:nvPr/>
        </p:nvSpPr>
        <p:spPr>
          <a:xfrm>
            <a:off x="16522078" y="28068830"/>
            <a:ext cx="17157371" cy="923330"/>
          </a:xfrm>
          <a:prstGeom prst="rect">
            <a:avLst/>
          </a:prstGeom>
          <a:noFill/>
        </p:spPr>
        <p:txBody>
          <a:bodyPr wrap="square">
            <a:spAutoFit/>
          </a:bodyPr>
          <a:lstStyle/>
          <a:p>
            <a:pPr algn="ctr"/>
            <a:r>
              <a:rPr lang="en-US" sz="5400" b="1" noProof="0" dirty="0">
                <a:solidFill>
                  <a:srgbClr val="0F0F0F"/>
                </a:solidFill>
                <a:latin typeface="ui-sans-serif"/>
              </a:rPr>
              <a:t>Pair 2: </a:t>
            </a:r>
            <a:r>
              <a:rPr lang="en-US" sz="5400" b="1" noProof="0" dirty="0" err="1">
                <a:solidFill>
                  <a:srgbClr val="0F0F0F"/>
                </a:solidFill>
                <a:latin typeface="ui-sans-serif"/>
              </a:rPr>
              <a:t>MolCE</a:t>
            </a:r>
            <a:r>
              <a:rPr lang="en-US" sz="5400" b="1" noProof="0" dirty="0">
                <a:solidFill>
                  <a:srgbClr val="0F0F0F"/>
                </a:solidFill>
                <a:latin typeface="ui-sans-serif"/>
              </a:rPr>
              <a:t> vs Counterfactuals</a:t>
            </a:r>
            <a:endParaRPr lang="en-US" sz="5400" b="1" i="0" noProof="0" dirty="0">
              <a:solidFill>
                <a:srgbClr val="0F0F0F"/>
              </a:solidFill>
              <a:effectLst/>
              <a:latin typeface="ui-sans-serif"/>
            </a:endParaRPr>
          </a:p>
        </p:txBody>
      </p:sp>
      <p:sp>
        <p:nvSpPr>
          <p:cNvPr id="88" name="Rectangle: Rounded Corners 87">
            <a:extLst>
              <a:ext uri="{FF2B5EF4-FFF2-40B4-BE49-F238E27FC236}">
                <a16:creationId xmlns:a16="http://schemas.microsoft.com/office/drawing/2014/main" id="{682C432F-C7DF-608D-CD06-390CC306E433}"/>
              </a:ext>
            </a:extLst>
          </p:cNvPr>
          <p:cNvSpPr/>
          <p:nvPr/>
        </p:nvSpPr>
        <p:spPr>
          <a:xfrm>
            <a:off x="6564918" y="29051222"/>
            <a:ext cx="37071691" cy="13099376"/>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9" name="TextBox 88">
            <a:extLst>
              <a:ext uri="{FF2B5EF4-FFF2-40B4-BE49-F238E27FC236}">
                <a16:creationId xmlns:a16="http://schemas.microsoft.com/office/drawing/2014/main" id="{57BCAA73-24FE-3A3B-D1CF-4920116A858E}"/>
              </a:ext>
            </a:extLst>
          </p:cNvPr>
          <p:cNvSpPr txBox="1"/>
          <p:nvPr/>
        </p:nvSpPr>
        <p:spPr>
          <a:xfrm>
            <a:off x="31448517" y="29149313"/>
            <a:ext cx="6310257" cy="923330"/>
          </a:xfrm>
          <a:prstGeom prst="rect">
            <a:avLst/>
          </a:prstGeom>
          <a:noFill/>
        </p:spPr>
        <p:txBody>
          <a:bodyPr wrap="square" rtlCol="0">
            <a:spAutoFit/>
          </a:bodyPr>
          <a:lstStyle/>
          <a:p>
            <a:pPr algn="ctr"/>
            <a:r>
              <a:rPr lang="en-US" sz="5400" b="1" noProof="0" dirty="0"/>
              <a:t>Counterfactuals</a:t>
            </a:r>
          </a:p>
        </p:txBody>
      </p:sp>
      <p:sp>
        <p:nvSpPr>
          <p:cNvPr id="90" name="TextBox 89">
            <a:extLst>
              <a:ext uri="{FF2B5EF4-FFF2-40B4-BE49-F238E27FC236}">
                <a16:creationId xmlns:a16="http://schemas.microsoft.com/office/drawing/2014/main" id="{D161A347-D54E-4609-7680-93A714375D50}"/>
              </a:ext>
            </a:extLst>
          </p:cNvPr>
          <p:cNvSpPr txBox="1"/>
          <p:nvPr/>
        </p:nvSpPr>
        <p:spPr>
          <a:xfrm>
            <a:off x="12146227" y="29149313"/>
            <a:ext cx="6603459" cy="923330"/>
          </a:xfrm>
          <a:prstGeom prst="rect">
            <a:avLst/>
          </a:prstGeom>
          <a:noFill/>
        </p:spPr>
        <p:txBody>
          <a:bodyPr wrap="square" rtlCol="0">
            <a:spAutoFit/>
          </a:bodyPr>
          <a:lstStyle/>
          <a:p>
            <a:pPr algn="ctr"/>
            <a:r>
              <a:rPr lang="en-US" sz="5400" b="1" noProof="0" dirty="0" err="1"/>
              <a:t>MolCE</a:t>
            </a:r>
            <a:endParaRPr lang="en-US" sz="5400" b="1" noProof="0" dirty="0"/>
          </a:p>
        </p:txBody>
      </p:sp>
      <p:sp>
        <p:nvSpPr>
          <p:cNvPr id="93" name="TextBox 92">
            <a:extLst>
              <a:ext uri="{FF2B5EF4-FFF2-40B4-BE49-F238E27FC236}">
                <a16:creationId xmlns:a16="http://schemas.microsoft.com/office/drawing/2014/main" id="{FEECBCF4-1A29-9FAE-BC44-BE319FB16DC2}"/>
              </a:ext>
            </a:extLst>
          </p:cNvPr>
          <p:cNvSpPr txBox="1"/>
          <p:nvPr/>
        </p:nvSpPr>
        <p:spPr>
          <a:xfrm>
            <a:off x="7218356" y="35652534"/>
            <a:ext cx="16999638" cy="5970865"/>
          </a:xfrm>
          <a:prstGeom prst="rect">
            <a:avLst/>
          </a:prstGeom>
          <a:noFill/>
        </p:spPr>
        <p:txBody>
          <a:bodyPr wrap="square">
            <a:spAutoFit/>
          </a:bodyPr>
          <a:lstStyle/>
          <a:p>
            <a:pPr>
              <a:spcAft>
                <a:spcPts val="1200"/>
              </a:spcAft>
            </a:pPr>
            <a:r>
              <a:rPr lang="en-US" sz="4400" b="1" noProof="0" dirty="0">
                <a:latin typeface="Aptos" panose="020B0004020202020204" pitchFamily="34" charset="0"/>
              </a:rPr>
              <a:t>✅ AGREEMENTS (</a:t>
            </a:r>
            <a:r>
              <a:rPr lang="en-US" sz="4400" b="1" i="0" noProof="0" dirty="0" err="1">
                <a:solidFill>
                  <a:srgbClr val="0F0F0F"/>
                </a:solidFill>
                <a:effectLst/>
                <a:latin typeface="Aptos" panose="020B0004020202020204" pitchFamily="34" charset="0"/>
              </a:rPr>
              <a:t>MolCE</a:t>
            </a:r>
            <a:r>
              <a:rPr lang="en-US" sz="4400" b="1" i="0" noProof="0" dirty="0">
                <a:solidFill>
                  <a:srgbClr val="0F0F0F"/>
                </a:solidFill>
                <a:effectLst/>
                <a:latin typeface="Aptos" panose="020B0004020202020204" pitchFamily="34" charset="0"/>
              </a:rPr>
              <a:t> ↔ Counterfactuals</a:t>
            </a:r>
            <a:r>
              <a:rPr lang="en-US" sz="4400" b="1" noProof="0" dirty="0">
                <a:latin typeface="Aptos" panose="020B0004020202020204" pitchFamily="34" charset="0"/>
              </a:rPr>
              <a:t>)</a:t>
            </a:r>
          </a:p>
          <a:p>
            <a:pPr marL="742950" indent="-742950" algn="just">
              <a:spcAft>
                <a:spcPts val="1200"/>
              </a:spcAft>
              <a:buFont typeface="+mj-lt"/>
              <a:buAutoNum type="arabicPeriod"/>
            </a:pPr>
            <a:r>
              <a:rPr lang="en-US" sz="4400" b="1" i="0" noProof="0" dirty="0">
                <a:solidFill>
                  <a:srgbClr val="0F0F0F"/>
                </a:solidFill>
                <a:effectLst/>
                <a:latin typeface="Aptos" panose="020B0004020202020204" pitchFamily="34" charset="0"/>
              </a:rPr>
              <a:t> </a:t>
            </a:r>
            <a:r>
              <a:rPr lang="en-US" sz="4400" b="1" noProof="0" dirty="0"/>
              <a:t>Piperazine N as critical site: </a:t>
            </a:r>
            <a:r>
              <a:rPr lang="en-US" sz="4400" noProof="0" dirty="0"/>
              <a:t>Both methods identify the piperazine nitrogen substituent as the most impactful site</a:t>
            </a:r>
          </a:p>
          <a:p>
            <a:pPr marL="742950" indent="-742950" algn="just">
              <a:spcAft>
                <a:spcPts val="1200"/>
              </a:spcAft>
              <a:buFont typeface="+mj-lt"/>
              <a:buAutoNum type="arabicPeriod"/>
            </a:pPr>
            <a:r>
              <a:rPr lang="en-US" sz="4400" b="1" noProof="0" dirty="0"/>
              <a:t> Substituent sensitivity: </a:t>
            </a:r>
            <a:r>
              <a:rPr lang="en-US" sz="4400" noProof="0" dirty="0"/>
              <a:t>Both confirm that modifying the piperazine N-substituent can flip the prediction</a:t>
            </a:r>
          </a:p>
          <a:p>
            <a:pPr marL="742950" indent="-742950" algn="just">
              <a:spcAft>
                <a:spcPts val="1200"/>
              </a:spcAft>
              <a:buFont typeface="+mj-lt"/>
              <a:buAutoNum type="arabicPeriod"/>
            </a:pPr>
            <a:r>
              <a:rPr lang="en-US" sz="4400" b="1" noProof="0" dirty="0"/>
              <a:t> Polarity effect: </a:t>
            </a:r>
            <a:r>
              <a:rPr lang="en-US" sz="4400" noProof="0" dirty="0" err="1"/>
              <a:t>MolCE's</a:t>
            </a:r>
            <a:r>
              <a:rPr lang="en-US" sz="4400" noProof="0" dirty="0"/>
              <a:t> contrastive R-groups (polar/charged) align with Counterfactuals showing polar additions eliminate activity</a:t>
            </a:r>
          </a:p>
        </p:txBody>
      </p:sp>
      <p:sp>
        <p:nvSpPr>
          <p:cNvPr id="94" name="TextBox 93">
            <a:extLst>
              <a:ext uri="{FF2B5EF4-FFF2-40B4-BE49-F238E27FC236}">
                <a16:creationId xmlns:a16="http://schemas.microsoft.com/office/drawing/2014/main" id="{CDE8FE82-D510-052C-FDC5-58E137B2D9BC}"/>
              </a:ext>
            </a:extLst>
          </p:cNvPr>
          <p:cNvSpPr txBox="1"/>
          <p:nvPr/>
        </p:nvSpPr>
        <p:spPr>
          <a:xfrm>
            <a:off x="26374045" y="35652534"/>
            <a:ext cx="16767142" cy="5139869"/>
          </a:xfrm>
          <a:prstGeom prst="rect">
            <a:avLst/>
          </a:prstGeom>
          <a:noFill/>
        </p:spPr>
        <p:txBody>
          <a:bodyPr wrap="square">
            <a:spAutoFit/>
          </a:bodyPr>
          <a:lstStyle/>
          <a:p>
            <a:pPr>
              <a:spcAft>
                <a:spcPts val="1200"/>
              </a:spcAft>
              <a:defRPr/>
            </a:pPr>
            <a:r>
              <a:rPr kumimoji="0" lang="en-US" sz="4400" b="1" i="0" u="none" strike="noStrike" kern="1200" cap="none" spc="0" normalizeH="0" baseline="0" noProof="0" dirty="0">
                <a:ln>
                  <a:noFill/>
                </a:ln>
                <a:solidFill>
                  <a:prstClr val="black"/>
                </a:solidFill>
                <a:effectLst/>
                <a:uLnTx/>
                <a:uFillTx/>
                <a:latin typeface="Aptos" panose="02110004020202020204"/>
                <a:ea typeface="+mn-ea"/>
                <a:cs typeface="+mn-cs"/>
              </a:rPr>
              <a:t>❌ DISAGREEMENTS (</a:t>
            </a:r>
            <a:r>
              <a:rPr lang="en-US" sz="4400" b="1" i="0" noProof="0" dirty="0" err="1">
                <a:solidFill>
                  <a:srgbClr val="0F0F0F"/>
                </a:solidFill>
                <a:effectLst/>
                <a:latin typeface="ui-sans-serif"/>
              </a:rPr>
              <a:t>MolCE</a:t>
            </a:r>
            <a:r>
              <a:rPr lang="en-US" sz="4400" b="1" i="0" noProof="0" dirty="0">
                <a:solidFill>
                  <a:srgbClr val="0F0F0F"/>
                </a:solidFill>
                <a:effectLst/>
                <a:latin typeface="ui-sans-serif"/>
              </a:rPr>
              <a:t> ↔ Counterfactuals</a:t>
            </a:r>
            <a:r>
              <a:rPr kumimoji="0" lang="en-US" sz="4400" b="1" i="0" u="none" strike="noStrike" kern="1200" cap="none" spc="0" normalizeH="0" baseline="0" noProof="0" dirty="0">
                <a:ln>
                  <a:noFill/>
                </a:ln>
                <a:solidFill>
                  <a:prstClr val="black"/>
                </a:solidFill>
                <a:effectLst/>
                <a:uLnTx/>
                <a:uFillTx/>
                <a:latin typeface="Aptos" panose="02110004020202020204"/>
                <a:ea typeface="+mn-ea"/>
                <a:cs typeface="+mn-cs"/>
              </a:rPr>
              <a:t>)</a:t>
            </a:r>
          </a:p>
          <a:p>
            <a:pPr marL="742950" marR="0" lvl="0" indent="-742950" algn="just" defTabSz="457200" rtl="0" eaLnBrk="1" fontAlgn="auto" latinLnBrk="0" hangingPunct="1">
              <a:lnSpc>
                <a:spcPct val="100000"/>
              </a:lnSpc>
              <a:spcBef>
                <a:spcPts val="0"/>
              </a:spcBef>
              <a:spcAft>
                <a:spcPts val="1200"/>
              </a:spcAft>
              <a:buClrTx/>
              <a:buSzTx/>
              <a:buFont typeface="+mj-lt"/>
              <a:buAutoNum type="arabicPeriod"/>
              <a:tabLst/>
              <a:defRPr/>
            </a:pPr>
            <a:r>
              <a:rPr kumimoji="0" lang="en-US" sz="4400" b="1" i="0" u="none" strike="noStrike" kern="1200" cap="none" spc="0" normalizeH="0" baseline="0" noProof="0" dirty="0">
                <a:ln>
                  <a:noFill/>
                </a:ln>
                <a:solidFill>
                  <a:prstClr val="black"/>
                </a:solidFill>
                <a:effectLst/>
                <a:uLnTx/>
                <a:uFillTx/>
                <a:latin typeface="Aptos" panose="02110004020202020204"/>
                <a:ea typeface="+mn-ea"/>
                <a:cs typeface="+mn-cs"/>
              </a:rPr>
              <a:t>Scaffold importance: </a:t>
            </a:r>
            <a:r>
              <a:rPr kumimoji="0" lang="en-US" sz="4400" i="0" u="none" strike="noStrike" kern="1200" cap="none" spc="0" normalizeH="0" baseline="0" noProof="0" dirty="0" err="1">
                <a:ln>
                  <a:noFill/>
                </a:ln>
                <a:solidFill>
                  <a:prstClr val="black"/>
                </a:solidFill>
                <a:effectLst/>
                <a:uLnTx/>
                <a:uFillTx/>
                <a:latin typeface="Aptos" panose="02110004020202020204"/>
                <a:ea typeface="+mn-ea"/>
                <a:cs typeface="+mn-cs"/>
              </a:rPr>
              <a:t>MolCE</a:t>
            </a:r>
            <a:r>
              <a:rPr kumimoji="0" lang="en-US" sz="4400" i="0" u="none" strike="noStrike" kern="1200" cap="none" spc="0" normalizeH="0" baseline="0" noProof="0" dirty="0">
                <a:ln>
                  <a:noFill/>
                </a:ln>
                <a:solidFill>
                  <a:prstClr val="black"/>
                </a:solidFill>
                <a:effectLst/>
                <a:uLnTx/>
                <a:uFillTx/>
                <a:latin typeface="Aptos" panose="02110004020202020204"/>
                <a:ea typeface="+mn-ea"/>
                <a:cs typeface="+mn-cs"/>
              </a:rPr>
              <a:t> shows scaffold contrast score = 0.0 (scaffold changes don't matter), while Counterfactuals show substituent changes do matter</a:t>
            </a:r>
          </a:p>
          <a:p>
            <a:pPr marL="742950" marR="0" lvl="0" indent="-742950" algn="just" defTabSz="457200" rtl="0" eaLnBrk="1" fontAlgn="auto" latinLnBrk="0" hangingPunct="1">
              <a:lnSpc>
                <a:spcPct val="100000"/>
              </a:lnSpc>
              <a:spcBef>
                <a:spcPts val="0"/>
              </a:spcBef>
              <a:spcAft>
                <a:spcPts val="1200"/>
              </a:spcAft>
              <a:buClrTx/>
              <a:buSzTx/>
              <a:buFont typeface="+mj-lt"/>
              <a:buAutoNum type="arabicPeriod"/>
              <a:tabLst/>
              <a:defRPr/>
            </a:pPr>
            <a:r>
              <a:rPr kumimoji="0" lang="en-US" sz="4400" b="1" i="0" u="none" strike="noStrike" kern="1200" cap="none" spc="0" normalizeH="0" baseline="0" noProof="0" dirty="0">
                <a:ln>
                  <a:noFill/>
                </a:ln>
                <a:solidFill>
                  <a:prstClr val="black"/>
                </a:solidFill>
                <a:effectLst/>
                <a:uLnTx/>
                <a:uFillTx/>
                <a:latin typeface="Aptos" panose="02110004020202020204"/>
                <a:ea typeface="+mn-ea"/>
                <a:cs typeface="+mn-cs"/>
              </a:rPr>
              <a:t>Mechanism: </a:t>
            </a:r>
            <a:r>
              <a:rPr kumimoji="0" lang="en-US" sz="4400" i="0" u="none" strike="noStrike" kern="1200" cap="none" spc="0" normalizeH="0" baseline="0" noProof="0" dirty="0" err="1">
                <a:ln>
                  <a:noFill/>
                </a:ln>
                <a:solidFill>
                  <a:prstClr val="black"/>
                </a:solidFill>
                <a:effectLst/>
                <a:uLnTx/>
                <a:uFillTx/>
                <a:latin typeface="Aptos" panose="02110004020202020204"/>
                <a:ea typeface="+mn-ea"/>
                <a:cs typeface="+mn-cs"/>
              </a:rPr>
              <a:t>MolCE</a:t>
            </a:r>
            <a:r>
              <a:rPr kumimoji="0" lang="en-US" sz="4400" i="0" u="none" strike="noStrike" kern="1200" cap="none" spc="0" normalizeH="0" baseline="0" noProof="0" dirty="0">
                <a:ln>
                  <a:noFill/>
                </a:ln>
                <a:solidFill>
                  <a:prstClr val="black"/>
                </a:solidFill>
                <a:effectLst/>
                <a:uLnTx/>
                <a:uFillTx/>
                <a:latin typeface="Aptos" panose="02110004020202020204"/>
                <a:ea typeface="+mn-ea"/>
                <a:cs typeface="+mn-cs"/>
              </a:rPr>
              <a:t> focuses on contrast (why not inactive?), while Counterfactuals show transformation (how to become inactive?)</a:t>
            </a:r>
          </a:p>
        </p:txBody>
      </p:sp>
      <p:grpSp>
        <p:nvGrpSpPr>
          <p:cNvPr id="102" name="Group 101">
            <a:extLst>
              <a:ext uri="{FF2B5EF4-FFF2-40B4-BE49-F238E27FC236}">
                <a16:creationId xmlns:a16="http://schemas.microsoft.com/office/drawing/2014/main" id="{D6439D96-81F8-F222-FD0A-6CB3EEA18EBC}"/>
              </a:ext>
            </a:extLst>
          </p:cNvPr>
          <p:cNvGrpSpPr/>
          <p:nvPr/>
        </p:nvGrpSpPr>
        <p:grpSpPr>
          <a:xfrm>
            <a:off x="26135503" y="30203702"/>
            <a:ext cx="16963406" cy="4094569"/>
            <a:chOff x="25678303" y="34723809"/>
            <a:chExt cx="16963406" cy="4094569"/>
          </a:xfrm>
        </p:grpSpPr>
        <p:pic>
          <p:nvPicPr>
            <p:cNvPr id="100" name="Picture 99">
              <a:extLst>
                <a:ext uri="{FF2B5EF4-FFF2-40B4-BE49-F238E27FC236}">
                  <a16:creationId xmlns:a16="http://schemas.microsoft.com/office/drawing/2014/main" id="{B1F6B432-D2DB-A370-2458-530FF31A48DE}"/>
                </a:ext>
              </a:extLst>
            </p:cNvPr>
            <p:cNvPicPr>
              <a:picLocks noChangeAspect="1"/>
            </p:cNvPicPr>
            <p:nvPr/>
          </p:nvPicPr>
          <p:blipFill>
            <a:blip r:embed="rId5">
              <a:extLst>
                <a:ext uri="{28A0092B-C50C-407E-A947-70E740481C1C}">
                  <a14:useLocalDpi xmlns:a14="http://schemas.microsoft.com/office/drawing/2010/main" val="0"/>
                </a:ext>
              </a:extLst>
            </a:blip>
            <a:srcRect l="28881" t="31485" r="52081" b="52476"/>
            <a:stretch/>
          </p:blipFill>
          <p:spPr>
            <a:xfrm>
              <a:off x="25678303" y="34723809"/>
              <a:ext cx="9202228" cy="4094569"/>
            </a:xfrm>
            <a:prstGeom prst="rect">
              <a:avLst/>
            </a:prstGeom>
          </p:spPr>
        </p:pic>
        <p:pic>
          <p:nvPicPr>
            <p:cNvPr id="101" name="Picture 100">
              <a:extLst>
                <a:ext uri="{FF2B5EF4-FFF2-40B4-BE49-F238E27FC236}">
                  <a16:creationId xmlns:a16="http://schemas.microsoft.com/office/drawing/2014/main" id="{02144A18-8CA9-B867-F30C-81AC5EE2D851}"/>
                </a:ext>
              </a:extLst>
            </p:cNvPr>
            <p:cNvPicPr>
              <a:picLocks noChangeAspect="1"/>
            </p:cNvPicPr>
            <p:nvPr/>
          </p:nvPicPr>
          <p:blipFill>
            <a:blip r:embed="rId5">
              <a:extLst>
                <a:ext uri="{28A0092B-C50C-407E-A947-70E740481C1C}">
                  <a14:useLocalDpi xmlns:a14="http://schemas.microsoft.com/office/drawing/2010/main" val="0"/>
                </a:ext>
              </a:extLst>
            </a:blip>
            <a:srcRect l="54567" t="30675" r="27299" b="52476"/>
            <a:stretch/>
          </p:blipFill>
          <p:spPr>
            <a:xfrm>
              <a:off x="35089246" y="35101923"/>
              <a:ext cx="7552463" cy="3706321"/>
            </a:xfrm>
            <a:prstGeom prst="rect">
              <a:avLst/>
            </a:prstGeom>
          </p:spPr>
        </p:pic>
      </p:grpSp>
      <p:sp>
        <p:nvSpPr>
          <p:cNvPr id="104" name="TextBox 103">
            <a:extLst>
              <a:ext uri="{FF2B5EF4-FFF2-40B4-BE49-F238E27FC236}">
                <a16:creationId xmlns:a16="http://schemas.microsoft.com/office/drawing/2014/main" id="{447066D7-B3FD-7386-0F15-CA073EB9CD5F}"/>
              </a:ext>
            </a:extLst>
          </p:cNvPr>
          <p:cNvSpPr txBox="1"/>
          <p:nvPr/>
        </p:nvSpPr>
        <p:spPr>
          <a:xfrm>
            <a:off x="27209875" y="34408132"/>
            <a:ext cx="5713914" cy="1015663"/>
          </a:xfrm>
          <a:prstGeom prst="rect">
            <a:avLst/>
          </a:prstGeom>
          <a:noFill/>
        </p:spPr>
        <p:txBody>
          <a:bodyPr wrap="square" rtlCol="0">
            <a:spAutoFit/>
          </a:bodyPr>
          <a:lstStyle/>
          <a:p>
            <a:pPr algn="ctr"/>
            <a:r>
              <a:rPr lang="en-US" sz="3000" b="1" i="0" noProof="0" dirty="0">
                <a:solidFill>
                  <a:srgbClr val="0F0F0F"/>
                </a:solidFill>
                <a:effectLst/>
                <a:latin typeface="ui-sans-serif"/>
              </a:rPr>
              <a:t>CF #1 (substituent)</a:t>
            </a:r>
          </a:p>
          <a:p>
            <a:pPr algn="ctr"/>
            <a:r>
              <a:rPr lang="en-US" sz="3000" b="1" noProof="0" dirty="0">
                <a:solidFill>
                  <a:srgbClr val="0F0F0F"/>
                </a:solidFill>
                <a:latin typeface="ui-sans-serif"/>
              </a:rPr>
              <a:t>Predicted class: 0| Similarity: 0.68</a:t>
            </a:r>
            <a:endParaRPr lang="en-US" sz="3000" noProof="0" dirty="0"/>
          </a:p>
        </p:txBody>
      </p:sp>
      <p:sp>
        <p:nvSpPr>
          <p:cNvPr id="105" name="TextBox 104">
            <a:extLst>
              <a:ext uri="{FF2B5EF4-FFF2-40B4-BE49-F238E27FC236}">
                <a16:creationId xmlns:a16="http://schemas.microsoft.com/office/drawing/2014/main" id="{3340F736-7968-FDB4-A971-D1E03504210F}"/>
              </a:ext>
            </a:extLst>
          </p:cNvPr>
          <p:cNvSpPr txBox="1"/>
          <p:nvPr/>
        </p:nvSpPr>
        <p:spPr>
          <a:xfrm>
            <a:off x="36183383" y="34408132"/>
            <a:ext cx="5713914" cy="1015663"/>
          </a:xfrm>
          <a:prstGeom prst="rect">
            <a:avLst/>
          </a:prstGeom>
          <a:noFill/>
        </p:spPr>
        <p:txBody>
          <a:bodyPr wrap="square" rtlCol="0">
            <a:spAutoFit/>
          </a:bodyPr>
          <a:lstStyle/>
          <a:p>
            <a:pPr algn="ctr"/>
            <a:r>
              <a:rPr lang="en-US" sz="3000" b="1" i="0" noProof="0" dirty="0">
                <a:solidFill>
                  <a:srgbClr val="0F0F0F"/>
                </a:solidFill>
                <a:effectLst/>
                <a:latin typeface="ui-sans-serif"/>
              </a:rPr>
              <a:t>CF #2 (substituent)</a:t>
            </a:r>
          </a:p>
          <a:p>
            <a:pPr algn="ctr"/>
            <a:r>
              <a:rPr lang="en-US" sz="3000" b="1" noProof="0" dirty="0">
                <a:solidFill>
                  <a:srgbClr val="0F0F0F"/>
                </a:solidFill>
                <a:latin typeface="ui-sans-serif"/>
              </a:rPr>
              <a:t>Predicted class: 0| Similarity: 0.68</a:t>
            </a:r>
            <a:endParaRPr lang="en-US" sz="3000" noProof="0" dirty="0"/>
          </a:p>
        </p:txBody>
      </p:sp>
      <p:sp>
        <p:nvSpPr>
          <p:cNvPr id="106" name="TextBox 105">
            <a:extLst>
              <a:ext uri="{FF2B5EF4-FFF2-40B4-BE49-F238E27FC236}">
                <a16:creationId xmlns:a16="http://schemas.microsoft.com/office/drawing/2014/main" id="{B8051128-A1DB-8545-0F40-55389E4B301D}"/>
              </a:ext>
            </a:extLst>
          </p:cNvPr>
          <p:cNvSpPr txBox="1"/>
          <p:nvPr/>
        </p:nvSpPr>
        <p:spPr>
          <a:xfrm>
            <a:off x="8223531" y="34408132"/>
            <a:ext cx="5414457" cy="1015663"/>
          </a:xfrm>
          <a:prstGeom prst="rect">
            <a:avLst/>
          </a:prstGeom>
          <a:noFill/>
        </p:spPr>
        <p:txBody>
          <a:bodyPr wrap="square" rtlCol="0">
            <a:spAutoFit/>
          </a:bodyPr>
          <a:lstStyle/>
          <a:p>
            <a:pPr algn="ctr"/>
            <a:r>
              <a:rPr lang="en-US" sz="3000" b="1" i="0" noProof="0" dirty="0">
                <a:solidFill>
                  <a:srgbClr val="0F0F0F"/>
                </a:solidFill>
                <a:effectLst/>
                <a:latin typeface="ui-sans-serif"/>
              </a:rPr>
              <a:t>Rank 1 | Site 1</a:t>
            </a:r>
          </a:p>
          <a:p>
            <a:pPr algn="ctr"/>
            <a:r>
              <a:rPr lang="en-US" sz="3000" b="1" noProof="0" dirty="0">
                <a:solidFill>
                  <a:srgbClr val="0F0F0F"/>
                </a:solidFill>
                <a:latin typeface="ui-sans-serif"/>
              </a:rPr>
              <a:t>Contrast: 1.00</a:t>
            </a:r>
            <a:endParaRPr lang="en-US" sz="3000" noProof="0" dirty="0"/>
          </a:p>
        </p:txBody>
      </p:sp>
      <p:sp>
        <p:nvSpPr>
          <p:cNvPr id="107" name="TextBox 106">
            <a:extLst>
              <a:ext uri="{FF2B5EF4-FFF2-40B4-BE49-F238E27FC236}">
                <a16:creationId xmlns:a16="http://schemas.microsoft.com/office/drawing/2014/main" id="{F021D298-CD48-A056-2501-CA7203875916}"/>
              </a:ext>
            </a:extLst>
          </p:cNvPr>
          <p:cNvSpPr txBox="1"/>
          <p:nvPr/>
        </p:nvSpPr>
        <p:spPr>
          <a:xfrm>
            <a:off x="16969252" y="34408132"/>
            <a:ext cx="5453166" cy="1015663"/>
          </a:xfrm>
          <a:prstGeom prst="rect">
            <a:avLst/>
          </a:prstGeom>
          <a:noFill/>
        </p:spPr>
        <p:txBody>
          <a:bodyPr wrap="square" rtlCol="0">
            <a:spAutoFit/>
          </a:bodyPr>
          <a:lstStyle/>
          <a:p>
            <a:pPr algn="ctr"/>
            <a:r>
              <a:rPr lang="en-US" sz="3000" b="1" i="0" noProof="0" dirty="0">
                <a:solidFill>
                  <a:srgbClr val="0F0F0F"/>
                </a:solidFill>
                <a:effectLst/>
                <a:latin typeface="ui-sans-serif"/>
              </a:rPr>
              <a:t>Rank 2 | Site 1</a:t>
            </a:r>
          </a:p>
          <a:p>
            <a:pPr algn="ctr"/>
            <a:r>
              <a:rPr lang="en-US" sz="3000" b="1" noProof="0" dirty="0">
                <a:solidFill>
                  <a:srgbClr val="0F0F0F"/>
                </a:solidFill>
                <a:latin typeface="ui-sans-serif"/>
              </a:rPr>
              <a:t>Contrast: 1.00</a:t>
            </a:r>
            <a:endParaRPr lang="en-US" sz="3000" noProof="0" dirty="0"/>
          </a:p>
        </p:txBody>
      </p:sp>
    </p:spTree>
    <p:extLst>
      <p:ext uri="{BB962C8B-B14F-4D97-AF65-F5344CB8AC3E}">
        <p14:creationId xmlns:p14="http://schemas.microsoft.com/office/powerpoint/2010/main" val="30745981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8" name="Rectangle: Rounded Corners 27">
            <a:extLst>
              <a:ext uri="{FF2B5EF4-FFF2-40B4-BE49-F238E27FC236}">
                <a16:creationId xmlns:a16="http://schemas.microsoft.com/office/drawing/2014/main" id="{A8D94A47-E16E-5FA6-0A1F-80756C21A4F7}"/>
              </a:ext>
            </a:extLst>
          </p:cNvPr>
          <p:cNvSpPr/>
          <p:nvPr/>
        </p:nvSpPr>
        <p:spPr>
          <a:xfrm>
            <a:off x="13691175" y="12224390"/>
            <a:ext cx="23735578" cy="13758873"/>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Rectangle: Rounded Corners 13">
            <a:extLst>
              <a:ext uri="{FF2B5EF4-FFF2-40B4-BE49-F238E27FC236}">
                <a16:creationId xmlns:a16="http://schemas.microsoft.com/office/drawing/2014/main" id="{DBF4675B-24DA-ECE6-C51C-65069789A359}"/>
              </a:ext>
            </a:extLst>
          </p:cNvPr>
          <p:cNvSpPr/>
          <p:nvPr/>
        </p:nvSpPr>
        <p:spPr>
          <a:xfrm>
            <a:off x="11391508" y="6072480"/>
            <a:ext cx="29944252" cy="5165792"/>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E655BC70-CD2D-4B35-7ABB-67359B0A388C}"/>
              </a:ext>
            </a:extLst>
          </p:cNvPr>
          <p:cNvGrpSpPr/>
          <p:nvPr/>
        </p:nvGrpSpPr>
        <p:grpSpPr>
          <a:xfrm>
            <a:off x="15275754" y="12336890"/>
            <a:ext cx="22150998" cy="8273962"/>
            <a:chOff x="14459353" y="15708740"/>
            <a:chExt cx="22150998" cy="8273962"/>
          </a:xfrm>
        </p:grpSpPr>
        <p:pic>
          <p:nvPicPr>
            <p:cNvPr id="25" name="Picture 24" descr="A diagram of a confusion matrix&#10;&#10;AI-generated content may be incorrect.">
              <a:extLst>
                <a:ext uri="{FF2B5EF4-FFF2-40B4-BE49-F238E27FC236}">
                  <a16:creationId xmlns:a16="http://schemas.microsoft.com/office/drawing/2014/main" id="{35B53DDB-EACD-148B-0EA7-FF3D0B7D55BA}"/>
                </a:ext>
              </a:extLst>
            </p:cNvPr>
            <p:cNvPicPr>
              <a:picLocks noChangeAspect="1"/>
            </p:cNvPicPr>
            <p:nvPr/>
          </p:nvPicPr>
          <p:blipFill>
            <a:blip r:embed="rId2">
              <a:extLst>
                <a:ext uri="{28A0092B-C50C-407E-A947-70E740481C1C}">
                  <a14:useLocalDpi xmlns:a14="http://schemas.microsoft.com/office/drawing/2010/main" val="0"/>
                </a:ext>
              </a:extLst>
            </a:blip>
            <a:srcRect r="14943"/>
            <a:stretch/>
          </p:blipFill>
          <p:spPr>
            <a:xfrm>
              <a:off x="14459353" y="15708740"/>
              <a:ext cx="7978651" cy="8273962"/>
            </a:xfrm>
            <a:prstGeom prst="rect">
              <a:avLst/>
            </a:prstGeom>
          </p:spPr>
        </p:pic>
        <p:pic>
          <p:nvPicPr>
            <p:cNvPr id="27" name="Picture 26" descr="A bar graph with numbers and text&#10;&#10;AI-generated content may be incorrect.">
              <a:extLst>
                <a:ext uri="{FF2B5EF4-FFF2-40B4-BE49-F238E27FC236}">
                  <a16:creationId xmlns:a16="http://schemas.microsoft.com/office/drawing/2014/main" id="{DDA67D64-D306-A0CD-5ECD-8492A850A7F5}"/>
                </a:ext>
              </a:extLst>
            </p:cNvPr>
            <p:cNvPicPr>
              <a:picLocks noChangeAspect="1"/>
            </p:cNvPicPr>
            <p:nvPr/>
          </p:nvPicPr>
          <p:blipFill>
            <a:blip r:embed="rId3">
              <a:extLst>
                <a:ext uri="{28A0092B-C50C-407E-A947-70E740481C1C}">
                  <a14:useLocalDpi xmlns:a14="http://schemas.microsoft.com/office/drawing/2010/main" val="0"/>
                </a:ext>
              </a:extLst>
            </a:blip>
            <a:srcRect r="10508" b="17689"/>
            <a:stretch/>
          </p:blipFill>
          <p:spPr>
            <a:xfrm>
              <a:off x="23384827" y="16448659"/>
              <a:ext cx="13225524" cy="6400931"/>
            </a:xfrm>
            <a:prstGeom prst="rect">
              <a:avLst/>
            </a:prstGeom>
          </p:spPr>
        </p:pic>
      </p:grpSp>
      <p:sp>
        <p:nvSpPr>
          <p:cNvPr id="30" name="TextBox 29">
            <a:extLst>
              <a:ext uri="{FF2B5EF4-FFF2-40B4-BE49-F238E27FC236}">
                <a16:creationId xmlns:a16="http://schemas.microsoft.com/office/drawing/2014/main" id="{5BAA39A6-DC6F-57E4-6567-4545559A0C33}"/>
              </a:ext>
            </a:extLst>
          </p:cNvPr>
          <p:cNvSpPr txBox="1"/>
          <p:nvPr/>
        </p:nvSpPr>
        <p:spPr>
          <a:xfrm>
            <a:off x="15275754" y="20470366"/>
            <a:ext cx="22502113" cy="5509200"/>
          </a:xfrm>
          <a:prstGeom prst="rect">
            <a:avLst/>
          </a:prstGeom>
          <a:noFill/>
        </p:spPr>
        <p:txBody>
          <a:bodyPr wrap="square">
            <a:spAutoFit/>
          </a:bodyPr>
          <a:lstStyle/>
          <a:p>
            <a:pPr algn="l"/>
            <a:r>
              <a:rPr lang="en-US" sz="4400" b="0" i="0" noProof="0" dirty="0">
                <a:solidFill>
                  <a:srgbClr val="0F0F0F"/>
                </a:solidFill>
                <a:effectLst/>
              </a:rPr>
              <a:t>The Balanced Random Forest model achieved strong performance on the test set:</a:t>
            </a:r>
          </a:p>
          <a:p>
            <a:pPr algn="l">
              <a:buFont typeface="Arial" panose="020B0604020202020204" pitchFamily="34" charset="0"/>
              <a:buChar char="•"/>
            </a:pPr>
            <a:r>
              <a:rPr lang="en-US" sz="4400" b="1" i="0" noProof="0" dirty="0">
                <a:solidFill>
                  <a:srgbClr val="0F0F0F"/>
                </a:solidFill>
                <a:effectLst/>
              </a:rPr>
              <a:t>Accuracy</a:t>
            </a:r>
            <a:r>
              <a:rPr lang="en-US" sz="4400" b="0" i="0" noProof="0" dirty="0">
                <a:solidFill>
                  <a:srgbClr val="0F0F0F"/>
                </a:solidFill>
                <a:effectLst/>
              </a:rPr>
              <a:t>: 89.3%</a:t>
            </a:r>
          </a:p>
          <a:p>
            <a:pPr algn="l">
              <a:buFont typeface="Arial" panose="020B0604020202020204" pitchFamily="34" charset="0"/>
              <a:buChar char="•"/>
            </a:pPr>
            <a:r>
              <a:rPr lang="en-US" sz="4400" b="1" i="0" noProof="0" dirty="0">
                <a:solidFill>
                  <a:srgbClr val="0F0F0F"/>
                </a:solidFill>
                <a:effectLst/>
              </a:rPr>
              <a:t>Balanced Accuracy</a:t>
            </a:r>
            <a:r>
              <a:rPr lang="en-US" sz="4400" b="0" i="0" noProof="0" dirty="0">
                <a:solidFill>
                  <a:srgbClr val="0F0F0F"/>
                </a:solidFill>
                <a:effectLst/>
              </a:rPr>
              <a:t>: 84.7%</a:t>
            </a:r>
          </a:p>
          <a:p>
            <a:pPr algn="l">
              <a:buFont typeface="Arial" panose="020B0604020202020204" pitchFamily="34" charset="0"/>
              <a:buChar char="•"/>
            </a:pPr>
            <a:r>
              <a:rPr lang="en-US" sz="4400" b="1" i="0" noProof="0" dirty="0">
                <a:solidFill>
                  <a:srgbClr val="0F0F0F"/>
                </a:solidFill>
                <a:effectLst/>
              </a:rPr>
              <a:t>MCC</a:t>
            </a:r>
            <a:r>
              <a:rPr lang="en-US" sz="4400" b="0" i="0" noProof="0" dirty="0">
                <a:solidFill>
                  <a:srgbClr val="0F0F0F"/>
                </a:solidFill>
                <a:effectLst/>
              </a:rPr>
              <a:t>: 0.749</a:t>
            </a:r>
          </a:p>
          <a:p>
            <a:pPr algn="l">
              <a:buFont typeface="Arial" panose="020B0604020202020204" pitchFamily="34" charset="0"/>
              <a:buChar char="•"/>
            </a:pPr>
            <a:r>
              <a:rPr lang="en-US" sz="4400" b="1" i="0" noProof="0" dirty="0">
                <a:solidFill>
                  <a:srgbClr val="0F0F0F"/>
                </a:solidFill>
                <a:effectLst/>
              </a:rPr>
              <a:t>F1 Macro</a:t>
            </a:r>
            <a:r>
              <a:rPr lang="en-US" sz="4400" b="0" i="0" noProof="0" dirty="0">
                <a:solidFill>
                  <a:srgbClr val="0F0F0F"/>
                </a:solidFill>
                <a:effectLst/>
              </a:rPr>
              <a:t>: 0.780</a:t>
            </a:r>
          </a:p>
          <a:p>
            <a:pPr algn="l"/>
            <a:r>
              <a:rPr lang="en-US" sz="4400" b="0" i="0" noProof="0" dirty="0">
                <a:solidFill>
                  <a:srgbClr val="0F0F0F"/>
                </a:solidFill>
                <a:effectLst/>
              </a:rPr>
              <a:t>Class 1 (PI3K-delta selective) and Class 2 (PI3K-gamma selective) show good separation, though Class 2 has fewer samples (15 in test set), which is typical for highly specific selectivity data.</a:t>
            </a:r>
          </a:p>
        </p:txBody>
      </p:sp>
      <p:sp>
        <p:nvSpPr>
          <p:cNvPr id="52" name="TextBox 51">
            <a:extLst>
              <a:ext uri="{FF2B5EF4-FFF2-40B4-BE49-F238E27FC236}">
                <a16:creationId xmlns:a16="http://schemas.microsoft.com/office/drawing/2014/main" id="{1CA22E51-CE03-F50F-0289-6302FC2665E4}"/>
              </a:ext>
            </a:extLst>
          </p:cNvPr>
          <p:cNvSpPr txBox="1"/>
          <p:nvPr/>
        </p:nvSpPr>
        <p:spPr>
          <a:xfrm>
            <a:off x="21392134" y="11362775"/>
            <a:ext cx="9943000" cy="923330"/>
          </a:xfrm>
          <a:prstGeom prst="rect">
            <a:avLst/>
          </a:prstGeom>
          <a:noFill/>
        </p:spPr>
        <p:txBody>
          <a:bodyPr wrap="square">
            <a:spAutoFit/>
          </a:bodyPr>
          <a:lstStyle/>
          <a:p>
            <a:pPr algn="l"/>
            <a:r>
              <a:rPr lang="en-US" sz="5400" b="1" i="0" noProof="0" dirty="0">
                <a:solidFill>
                  <a:srgbClr val="0F0F0F"/>
                </a:solidFill>
                <a:effectLst/>
                <a:latin typeface="ui-sans-serif"/>
              </a:rPr>
              <a:t>Model Performance Evaluation</a:t>
            </a:r>
          </a:p>
        </p:txBody>
      </p:sp>
      <p:sp>
        <p:nvSpPr>
          <p:cNvPr id="53" name="TextBox 52">
            <a:extLst>
              <a:ext uri="{FF2B5EF4-FFF2-40B4-BE49-F238E27FC236}">
                <a16:creationId xmlns:a16="http://schemas.microsoft.com/office/drawing/2014/main" id="{4D9CB3D1-7BFC-3386-B306-BDBBA5137ABA}"/>
              </a:ext>
            </a:extLst>
          </p:cNvPr>
          <p:cNvSpPr txBox="1"/>
          <p:nvPr/>
        </p:nvSpPr>
        <p:spPr>
          <a:xfrm>
            <a:off x="17784949" y="26119453"/>
            <a:ext cx="17157371" cy="923330"/>
          </a:xfrm>
          <a:prstGeom prst="rect">
            <a:avLst/>
          </a:prstGeom>
          <a:noFill/>
        </p:spPr>
        <p:txBody>
          <a:bodyPr wrap="square">
            <a:spAutoFit/>
          </a:bodyPr>
          <a:lstStyle/>
          <a:p>
            <a:pPr algn="ctr"/>
            <a:r>
              <a:rPr lang="en-US" sz="5400" b="1" noProof="0" dirty="0">
                <a:solidFill>
                  <a:srgbClr val="0F0F0F"/>
                </a:solidFill>
                <a:latin typeface="ui-sans-serif"/>
              </a:rPr>
              <a:t>R</a:t>
            </a:r>
            <a:r>
              <a:rPr lang="en-US" sz="5400" b="1" i="0" noProof="0" dirty="0">
                <a:solidFill>
                  <a:srgbClr val="0F0F0F"/>
                </a:solidFill>
                <a:effectLst/>
                <a:latin typeface="ui-sans-serif"/>
              </a:rPr>
              <a:t>ecurrent Molecular Anchor Fragments (Class 1 &amp; 2)</a:t>
            </a:r>
          </a:p>
        </p:txBody>
      </p:sp>
      <p:grpSp>
        <p:nvGrpSpPr>
          <p:cNvPr id="69" name="Group 68">
            <a:extLst>
              <a:ext uri="{FF2B5EF4-FFF2-40B4-BE49-F238E27FC236}">
                <a16:creationId xmlns:a16="http://schemas.microsoft.com/office/drawing/2014/main" id="{7C07ED87-02E6-769C-8522-F7EA43967144}"/>
              </a:ext>
            </a:extLst>
          </p:cNvPr>
          <p:cNvGrpSpPr/>
          <p:nvPr/>
        </p:nvGrpSpPr>
        <p:grpSpPr>
          <a:xfrm>
            <a:off x="25921308" y="27870284"/>
            <a:ext cx="14331255" cy="12484043"/>
            <a:chOff x="26016215" y="32690065"/>
            <a:chExt cx="14331255" cy="12484043"/>
          </a:xfrm>
        </p:grpSpPr>
        <p:pic>
          <p:nvPicPr>
            <p:cNvPr id="59" name="Picture 58" descr="A red and black molecule&#10;&#10;AI-generated content may be incorrect.">
              <a:extLst>
                <a:ext uri="{FF2B5EF4-FFF2-40B4-BE49-F238E27FC236}">
                  <a16:creationId xmlns:a16="http://schemas.microsoft.com/office/drawing/2014/main" id="{FF828C6A-DA1B-1C2D-DF20-B453CD4FBA2B}"/>
                </a:ext>
              </a:extLst>
            </p:cNvPr>
            <p:cNvPicPr>
              <a:picLocks noChangeAspect="1"/>
            </p:cNvPicPr>
            <p:nvPr/>
          </p:nvPicPr>
          <p:blipFill>
            <a:blip r:embed="rId4">
              <a:extLst>
                <a:ext uri="{28A0092B-C50C-407E-A947-70E740481C1C}">
                  <a14:useLocalDpi xmlns:a14="http://schemas.microsoft.com/office/drawing/2010/main" val="0"/>
                </a:ext>
              </a:extLst>
            </a:blip>
            <a:srcRect t="9899" r="60477" b="34643"/>
            <a:stretch/>
          </p:blipFill>
          <p:spPr>
            <a:xfrm>
              <a:off x="26016215" y="33792057"/>
              <a:ext cx="14331255" cy="3686730"/>
            </a:xfrm>
            <a:prstGeom prst="rect">
              <a:avLst/>
            </a:prstGeom>
          </p:spPr>
        </p:pic>
        <p:grpSp>
          <p:nvGrpSpPr>
            <p:cNvPr id="56" name="Group 55">
              <a:extLst>
                <a:ext uri="{FF2B5EF4-FFF2-40B4-BE49-F238E27FC236}">
                  <a16:creationId xmlns:a16="http://schemas.microsoft.com/office/drawing/2014/main" id="{3328C6AB-5D2D-21F5-D316-19C43126EF72}"/>
                </a:ext>
              </a:extLst>
            </p:cNvPr>
            <p:cNvGrpSpPr/>
            <p:nvPr/>
          </p:nvGrpSpPr>
          <p:grpSpPr>
            <a:xfrm>
              <a:off x="27091192" y="37720664"/>
              <a:ext cx="12181300" cy="1477328"/>
              <a:chOff x="27174716" y="37720664"/>
              <a:chExt cx="12181300" cy="1477328"/>
            </a:xfrm>
          </p:grpSpPr>
          <p:sp>
            <p:nvSpPr>
              <p:cNvPr id="61" name="TextBox 60">
                <a:extLst>
                  <a:ext uri="{FF2B5EF4-FFF2-40B4-BE49-F238E27FC236}">
                    <a16:creationId xmlns:a16="http://schemas.microsoft.com/office/drawing/2014/main" id="{A7D21A72-9214-4047-1740-F895FF59E1E6}"/>
                  </a:ext>
                </a:extLst>
              </p:cNvPr>
              <p:cNvSpPr txBox="1"/>
              <p:nvPr/>
            </p:nvSpPr>
            <p:spPr>
              <a:xfrm>
                <a:off x="27174716" y="37720664"/>
                <a:ext cx="5323362"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1</a:t>
                </a:r>
              </a:p>
              <a:p>
                <a:pPr algn="ctr"/>
                <a:r>
                  <a:rPr lang="en-US" sz="3000" b="1" noProof="0" dirty="0">
                    <a:solidFill>
                      <a:srgbClr val="0F0F0F"/>
                    </a:solidFill>
                    <a:latin typeface="ui-sans-serif"/>
                  </a:rPr>
                  <a:t>Anchor occurrence: 0.36</a:t>
                </a:r>
              </a:p>
              <a:p>
                <a:pPr algn="ctr"/>
                <a:r>
                  <a:rPr lang="en-US" sz="3000" b="1" noProof="0" dirty="0">
                    <a:solidFill>
                      <a:srgbClr val="0F0F0F"/>
                    </a:solidFill>
                    <a:latin typeface="ui-sans-serif"/>
                  </a:rPr>
                  <a:t>Substructure occurrence: 0.82</a:t>
                </a:r>
                <a:endParaRPr lang="en-US" sz="3000" noProof="0" dirty="0"/>
              </a:p>
            </p:txBody>
          </p:sp>
          <p:sp>
            <p:nvSpPr>
              <p:cNvPr id="62" name="TextBox 61">
                <a:extLst>
                  <a:ext uri="{FF2B5EF4-FFF2-40B4-BE49-F238E27FC236}">
                    <a16:creationId xmlns:a16="http://schemas.microsoft.com/office/drawing/2014/main" id="{9062DABE-6143-0CF6-47EE-82DED9712869}"/>
                  </a:ext>
                </a:extLst>
              </p:cNvPr>
              <p:cNvSpPr txBox="1"/>
              <p:nvPr/>
            </p:nvSpPr>
            <p:spPr>
              <a:xfrm>
                <a:off x="34039249" y="37720664"/>
                <a:ext cx="5316767"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2</a:t>
                </a:r>
              </a:p>
              <a:p>
                <a:pPr algn="ctr"/>
                <a:r>
                  <a:rPr lang="en-US" sz="3000" b="1" noProof="0" dirty="0">
                    <a:solidFill>
                      <a:srgbClr val="0F0F0F"/>
                    </a:solidFill>
                    <a:latin typeface="ui-sans-serif"/>
                  </a:rPr>
                  <a:t>Anchor occurrence: 0.18</a:t>
                </a:r>
              </a:p>
              <a:p>
                <a:pPr algn="ctr"/>
                <a:r>
                  <a:rPr lang="en-US" sz="3000" b="1" noProof="0" dirty="0">
                    <a:solidFill>
                      <a:srgbClr val="0F0F0F"/>
                    </a:solidFill>
                    <a:latin typeface="ui-sans-serif"/>
                  </a:rPr>
                  <a:t>Substructure occurrence: 0.36</a:t>
                </a:r>
                <a:endParaRPr lang="en-US" sz="3000" noProof="0" dirty="0"/>
              </a:p>
            </p:txBody>
          </p:sp>
        </p:grpSp>
        <p:sp>
          <p:nvSpPr>
            <p:cNvPr id="64" name="TextBox 63">
              <a:extLst>
                <a:ext uri="{FF2B5EF4-FFF2-40B4-BE49-F238E27FC236}">
                  <a16:creationId xmlns:a16="http://schemas.microsoft.com/office/drawing/2014/main" id="{375CDCAE-E997-6AB6-EE31-7EEA0E2E635E}"/>
                </a:ext>
              </a:extLst>
            </p:cNvPr>
            <p:cNvSpPr txBox="1"/>
            <p:nvPr/>
          </p:nvSpPr>
          <p:spPr>
            <a:xfrm>
              <a:off x="30026714" y="32690065"/>
              <a:ext cx="6310257" cy="923330"/>
            </a:xfrm>
            <a:prstGeom prst="rect">
              <a:avLst/>
            </a:prstGeom>
            <a:noFill/>
          </p:spPr>
          <p:txBody>
            <a:bodyPr wrap="square" rtlCol="0">
              <a:spAutoFit/>
            </a:bodyPr>
            <a:lstStyle/>
            <a:p>
              <a:pPr algn="ctr"/>
              <a:r>
                <a:rPr lang="en-US" sz="5400" b="1" noProof="0" dirty="0"/>
                <a:t>Class </a:t>
              </a:r>
              <a:r>
                <a:rPr lang="en-US" sz="5400" b="1" i="0" noProof="0" dirty="0">
                  <a:solidFill>
                    <a:srgbClr val="0F0F0F"/>
                  </a:solidFill>
                  <a:effectLst/>
                  <a:latin typeface="ui-sans-serif"/>
                </a:rPr>
                <a:t>PI3K-gamma</a:t>
              </a:r>
              <a:endParaRPr lang="en-US" sz="5400" b="1" noProof="0" dirty="0"/>
            </a:p>
          </p:txBody>
        </p:sp>
        <p:sp>
          <p:nvSpPr>
            <p:cNvPr id="65" name="TextBox 64">
              <a:extLst>
                <a:ext uri="{FF2B5EF4-FFF2-40B4-BE49-F238E27FC236}">
                  <a16:creationId xmlns:a16="http://schemas.microsoft.com/office/drawing/2014/main" id="{F275191B-4583-8146-851D-EA0FC0A427D2}"/>
                </a:ext>
              </a:extLst>
            </p:cNvPr>
            <p:cNvSpPr txBox="1"/>
            <p:nvPr/>
          </p:nvSpPr>
          <p:spPr>
            <a:xfrm>
              <a:off x="27101082" y="39664908"/>
              <a:ext cx="12161520" cy="5509200"/>
            </a:xfrm>
            <a:prstGeom prst="rect">
              <a:avLst/>
            </a:prstGeom>
            <a:noFill/>
          </p:spPr>
          <p:txBody>
            <a:bodyPr wrap="square" rtlCol="0">
              <a:spAutoFit/>
            </a:bodyPr>
            <a:lstStyle/>
            <a:p>
              <a:pPr marL="228600" indent="-228600" algn="just">
                <a:buFont typeface="+mj-lt"/>
                <a:buAutoNum type="arabicPeriod"/>
              </a:pPr>
              <a:r>
                <a:rPr lang="en-US" sz="4400" noProof="0" dirty="0"/>
                <a:t> Occurs in 36.4% of anchors. A </a:t>
              </a:r>
              <a:r>
                <a:rPr lang="en-US" sz="4400" b="1" noProof="0" dirty="0"/>
                <a:t>substituted </a:t>
              </a:r>
              <a:r>
                <a:rPr lang="en-US" sz="4400" b="1" noProof="0" dirty="0" err="1"/>
                <a:t>isoquinoline</a:t>
              </a:r>
              <a:r>
                <a:rPr lang="en-US" sz="4400" b="1" noProof="0" dirty="0"/>
                <a:t>/pyrazolo-pyridine core</a:t>
              </a:r>
              <a:r>
                <a:rPr lang="en-US" sz="4400" noProof="0" dirty="0"/>
                <a:t>, highly characteristic of PI3K-gamma selective inhibitors.</a:t>
              </a:r>
            </a:p>
            <a:p>
              <a:pPr marL="228600" indent="-228600" algn="just">
                <a:buFont typeface="+mj-lt"/>
                <a:buAutoNum type="arabicPeriod"/>
              </a:pPr>
              <a:endParaRPr lang="en-US" sz="4400" noProof="0" dirty="0"/>
            </a:p>
            <a:p>
              <a:pPr marL="228600" indent="-228600" algn="just">
                <a:buFont typeface="+mj-lt"/>
                <a:buAutoNum type="arabicPeriod"/>
              </a:pPr>
              <a:r>
                <a:rPr lang="en-US" sz="4400" b="1" noProof="0" dirty="0"/>
                <a:t> </a:t>
              </a:r>
              <a:r>
                <a:rPr lang="en-US" sz="4400" b="1" noProof="0" dirty="0" err="1"/>
                <a:t>Dihydroisoquinolinone</a:t>
              </a:r>
              <a:r>
                <a:rPr lang="en-US" sz="4400" b="1" noProof="0" dirty="0"/>
                <a:t> derivatives</a:t>
              </a:r>
              <a:r>
                <a:rPr lang="en-US" sz="4400" noProof="0" dirty="0"/>
                <a:t>, frequently appearing in gamma-selective chemotypes.</a:t>
              </a:r>
            </a:p>
          </p:txBody>
        </p:sp>
      </p:grpSp>
      <p:grpSp>
        <p:nvGrpSpPr>
          <p:cNvPr id="71" name="Group 70">
            <a:extLst>
              <a:ext uri="{FF2B5EF4-FFF2-40B4-BE49-F238E27FC236}">
                <a16:creationId xmlns:a16="http://schemas.microsoft.com/office/drawing/2014/main" id="{B566DC8D-A751-746E-78CA-6C8E8122C95C}"/>
              </a:ext>
            </a:extLst>
          </p:cNvPr>
          <p:cNvGrpSpPr/>
          <p:nvPr/>
        </p:nvGrpSpPr>
        <p:grpSpPr>
          <a:xfrm>
            <a:off x="12647583" y="27870284"/>
            <a:ext cx="12161520" cy="12484043"/>
            <a:chOff x="12742490" y="32690065"/>
            <a:chExt cx="12161520" cy="12484043"/>
          </a:xfrm>
        </p:grpSpPr>
        <p:pic>
          <p:nvPicPr>
            <p:cNvPr id="57" name="Picture 56" descr="A black and red hexagons&#10;&#10;AI-generated content may be incorrect.">
              <a:extLst>
                <a:ext uri="{FF2B5EF4-FFF2-40B4-BE49-F238E27FC236}">
                  <a16:creationId xmlns:a16="http://schemas.microsoft.com/office/drawing/2014/main" id="{D31C6E93-8769-C043-E3E6-35F8E48F9A7F}"/>
                </a:ext>
              </a:extLst>
            </p:cNvPr>
            <p:cNvPicPr>
              <a:picLocks noChangeAspect="1"/>
            </p:cNvPicPr>
            <p:nvPr/>
          </p:nvPicPr>
          <p:blipFill>
            <a:blip r:embed="rId5">
              <a:extLst>
                <a:ext uri="{28A0092B-C50C-407E-A947-70E740481C1C}">
                  <a14:useLocalDpi xmlns:a14="http://schemas.microsoft.com/office/drawing/2010/main" val="0"/>
                </a:ext>
              </a:extLst>
            </a:blip>
            <a:srcRect r="60622" b="25829"/>
            <a:stretch/>
          </p:blipFill>
          <p:spPr>
            <a:xfrm>
              <a:off x="12970037" y="33436279"/>
              <a:ext cx="11706426" cy="4042508"/>
            </a:xfrm>
            <a:prstGeom prst="rect">
              <a:avLst/>
            </a:prstGeom>
          </p:spPr>
        </p:pic>
        <p:grpSp>
          <p:nvGrpSpPr>
            <p:cNvPr id="68" name="Group 67">
              <a:extLst>
                <a:ext uri="{FF2B5EF4-FFF2-40B4-BE49-F238E27FC236}">
                  <a16:creationId xmlns:a16="http://schemas.microsoft.com/office/drawing/2014/main" id="{3B152157-9CC7-F546-D5E7-974890FB190C}"/>
                </a:ext>
              </a:extLst>
            </p:cNvPr>
            <p:cNvGrpSpPr/>
            <p:nvPr/>
          </p:nvGrpSpPr>
          <p:grpSpPr>
            <a:xfrm>
              <a:off x="13187768" y="37935654"/>
              <a:ext cx="11270964" cy="1477328"/>
              <a:chOff x="13180193" y="37935654"/>
              <a:chExt cx="11270964" cy="1477328"/>
            </a:xfrm>
          </p:grpSpPr>
          <p:sp>
            <p:nvSpPr>
              <p:cNvPr id="58" name="TextBox 57">
                <a:extLst>
                  <a:ext uri="{FF2B5EF4-FFF2-40B4-BE49-F238E27FC236}">
                    <a16:creationId xmlns:a16="http://schemas.microsoft.com/office/drawing/2014/main" id="{8572CEAB-6935-A767-5441-EE39B0CFE9A6}"/>
                  </a:ext>
                </a:extLst>
              </p:cNvPr>
              <p:cNvSpPr txBox="1"/>
              <p:nvPr/>
            </p:nvSpPr>
            <p:spPr>
              <a:xfrm>
                <a:off x="13180193" y="37935654"/>
                <a:ext cx="5414457"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1</a:t>
                </a:r>
              </a:p>
              <a:p>
                <a:pPr algn="ctr"/>
                <a:r>
                  <a:rPr lang="en-US" sz="3000" b="1" noProof="0" dirty="0">
                    <a:solidFill>
                      <a:srgbClr val="0F0F0F"/>
                    </a:solidFill>
                    <a:latin typeface="ui-sans-serif"/>
                  </a:rPr>
                  <a:t>Anchor occurrence: 0.26</a:t>
                </a:r>
              </a:p>
              <a:p>
                <a:pPr algn="ctr"/>
                <a:r>
                  <a:rPr lang="en-US" sz="3000" b="1" noProof="0" dirty="0">
                    <a:solidFill>
                      <a:srgbClr val="0F0F0F"/>
                    </a:solidFill>
                    <a:latin typeface="ui-sans-serif"/>
                  </a:rPr>
                  <a:t>Substructure occurrence: 0.26</a:t>
                </a:r>
                <a:endParaRPr lang="en-US" sz="3000" noProof="0" dirty="0"/>
              </a:p>
            </p:txBody>
          </p:sp>
          <p:sp>
            <p:nvSpPr>
              <p:cNvPr id="60" name="TextBox 59">
                <a:extLst>
                  <a:ext uri="{FF2B5EF4-FFF2-40B4-BE49-F238E27FC236}">
                    <a16:creationId xmlns:a16="http://schemas.microsoft.com/office/drawing/2014/main" id="{CB3D1D01-6B66-4EBF-BA63-15E4A614E261}"/>
                  </a:ext>
                </a:extLst>
              </p:cNvPr>
              <p:cNvSpPr txBox="1"/>
              <p:nvPr/>
            </p:nvSpPr>
            <p:spPr>
              <a:xfrm>
                <a:off x="18997991" y="37935654"/>
                <a:ext cx="5453166"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2</a:t>
                </a:r>
              </a:p>
              <a:p>
                <a:pPr algn="ctr"/>
                <a:r>
                  <a:rPr lang="en-US" sz="3000" b="1" noProof="0" dirty="0">
                    <a:solidFill>
                      <a:srgbClr val="0F0F0F"/>
                    </a:solidFill>
                    <a:latin typeface="ui-sans-serif"/>
                  </a:rPr>
                  <a:t>Anchor occurrence: 0.25</a:t>
                </a:r>
              </a:p>
              <a:p>
                <a:pPr algn="ctr"/>
                <a:r>
                  <a:rPr lang="en-US" sz="3000" b="1" noProof="0" dirty="0">
                    <a:solidFill>
                      <a:srgbClr val="0F0F0F"/>
                    </a:solidFill>
                    <a:latin typeface="ui-sans-serif"/>
                  </a:rPr>
                  <a:t>Substructure occurrence: 0.25</a:t>
                </a:r>
                <a:endParaRPr lang="en-US" sz="3000" noProof="0" dirty="0"/>
              </a:p>
            </p:txBody>
          </p:sp>
        </p:grpSp>
        <p:sp>
          <p:nvSpPr>
            <p:cNvPr id="63" name="TextBox 62">
              <a:extLst>
                <a:ext uri="{FF2B5EF4-FFF2-40B4-BE49-F238E27FC236}">
                  <a16:creationId xmlns:a16="http://schemas.microsoft.com/office/drawing/2014/main" id="{6A5C72D7-D885-252B-9D5B-8FCC3218E83B}"/>
                </a:ext>
              </a:extLst>
            </p:cNvPr>
            <p:cNvSpPr txBox="1"/>
            <p:nvPr/>
          </p:nvSpPr>
          <p:spPr>
            <a:xfrm>
              <a:off x="15521521" y="32690065"/>
              <a:ext cx="6603459" cy="923330"/>
            </a:xfrm>
            <a:prstGeom prst="rect">
              <a:avLst/>
            </a:prstGeom>
            <a:noFill/>
          </p:spPr>
          <p:txBody>
            <a:bodyPr wrap="square" rtlCol="0">
              <a:spAutoFit/>
            </a:bodyPr>
            <a:lstStyle/>
            <a:p>
              <a:pPr algn="ctr"/>
              <a:r>
                <a:rPr lang="en-US" sz="5400" b="1" noProof="0" dirty="0"/>
                <a:t>Class </a:t>
              </a:r>
              <a:r>
                <a:rPr lang="en-US" sz="5400" b="1" i="0" noProof="0" dirty="0">
                  <a:solidFill>
                    <a:srgbClr val="0F0F0F"/>
                  </a:solidFill>
                  <a:effectLst/>
                  <a:latin typeface="ui-sans-serif"/>
                </a:rPr>
                <a:t>PI3K-delta</a:t>
              </a:r>
              <a:endParaRPr lang="en-US" sz="5400" b="1" noProof="0" dirty="0"/>
            </a:p>
          </p:txBody>
        </p:sp>
        <p:sp>
          <p:nvSpPr>
            <p:cNvPr id="66" name="TextBox 65">
              <a:extLst>
                <a:ext uri="{FF2B5EF4-FFF2-40B4-BE49-F238E27FC236}">
                  <a16:creationId xmlns:a16="http://schemas.microsoft.com/office/drawing/2014/main" id="{07CA5145-B7E2-1C7C-76AD-CFE78D36AE62}"/>
                </a:ext>
              </a:extLst>
            </p:cNvPr>
            <p:cNvSpPr txBox="1"/>
            <p:nvPr/>
          </p:nvSpPr>
          <p:spPr>
            <a:xfrm>
              <a:off x="12742490" y="39664908"/>
              <a:ext cx="12161520" cy="5509200"/>
            </a:xfrm>
            <a:prstGeom prst="rect">
              <a:avLst/>
            </a:prstGeom>
            <a:noFill/>
          </p:spPr>
          <p:txBody>
            <a:bodyPr wrap="square" rtlCol="0">
              <a:spAutoFit/>
            </a:bodyPr>
            <a:lstStyle/>
            <a:p>
              <a:pPr marL="228600" indent="-228600" algn="just">
                <a:buFont typeface="+mj-lt"/>
                <a:buAutoNum type="arabicPeriod"/>
              </a:pPr>
              <a:r>
                <a:rPr lang="en-US" sz="4400" noProof="0" dirty="0"/>
                <a:t> Occurs in 26.4% of correctly predicted Class 1 compounds. This </a:t>
              </a:r>
              <a:r>
                <a:rPr lang="en-US" sz="4400" b="1" noProof="0" dirty="0"/>
                <a:t>cyano-substituted pyrimidine</a:t>
              </a:r>
              <a:r>
                <a:rPr lang="en-US" sz="4400" noProof="0" dirty="0"/>
                <a:t> motif is a classic </a:t>
              </a:r>
              <a:r>
                <a:rPr lang="en-US" sz="4400" b="1" noProof="0" dirty="0"/>
                <a:t>kinase hinge-binder</a:t>
              </a:r>
              <a:r>
                <a:rPr lang="en-US" sz="4400" noProof="0" dirty="0"/>
                <a:t>.</a:t>
              </a:r>
            </a:p>
            <a:p>
              <a:pPr marL="228600" indent="-228600" algn="just">
                <a:buFont typeface="+mj-lt"/>
                <a:buAutoNum type="arabicPeriod"/>
              </a:pPr>
              <a:endParaRPr lang="en-US" sz="4400" noProof="0" dirty="0"/>
            </a:p>
            <a:p>
              <a:pPr marL="228600" indent="-228600" algn="just">
                <a:buFont typeface="+mj-lt"/>
                <a:buAutoNum type="arabicPeriod"/>
              </a:pPr>
              <a:r>
                <a:rPr lang="en-US" sz="4400" noProof="0" dirty="0"/>
                <a:t> Occurs in 25.0% of cases. A </a:t>
              </a:r>
              <a:r>
                <a:rPr lang="en-US" sz="4400" b="1" noProof="0" dirty="0"/>
                <a:t>diamino-</a:t>
              </a:r>
              <a:r>
                <a:rPr lang="en-US" sz="4400" b="1" noProof="0" dirty="0" err="1"/>
                <a:t>cyano</a:t>
              </a:r>
              <a:r>
                <a:rPr lang="en-US" sz="4400" b="1" noProof="0" dirty="0"/>
                <a:t> pyrimidine derivative</a:t>
              </a:r>
              <a:r>
                <a:rPr lang="en-US" sz="4400" noProof="0" dirty="0"/>
                <a:t>, strongly indicating </a:t>
              </a:r>
              <a:r>
                <a:rPr lang="en-US" sz="4400" b="1" noProof="0" dirty="0"/>
                <a:t>hydrogen-bonding interactions </a:t>
              </a:r>
              <a:r>
                <a:rPr lang="en-US" sz="4400" noProof="0" dirty="0"/>
                <a:t>with the </a:t>
              </a:r>
              <a:r>
                <a:rPr lang="en-US" sz="4400" b="1" noProof="0" dirty="0"/>
                <a:t>hinge region</a:t>
              </a:r>
              <a:r>
                <a:rPr lang="en-US" sz="4400" noProof="0" dirty="0"/>
                <a:t>.</a:t>
              </a:r>
            </a:p>
          </p:txBody>
        </p:sp>
      </p:grpSp>
      <p:sp>
        <p:nvSpPr>
          <p:cNvPr id="2" name="Rectangle: Top Corners Rounded 1">
            <a:extLst>
              <a:ext uri="{FF2B5EF4-FFF2-40B4-BE49-F238E27FC236}">
                <a16:creationId xmlns:a16="http://schemas.microsoft.com/office/drawing/2014/main" id="{6C13FBF4-81B4-461D-A19D-5804EED023DD}"/>
              </a:ext>
            </a:extLst>
          </p:cNvPr>
          <p:cNvSpPr/>
          <p:nvPr/>
        </p:nvSpPr>
        <p:spPr>
          <a:xfrm>
            <a:off x="11391508" y="62907"/>
            <a:ext cx="29944252" cy="5373486"/>
          </a:xfrm>
          <a:prstGeom prst="round2Same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sz="1800" noProof="0" dirty="0">
              <a:solidFill>
                <a:schemeClr val="tx1"/>
              </a:solidFill>
            </a:endParaRPr>
          </a:p>
          <a:p>
            <a:pPr algn="just"/>
            <a:r>
              <a:rPr lang="en-US" sz="6000" noProof="0" dirty="0">
                <a:solidFill>
                  <a:schemeClr val="tx1"/>
                </a:solidFill>
              </a:rPr>
              <a:t>You are running a reproducibility study for compound selectivity prediction. The goal is to train a Balanced Random Forest Classifier to distinguish PI3K-delta (UniProt: O00329) vs PI3K-gamma (UniProt:  P48736) selective compounds, evaluate its performance, and identify recurrent molecular anchor fragments that drive the model's correct predictions for each selective class (class 1 &amp; 2) and discuss the chemical insight gained.</a:t>
            </a:r>
          </a:p>
        </p:txBody>
      </p:sp>
      <p:sp>
        <p:nvSpPr>
          <p:cNvPr id="3" name="Rectangle: Rounded Corners 2">
            <a:extLst>
              <a:ext uri="{FF2B5EF4-FFF2-40B4-BE49-F238E27FC236}">
                <a16:creationId xmlns:a16="http://schemas.microsoft.com/office/drawing/2014/main" id="{465AE2D3-52C5-2D04-D846-EC865A9F4DC7}"/>
              </a:ext>
            </a:extLst>
          </p:cNvPr>
          <p:cNvSpPr/>
          <p:nvPr/>
        </p:nvSpPr>
        <p:spPr>
          <a:xfrm>
            <a:off x="12044361" y="6917439"/>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Find dataset</a:t>
            </a:r>
          </a:p>
        </p:txBody>
      </p:sp>
      <p:sp>
        <p:nvSpPr>
          <p:cNvPr id="4" name="Rectangle: Rounded Corners 3">
            <a:extLst>
              <a:ext uri="{FF2B5EF4-FFF2-40B4-BE49-F238E27FC236}">
                <a16:creationId xmlns:a16="http://schemas.microsoft.com/office/drawing/2014/main" id="{6DB85F9D-5273-DCFF-C989-7562C2561479}"/>
              </a:ext>
            </a:extLst>
          </p:cNvPr>
          <p:cNvSpPr/>
          <p:nvPr/>
        </p:nvSpPr>
        <p:spPr>
          <a:xfrm>
            <a:off x="12044361" y="9238208"/>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Load dataset</a:t>
            </a:r>
          </a:p>
        </p:txBody>
      </p:sp>
      <p:sp>
        <p:nvSpPr>
          <p:cNvPr id="8" name="Rectangle: Rounded Corners 7">
            <a:extLst>
              <a:ext uri="{FF2B5EF4-FFF2-40B4-BE49-F238E27FC236}">
                <a16:creationId xmlns:a16="http://schemas.microsoft.com/office/drawing/2014/main" id="{872B3574-1A6E-95E9-EEA3-C496E1B2F4CE}"/>
              </a:ext>
            </a:extLst>
          </p:cNvPr>
          <p:cNvSpPr/>
          <p:nvPr/>
        </p:nvSpPr>
        <p:spPr>
          <a:xfrm>
            <a:off x="19516990" y="9238208"/>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Compute features</a:t>
            </a:r>
          </a:p>
        </p:txBody>
      </p:sp>
      <p:sp>
        <p:nvSpPr>
          <p:cNvPr id="9" name="Rectangle: Rounded Corners 8">
            <a:extLst>
              <a:ext uri="{FF2B5EF4-FFF2-40B4-BE49-F238E27FC236}">
                <a16:creationId xmlns:a16="http://schemas.microsoft.com/office/drawing/2014/main" id="{AB67E2D9-9E9D-F863-4BAE-D1ACB7A59896}"/>
              </a:ext>
            </a:extLst>
          </p:cNvPr>
          <p:cNvSpPr/>
          <p:nvPr/>
        </p:nvSpPr>
        <p:spPr>
          <a:xfrm>
            <a:off x="19516990" y="6917439"/>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Split dataset</a:t>
            </a:r>
          </a:p>
        </p:txBody>
      </p:sp>
      <p:sp>
        <p:nvSpPr>
          <p:cNvPr id="10" name="Rectangle: Rounded Corners 9">
            <a:extLst>
              <a:ext uri="{FF2B5EF4-FFF2-40B4-BE49-F238E27FC236}">
                <a16:creationId xmlns:a16="http://schemas.microsoft.com/office/drawing/2014/main" id="{1344948B-9127-5D85-04AF-9E27623C51DB}"/>
              </a:ext>
            </a:extLst>
          </p:cNvPr>
          <p:cNvSpPr/>
          <p:nvPr/>
        </p:nvSpPr>
        <p:spPr>
          <a:xfrm>
            <a:off x="27051018" y="6917439"/>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Train model</a:t>
            </a:r>
          </a:p>
        </p:txBody>
      </p:sp>
      <p:sp>
        <p:nvSpPr>
          <p:cNvPr id="12" name="Rectangle: Rounded Corners 11">
            <a:extLst>
              <a:ext uri="{FF2B5EF4-FFF2-40B4-BE49-F238E27FC236}">
                <a16:creationId xmlns:a16="http://schemas.microsoft.com/office/drawing/2014/main" id="{9B31298B-CDEF-CDC2-2977-DCA4EAA13569}"/>
              </a:ext>
            </a:extLst>
          </p:cNvPr>
          <p:cNvSpPr/>
          <p:nvPr/>
        </p:nvSpPr>
        <p:spPr>
          <a:xfrm>
            <a:off x="27051018" y="8990043"/>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Plot classification</a:t>
            </a:r>
          </a:p>
          <a:p>
            <a:pPr algn="ctr"/>
            <a:r>
              <a:rPr lang="en-US" sz="6000" noProof="0" dirty="0">
                <a:solidFill>
                  <a:schemeClr val="tx1"/>
                </a:solidFill>
              </a:rPr>
              <a:t>results</a:t>
            </a:r>
          </a:p>
        </p:txBody>
      </p:sp>
      <p:sp>
        <p:nvSpPr>
          <p:cNvPr id="13" name="Rectangle: Rounded Corners 12">
            <a:extLst>
              <a:ext uri="{FF2B5EF4-FFF2-40B4-BE49-F238E27FC236}">
                <a16:creationId xmlns:a16="http://schemas.microsoft.com/office/drawing/2014/main" id="{A2D69792-6240-2A88-CEB7-39F07C646BE7}"/>
              </a:ext>
            </a:extLst>
          </p:cNvPr>
          <p:cNvSpPr/>
          <p:nvPr/>
        </p:nvSpPr>
        <p:spPr>
          <a:xfrm>
            <a:off x="34528255" y="8990043"/>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Identify recurrent anchor rules</a:t>
            </a:r>
          </a:p>
        </p:txBody>
      </p:sp>
      <p:cxnSp>
        <p:nvCxnSpPr>
          <p:cNvPr id="16" name="Straight Arrow Connector 15">
            <a:extLst>
              <a:ext uri="{FF2B5EF4-FFF2-40B4-BE49-F238E27FC236}">
                <a16:creationId xmlns:a16="http://schemas.microsoft.com/office/drawing/2014/main" id="{0EB09105-A603-3792-FA56-C202D530844E}"/>
              </a:ext>
            </a:extLst>
          </p:cNvPr>
          <p:cNvCxnSpPr>
            <a:cxnSpLocks/>
            <a:stCxn id="3" idx="2"/>
            <a:endCxn id="4" idx="0"/>
          </p:cNvCxnSpPr>
          <p:nvPr/>
        </p:nvCxnSpPr>
        <p:spPr>
          <a:xfrm>
            <a:off x="15293974" y="8255878"/>
            <a:ext cx="0" cy="98233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826109EB-84B7-25A1-4C4D-5E40E7C05280}"/>
              </a:ext>
            </a:extLst>
          </p:cNvPr>
          <p:cNvCxnSpPr>
            <a:cxnSpLocks/>
            <a:endCxn id="8" idx="1"/>
          </p:cNvCxnSpPr>
          <p:nvPr/>
        </p:nvCxnSpPr>
        <p:spPr>
          <a:xfrm>
            <a:off x="18543586" y="9907427"/>
            <a:ext cx="973404" cy="1"/>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FE9E200C-F61C-E3BC-C813-973305E697A5}"/>
              </a:ext>
            </a:extLst>
          </p:cNvPr>
          <p:cNvCxnSpPr>
            <a:cxnSpLocks/>
            <a:stCxn id="8" idx="0"/>
            <a:endCxn id="9" idx="2"/>
          </p:cNvCxnSpPr>
          <p:nvPr/>
        </p:nvCxnSpPr>
        <p:spPr>
          <a:xfrm flipV="1">
            <a:off x="22766603" y="8255878"/>
            <a:ext cx="0" cy="98233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2" name="Straight Arrow Connector 31">
            <a:extLst>
              <a:ext uri="{FF2B5EF4-FFF2-40B4-BE49-F238E27FC236}">
                <a16:creationId xmlns:a16="http://schemas.microsoft.com/office/drawing/2014/main" id="{6B958271-883F-8940-76BB-8AF8F00A9DC4}"/>
              </a:ext>
            </a:extLst>
          </p:cNvPr>
          <p:cNvCxnSpPr>
            <a:cxnSpLocks/>
          </p:cNvCxnSpPr>
          <p:nvPr/>
        </p:nvCxnSpPr>
        <p:spPr>
          <a:xfrm>
            <a:off x="26016215" y="7586658"/>
            <a:ext cx="1034803"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8" name="Straight Arrow Connector 37">
            <a:extLst>
              <a:ext uri="{FF2B5EF4-FFF2-40B4-BE49-F238E27FC236}">
                <a16:creationId xmlns:a16="http://schemas.microsoft.com/office/drawing/2014/main" id="{14B6177B-6EC6-A0F4-463E-CAAB2559ADE4}"/>
              </a:ext>
            </a:extLst>
          </p:cNvPr>
          <p:cNvCxnSpPr>
            <a:cxnSpLocks/>
            <a:stCxn id="10" idx="2"/>
            <a:endCxn id="12" idx="0"/>
          </p:cNvCxnSpPr>
          <p:nvPr/>
        </p:nvCxnSpPr>
        <p:spPr>
          <a:xfrm>
            <a:off x="30300631" y="8255878"/>
            <a:ext cx="0" cy="734165"/>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617806EB-FC1C-9A83-BF43-2E984DA88F27}"/>
              </a:ext>
            </a:extLst>
          </p:cNvPr>
          <p:cNvCxnSpPr>
            <a:cxnSpLocks/>
            <a:stCxn id="12" idx="3"/>
            <a:endCxn id="13" idx="1"/>
          </p:cNvCxnSpPr>
          <p:nvPr/>
        </p:nvCxnSpPr>
        <p:spPr>
          <a:xfrm>
            <a:off x="33550243" y="9907428"/>
            <a:ext cx="978012"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49" name="Rectangle: Rounded Corners 48">
            <a:extLst>
              <a:ext uri="{FF2B5EF4-FFF2-40B4-BE49-F238E27FC236}">
                <a16:creationId xmlns:a16="http://schemas.microsoft.com/office/drawing/2014/main" id="{1C29497D-2B90-2BE5-88BB-D67B8144BA05}"/>
              </a:ext>
            </a:extLst>
          </p:cNvPr>
          <p:cNvSpPr/>
          <p:nvPr/>
        </p:nvSpPr>
        <p:spPr>
          <a:xfrm>
            <a:off x="11390334" y="26961496"/>
            <a:ext cx="29946600" cy="13758873"/>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5" name="Rectangle: Top Corners Rounded 74">
            <a:extLst>
              <a:ext uri="{FF2B5EF4-FFF2-40B4-BE49-F238E27FC236}">
                <a16:creationId xmlns:a16="http://schemas.microsoft.com/office/drawing/2014/main" id="{ADA389BC-6277-D00F-8843-FDFC3BF7E611}"/>
              </a:ext>
            </a:extLst>
          </p:cNvPr>
          <p:cNvSpPr/>
          <p:nvPr/>
        </p:nvSpPr>
        <p:spPr>
          <a:xfrm rot="10800000">
            <a:off x="11391508" y="41765163"/>
            <a:ext cx="29944252" cy="7360778"/>
          </a:xfrm>
          <a:prstGeom prst="round2Same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sz="4400" noProof="0" dirty="0">
              <a:solidFill>
                <a:schemeClr val="tx1"/>
              </a:solidFill>
            </a:endParaRPr>
          </a:p>
        </p:txBody>
      </p:sp>
      <p:sp>
        <p:nvSpPr>
          <p:cNvPr id="77" name="TextBox 76">
            <a:extLst>
              <a:ext uri="{FF2B5EF4-FFF2-40B4-BE49-F238E27FC236}">
                <a16:creationId xmlns:a16="http://schemas.microsoft.com/office/drawing/2014/main" id="{C9821E32-A8A6-C518-B031-E9D5E16F9A8D}"/>
              </a:ext>
            </a:extLst>
          </p:cNvPr>
          <p:cNvSpPr txBox="1"/>
          <p:nvPr/>
        </p:nvSpPr>
        <p:spPr>
          <a:xfrm>
            <a:off x="12044361" y="42262524"/>
            <a:ext cx="28852813" cy="6863417"/>
          </a:xfrm>
          <a:prstGeom prst="rect">
            <a:avLst/>
          </a:prstGeom>
          <a:noFill/>
        </p:spPr>
        <p:txBody>
          <a:bodyPr wrap="square">
            <a:spAutoFit/>
          </a:bodyPr>
          <a:lstStyle/>
          <a:p>
            <a:pPr marL="228600" indent="-228600">
              <a:buFont typeface="+mj-lt"/>
              <a:buAutoNum type="arabicPeriod"/>
            </a:pPr>
            <a:r>
              <a:rPr lang="en-US" sz="4400" b="1" i="0" noProof="0" dirty="0">
                <a:solidFill>
                  <a:srgbClr val="0F0F0F"/>
                </a:solidFill>
                <a:effectLst/>
                <a:latin typeface="ui-sans-serif"/>
              </a:rPr>
              <a:t>Distinct </a:t>
            </a:r>
            <a:r>
              <a:rPr lang="en-US" sz="4400" i="0" noProof="0" dirty="0">
                <a:solidFill>
                  <a:srgbClr val="0F0F0F"/>
                </a:solidFill>
                <a:effectLst/>
                <a:latin typeface="ui-sans-serif"/>
              </a:rPr>
              <a:t>Chemotypes for Selectivity: The recurrent anchors clearly separate the two selective classes. Class 1 (delta) is driven by cyano-pyrimidine </a:t>
            </a:r>
            <a:r>
              <a:rPr lang="en-US" sz="4400" b="1" i="0" noProof="0" dirty="0">
                <a:solidFill>
                  <a:srgbClr val="0F0F0F"/>
                </a:solidFill>
                <a:effectLst/>
                <a:latin typeface="ui-sans-serif"/>
              </a:rPr>
              <a:t>hinge binders</a:t>
            </a:r>
            <a:r>
              <a:rPr lang="en-US" sz="4400" i="0" noProof="0" dirty="0">
                <a:solidFill>
                  <a:srgbClr val="0F0F0F"/>
                </a:solidFill>
                <a:effectLst/>
                <a:latin typeface="ui-sans-serif"/>
              </a:rPr>
              <a:t>, while Class 2 (gamma) is driven by </a:t>
            </a:r>
            <a:r>
              <a:rPr lang="en-US" sz="4400" i="0" noProof="0" dirty="0" err="1">
                <a:solidFill>
                  <a:srgbClr val="0F0F0F"/>
                </a:solidFill>
                <a:effectLst/>
                <a:latin typeface="ui-sans-serif"/>
              </a:rPr>
              <a:t>isoquinoline</a:t>
            </a:r>
            <a:r>
              <a:rPr lang="en-US" sz="4400" i="0" noProof="0" dirty="0">
                <a:solidFill>
                  <a:srgbClr val="0F0F0F"/>
                </a:solidFill>
                <a:effectLst/>
                <a:latin typeface="ui-sans-serif"/>
              </a:rPr>
              <a:t>/</a:t>
            </a:r>
            <a:r>
              <a:rPr lang="en-US" sz="4400" i="0" noProof="0" dirty="0" err="1">
                <a:solidFill>
                  <a:srgbClr val="0F0F0F"/>
                </a:solidFill>
                <a:effectLst/>
                <a:latin typeface="ui-sans-serif"/>
              </a:rPr>
              <a:t>dihydroisoquinolinone</a:t>
            </a:r>
            <a:r>
              <a:rPr lang="en-US" sz="4400" i="0" noProof="0" dirty="0">
                <a:solidFill>
                  <a:srgbClr val="0F0F0F"/>
                </a:solidFill>
                <a:effectLst/>
                <a:latin typeface="ui-sans-serif"/>
              </a:rPr>
              <a:t> scaffolds. This </a:t>
            </a:r>
            <a:r>
              <a:rPr lang="en-US" sz="4400" b="1" i="0" noProof="0" dirty="0">
                <a:solidFill>
                  <a:srgbClr val="0F0F0F"/>
                </a:solidFill>
                <a:effectLst/>
                <a:latin typeface="ui-sans-serif"/>
              </a:rPr>
              <a:t>aligns with known structure-activity relationships (SAR) in PI3K inhibitor design.</a:t>
            </a:r>
          </a:p>
          <a:p>
            <a:endParaRPr lang="en-US" sz="4400" i="0" noProof="0" dirty="0">
              <a:solidFill>
                <a:srgbClr val="0F0F0F"/>
              </a:solidFill>
              <a:effectLst/>
              <a:latin typeface="ui-sans-serif"/>
            </a:endParaRPr>
          </a:p>
          <a:p>
            <a:pPr marL="228600" indent="-228600">
              <a:buFont typeface="+mj-lt"/>
              <a:buAutoNum type="arabicPeriod" startAt="2"/>
            </a:pPr>
            <a:r>
              <a:rPr lang="en-US" sz="4400" b="1" i="0" noProof="0" dirty="0">
                <a:solidFill>
                  <a:srgbClr val="0F0F0F"/>
                </a:solidFill>
                <a:effectLst/>
                <a:latin typeface="ui-sans-serif"/>
              </a:rPr>
              <a:t>Hinge Region Mimicry</a:t>
            </a:r>
            <a:r>
              <a:rPr lang="en-US" sz="4400" i="0" noProof="0" dirty="0">
                <a:solidFill>
                  <a:srgbClr val="0F0F0F"/>
                </a:solidFill>
                <a:effectLst/>
                <a:latin typeface="ui-sans-serif"/>
              </a:rPr>
              <a:t>: The high anchor occurrence of cyano-pyrimidines in Class 1 confirms the model has learned the </a:t>
            </a:r>
            <a:r>
              <a:rPr lang="en-US" sz="4400" b="1" i="0" noProof="0" dirty="0">
                <a:solidFill>
                  <a:srgbClr val="0F0F0F"/>
                </a:solidFill>
                <a:effectLst/>
                <a:latin typeface="ui-sans-serif"/>
              </a:rPr>
              <a:t>canonical hydrogen-bonding motif</a:t>
            </a:r>
            <a:r>
              <a:rPr lang="en-US" sz="4400" i="0" noProof="0" dirty="0">
                <a:solidFill>
                  <a:srgbClr val="0F0F0F"/>
                </a:solidFill>
                <a:effectLst/>
                <a:latin typeface="ui-sans-serif"/>
              </a:rPr>
              <a:t> required for PI3K catalytic domain binding.</a:t>
            </a:r>
          </a:p>
          <a:p>
            <a:endParaRPr lang="en-US" sz="4400" i="0" noProof="0" dirty="0">
              <a:solidFill>
                <a:srgbClr val="0F0F0F"/>
              </a:solidFill>
              <a:effectLst/>
              <a:latin typeface="ui-sans-serif"/>
            </a:endParaRPr>
          </a:p>
          <a:p>
            <a:pPr marL="228600" indent="-228600">
              <a:buFont typeface="+mj-lt"/>
              <a:buAutoNum type="arabicPeriod" startAt="3"/>
            </a:pPr>
            <a:r>
              <a:rPr lang="en-US" sz="4400" b="1" i="0" noProof="0" dirty="0">
                <a:solidFill>
                  <a:srgbClr val="0F0F0F"/>
                </a:solidFill>
                <a:effectLst/>
                <a:latin typeface="ui-sans-serif"/>
              </a:rPr>
              <a:t>Scaffold-Driven Selectivity: </a:t>
            </a:r>
            <a:r>
              <a:rPr lang="en-US" sz="4400" i="0" noProof="0" dirty="0">
                <a:solidFill>
                  <a:srgbClr val="0F0F0F"/>
                </a:solidFill>
                <a:effectLst/>
                <a:latin typeface="ui-sans-serif"/>
              </a:rPr>
              <a:t>The dominance of bicyclic nitrogenous cores (</a:t>
            </a:r>
            <a:r>
              <a:rPr lang="en-US" sz="4400" i="0" noProof="0" dirty="0" err="1">
                <a:solidFill>
                  <a:srgbClr val="0F0F0F"/>
                </a:solidFill>
                <a:effectLst/>
                <a:latin typeface="ui-sans-serif"/>
              </a:rPr>
              <a:t>isoquinolines</a:t>
            </a:r>
            <a:r>
              <a:rPr lang="en-US" sz="4400" i="0" noProof="0" dirty="0">
                <a:solidFill>
                  <a:srgbClr val="0F0F0F"/>
                </a:solidFill>
                <a:effectLst/>
                <a:latin typeface="ui-sans-serif"/>
              </a:rPr>
              <a:t>) in Class 2 suggests that PI3K-gamma selectivity is </a:t>
            </a:r>
            <a:r>
              <a:rPr lang="en-US" sz="4400" b="1" i="0" noProof="0" dirty="0">
                <a:solidFill>
                  <a:srgbClr val="0F0F0F"/>
                </a:solidFill>
                <a:effectLst/>
                <a:latin typeface="ui-sans-serif"/>
              </a:rPr>
              <a:t>heavily scaffold-dependent</a:t>
            </a:r>
            <a:r>
              <a:rPr lang="en-US" sz="4400" i="0" noProof="0" dirty="0">
                <a:solidFill>
                  <a:srgbClr val="0F0F0F"/>
                </a:solidFill>
                <a:effectLst/>
                <a:latin typeface="ui-sans-serif"/>
              </a:rPr>
              <a:t>, likely due to subtle differences in the </a:t>
            </a:r>
            <a:r>
              <a:rPr lang="en-US" sz="4400" b="1" i="0" noProof="0" dirty="0">
                <a:solidFill>
                  <a:srgbClr val="0F0F0F"/>
                </a:solidFill>
                <a:effectLst/>
                <a:latin typeface="ui-sans-serif"/>
              </a:rPr>
              <a:t>gatekeeper residue </a:t>
            </a:r>
            <a:r>
              <a:rPr lang="en-US" sz="4400" i="0" noProof="0" dirty="0">
                <a:solidFill>
                  <a:srgbClr val="0F0F0F"/>
                </a:solidFill>
                <a:effectLst/>
                <a:latin typeface="ui-sans-serif"/>
              </a:rPr>
              <a:t>or </a:t>
            </a:r>
            <a:r>
              <a:rPr lang="en-US" sz="4400" b="1" i="0" noProof="0" dirty="0">
                <a:solidFill>
                  <a:srgbClr val="0F0F0F"/>
                </a:solidFill>
                <a:effectLst/>
                <a:latin typeface="ui-sans-serif"/>
              </a:rPr>
              <a:t>allosteric pocket topology </a:t>
            </a:r>
            <a:r>
              <a:rPr lang="en-US" sz="4400" i="0" noProof="0" dirty="0">
                <a:solidFill>
                  <a:srgbClr val="0F0F0F"/>
                </a:solidFill>
                <a:effectLst/>
                <a:latin typeface="ui-sans-serif"/>
              </a:rPr>
              <a:t>compared to PI3K-delta.</a:t>
            </a:r>
            <a:endParaRPr lang="en-US" sz="4400" noProof="0" dirty="0"/>
          </a:p>
        </p:txBody>
      </p:sp>
      <p:sp>
        <p:nvSpPr>
          <p:cNvPr id="80" name="TextBox 79">
            <a:extLst>
              <a:ext uri="{FF2B5EF4-FFF2-40B4-BE49-F238E27FC236}">
                <a16:creationId xmlns:a16="http://schemas.microsoft.com/office/drawing/2014/main" id="{4F75911C-6BD0-922D-B821-7CE96BED0CA3}"/>
              </a:ext>
            </a:extLst>
          </p:cNvPr>
          <p:cNvSpPr txBox="1"/>
          <p:nvPr/>
        </p:nvSpPr>
        <p:spPr>
          <a:xfrm>
            <a:off x="17784949" y="40889572"/>
            <a:ext cx="17157371" cy="923330"/>
          </a:xfrm>
          <a:prstGeom prst="rect">
            <a:avLst/>
          </a:prstGeom>
          <a:noFill/>
        </p:spPr>
        <p:txBody>
          <a:bodyPr wrap="square">
            <a:spAutoFit/>
          </a:bodyPr>
          <a:lstStyle/>
          <a:p>
            <a:pPr algn="ctr"/>
            <a:r>
              <a:rPr lang="en-US" sz="5400" b="1" noProof="0" dirty="0">
                <a:solidFill>
                  <a:srgbClr val="0F0F0F"/>
                </a:solidFill>
                <a:latin typeface="ui-sans-serif"/>
              </a:rPr>
              <a:t>Chemical insights &amp; discussion</a:t>
            </a:r>
            <a:endParaRPr lang="en-US" sz="5400" b="1" i="0" noProof="0" dirty="0">
              <a:solidFill>
                <a:srgbClr val="0F0F0F"/>
              </a:solidFill>
              <a:effectLst/>
              <a:latin typeface="ui-sans-serif"/>
            </a:endParaRPr>
          </a:p>
        </p:txBody>
      </p:sp>
      <p:sp>
        <p:nvSpPr>
          <p:cNvPr id="81" name="Rectangle 80">
            <a:extLst>
              <a:ext uri="{FF2B5EF4-FFF2-40B4-BE49-F238E27FC236}">
                <a16:creationId xmlns:a16="http://schemas.microsoft.com/office/drawing/2014/main" id="{72807964-5BD9-B45A-64B0-2645DF88EB3B}"/>
              </a:ext>
            </a:extLst>
          </p:cNvPr>
          <p:cNvSpPr/>
          <p:nvPr/>
        </p:nvSpPr>
        <p:spPr>
          <a:xfrm>
            <a:off x="12044361" y="49996814"/>
            <a:ext cx="2414589" cy="576217"/>
          </a:xfrm>
          <a:prstGeom prst="rect">
            <a:avLst/>
          </a:prstGeom>
          <a:solidFill>
            <a:srgbClr val="A6CAE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2" name="TextBox 81">
            <a:extLst>
              <a:ext uri="{FF2B5EF4-FFF2-40B4-BE49-F238E27FC236}">
                <a16:creationId xmlns:a16="http://schemas.microsoft.com/office/drawing/2014/main" id="{EACA069E-8CED-5E8A-69B1-E9F4FC24041A}"/>
              </a:ext>
            </a:extLst>
          </p:cNvPr>
          <p:cNvSpPr txBox="1"/>
          <p:nvPr/>
        </p:nvSpPr>
        <p:spPr>
          <a:xfrm>
            <a:off x="13691175" y="49777091"/>
            <a:ext cx="6199523" cy="1015663"/>
          </a:xfrm>
          <a:prstGeom prst="rect">
            <a:avLst/>
          </a:prstGeom>
          <a:noFill/>
        </p:spPr>
        <p:txBody>
          <a:bodyPr wrap="square" rtlCol="0">
            <a:spAutoFit/>
          </a:bodyPr>
          <a:lstStyle/>
          <a:p>
            <a:pPr algn="ctr"/>
            <a:r>
              <a:rPr lang="en-US" sz="6000" noProof="0" dirty="0"/>
              <a:t>User prompt</a:t>
            </a:r>
          </a:p>
        </p:txBody>
      </p:sp>
      <p:sp>
        <p:nvSpPr>
          <p:cNvPr id="83" name="Rectangle 82">
            <a:extLst>
              <a:ext uri="{FF2B5EF4-FFF2-40B4-BE49-F238E27FC236}">
                <a16:creationId xmlns:a16="http://schemas.microsoft.com/office/drawing/2014/main" id="{083E7B6A-0D88-EE7A-862D-CD52DE210854}"/>
              </a:ext>
            </a:extLst>
          </p:cNvPr>
          <p:cNvSpPr/>
          <p:nvPr/>
        </p:nvSpPr>
        <p:spPr>
          <a:xfrm>
            <a:off x="19563794" y="49996814"/>
            <a:ext cx="2414589" cy="57621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4" name="TextBox 83">
            <a:extLst>
              <a:ext uri="{FF2B5EF4-FFF2-40B4-BE49-F238E27FC236}">
                <a16:creationId xmlns:a16="http://schemas.microsoft.com/office/drawing/2014/main" id="{358AE044-1305-34FC-BBC0-450EF8C6264C}"/>
              </a:ext>
            </a:extLst>
          </p:cNvPr>
          <p:cNvSpPr txBox="1"/>
          <p:nvPr/>
        </p:nvSpPr>
        <p:spPr>
          <a:xfrm>
            <a:off x="21704779" y="49777091"/>
            <a:ext cx="8218539" cy="1015663"/>
          </a:xfrm>
          <a:prstGeom prst="rect">
            <a:avLst/>
          </a:prstGeom>
          <a:noFill/>
        </p:spPr>
        <p:txBody>
          <a:bodyPr wrap="square" rtlCol="0">
            <a:spAutoFit/>
          </a:bodyPr>
          <a:lstStyle/>
          <a:p>
            <a:pPr algn="ctr"/>
            <a:r>
              <a:rPr lang="en-US" sz="6000" noProof="0" dirty="0" err="1"/>
              <a:t>ChemicHAL</a:t>
            </a:r>
            <a:r>
              <a:rPr lang="en-US" sz="6000" noProof="0" dirty="0"/>
              <a:t> response</a:t>
            </a:r>
          </a:p>
        </p:txBody>
      </p:sp>
      <p:sp>
        <p:nvSpPr>
          <p:cNvPr id="86" name="Rectangle 85">
            <a:extLst>
              <a:ext uri="{FF2B5EF4-FFF2-40B4-BE49-F238E27FC236}">
                <a16:creationId xmlns:a16="http://schemas.microsoft.com/office/drawing/2014/main" id="{350C722C-59C7-EC1B-EC99-E1777E1494CE}"/>
              </a:ext>
            </a:extLst>
          </p:cNvPr>
          <p:cNvSpPr/>
          <p:nvPr/>
        </p:nvSpPr>
        <p:spPr>
          <a:xfrm>
            <a:off x="29883577" y="49996814"/>
            <a:ext cx="2414589" cy="576217"/>
          </a:xfrm>
          <a:prstGeom prst="rect">
            <a:avLst/>
          </a:prstGeom>
          <a:solidFill>
            <a:srgbClr val="B4E5A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7" name="TextBox 86">
            <a:extLst>
              <a:ext uri="{FF2B5EF4-FFF2-40B4-BE49-F238E27FC236}">
                <a16:creationId xmlns:a16="http://schemas.microsoft.com/office/drawing/2014/main" id="{24FCF701-8B21-25B2-2AE4-BF962FF75654}"/>
              </a:ext>
            </a:extLst>
          </p:cNvPr>
          <p:cNvSpPr txBox="1"/>
          <p:nvPr/>
        </p:nvSpPr>
        <p:spPr>
          <a:xfrm>
            <a:off x="32541055" y="49777091"/>
            <a:ext cx="8218539" cy="1015663"/>
          </a:xfrm>
          <a:prstGeom prst="rect">
            <a:avLst/>
          </a:prstGeom>
          <a:noFill/>
        </p:spPr>
        <p:txBody>
          <a:bodyPr wrap="square" rtlCol="0">
            <a:spAutoFit/>
          </a:bodyPr>
          <a:lstStyle/>
          <a:p>
            <a:pPr algn="ctr"/>
            <a:r>
              <a:rPr lang="en-US" sz="6000" noProof="0" dirty="0" err="1"/>
              <a:t>ChemicHAL</a:t>
            </a:r>
            <a:r>
              <a:rPr lang="en-US" sz="6000" noProof="0" dirty="0"/>
              <a:t> discussion</a:t>
            </a:r>
          </a:p>
        </p:txBody>
      </p:sp>
    </p:spTree>
    <p:extLst>
      <p:ext uri="{BB962C8B-B14F-4D97-AF65-F5344CB8AC3E}">
        <p14:creationId xmlns:p14="http://schemas.microsoft.com/office/powerpoint/2010/main" val="36470945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5" name="Picture 24" descr="A diagram of a confusion matrix&#10;&#10;AI-generated content may be incorrect.">
            <a:extLst>
              <a:ext uri="{FF2B5EF4-FFF2-40B4-BE49-F238E27FC236}">
                <a16:creationId xmlns:a16="http://schemas.microsoft.com/office/drawing/2014/main" id="{35B53DDB-EACD-148B-0EA7-FF3D0B7D55BA}"/>
              </a:ext>
            </a:extLst>
          </p:cNvPr>
          <p:cNvPicPr>
            <a:picLocks noChangeAspect="1"/>
          </p:cNvPicPr>
          <p:nvPr/>
        </p:nvPicPr>
        <p:blipFill>
          <a:blip r:embed="rId2">
            <a:extLst>
              <a:ext uri="{28A0092B-C50C-407E-A947-70E740481C1C}">
                <a14:useLocalDpi xmlns:a14="http://schemas.microsoft.com/office/drawing/2010/main" val="0"/>
              </a:ext>
            </a:extLst>
          </a:blip>
          <a:srcRect r="14943"/>
          <a:stretch/>
        </p:blipFill>
        <p:spPr>
          <a:xfrm>
            <a:off x="693492" y="19461184"/>
            <a:ext cx="7978651" cy="8273962"/>
          </a:xfrm>
          <a:prstGeom prst="rect">
            <a:avLst/>
          </a:prstGeom>
        </p:spPr>
      </p:pic>
      <p:sp>
        <p:nvSpPr>
          <p:cNvPr id="28" name="Rectangle: Rounded Corners 27">
            <a:extLst>
              <a:ext uri="{FF2B5EF4-FFF2-40B4-BE49-F238E27FC236}">
                <a16:creationId xmlns:a16="http://schemas.microsoft.com/office/drawing/2014/main" id="{A8D94A47-E16E-5FA6-0A1F-80756C21A4F7}"/>
              </a:ext>
            </a:extLst>
          </p:cNvPr>
          <p:cNvSpPr/>
          <p:nvPr/>
        </p:nvSpPr>
        <p:spPr>
          <a:xfrm>
            <a:off x="693491" y="18597830"/>
            <a:ext cx="22127025" cy="1595313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Rectangle: Rounded Corners 5">
            <a:extLst>
              <a:ext uri="{FF2B5EF4-FFF2-40B4-BE49-F238E27FC236}">
                <a16:creationId xmlns:a16="http://schemas.microsoft.com/office/drawing/2014/main" id="{9EB25CD5-A017-BD2B-F176-3CA388103295}"/>
              </a:ext>
            </a:extLst>
          </p:cNvPr>
          <p:cNvSpPr/>
          <p:nvPr/>
        </p:nvSpPr>
        <p:spPr>
          <a:xfrm>
            <a:off x="1633447" y="8198389"/>
            <a:ext cx="17246113" cy="6270664"/>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sz="4400" noProof="0" dirty="0">
              <a:solidFill>
                <a:schemeClr val="tx1"/>
              </a:solidFill>
            </a:endParaRPr>
          </a:p>
          <a:p>
            <a:pPr algn="just"/>
            <a:r>
              <a:rPr lang="en-US" sz="4400" noProof="0" dirty="0">
                <a:solidFill>
                  <a:schemeClr val="tx1"/>
                </a:solidFill>
              </a:rPr>
              <a:t>You are running a reproducibility study for compound selectivity prediction. The goal is to train a Balanced Random Forest Classifier to distinguish PI3K-delta (UniProt: O00329) vs PI3K-gamma (UniProt:  P48736) selective compounds, evaluate its performance, and identify recurrent molecular anchor fragments that drive the model's correct predictions for each selective class (class 1 &amp; 2) and discuss the chemical insight gained</a:t>
            </a:r>
            <a:r>
              <a:rPr lang="en-US" sz="5400" noProof="0" dirty="0">
                <a:solidFill>
                  <a:schemeClr val="tx1"/>
                </a:solidFill>
              </a:rPr>
              <a:t>.</a:t>
            </a:r>
          </a:p>
          <a:p>
            <a:pPr algn="ctr"/>
            <a:endParaRPr lang="en-US" noProof="0" dirty="0"/>
          </a:p>
        </p:txBody>
      </p:sp>
      <p:pic>
        <p:nvPicPr>
          <p:cNvPr id="7" name="Graphic 6" descr="Customer review with solid fill">
            <a:extLst>
              <a:ext uri="{FF2B5EF4-FFF2-40B4-BE49-F238E27FC236}">
                <a16:creationId xmlns:a16="http://schemas.microsoft.com/office/drawing/2014/main" id="{D7B0435D-F7B8-934A-EEAB-9AFE4BFF1ED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856328" y="5398038"/>
            <a:ext cx="2800350" cy="2800350"/>
          </a:xfrm>
          <a:prstGeom prst="rect">
            <a:avLst/>
          </a:prstGeom>
        </p:spPr>
      </p:pic>
      <p:pic>
        <p:nvPicPr>
          <p:cNvPr id="11" name="Graphic 10" descr="Tools with solid fill">
            <a:extLst>
              <a:ext uri="{FF2B5EF4-FFF2-40B4-BE49-F238E27FC236}">
                <a16:creationId xmlns:a16="http://schemas.microsoft.com/office/drawing/2014/main" id="{92D0C0C2-A6A2-3FAB-626E-69F6C32225E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2037765" y="6360459"/>
            <a:ext cx="2378678" cy="2378678"/>
          </a:xfrm>
          <a:prstGeom prst="rect">
            <a:avLst/>
          </a:prstGeom>
        </p:spPr>
      </p:pic>
      <p:sp>
        <p:nvSpPr>
          <p:cNvPr id="14" name="Rectangle: Rounded Corners 13">
            <a:extLst>
              <a:ext uri="{FF2B5EF4-FFF2-40B4-BE49-F238E27FC236}">
                <a16:creationId xmlns:a16="http://schemas.microsoft.com/office/drawing/2014/main" id="{DBF4675B-24DA-ECE6-C51C-65069789A359}"/>
              </a:ext>
            </a:extLst>
          </p:cNvPr>
          <p:cNvSpPr/>
          <p:nvPr/>
        </p:nvSpPr>
        <p:spPr>
          <a:xfrm>
            <a:off x="28854274" y="8802264"/>
            <a:ext cx="9273325" cy="5165792"/>
          </a:xfrm>
          <a:prstGeom prst="round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857250" indent="-857250">
              <a:buFont typeface="Arial" panose="020B0604020202020204" pitchFamily="34" charset="0"/>
              <a:buChar char="•"/>
            </a:pPr>
            <a:r>
              <a:rPr lang="en-US" sz="4400" noProof="0" dirty="0">
                <a:solidFill>
                  <a:schemeClr val="tx1"/>
                </a:solidFill>
              </a:rPr>
              <a:t>Find dataset</a:t>
            </a:r>
          </a:p>
          <a:p>
            <a:pPr marL="857250" indent="-857250">
              <a:buFont typeface="Arial" panose="020B0604020202020204" pitchFamily="34" charset="0"/>
              <a:buChar char="•"/>
            </a:pPr>
            <a:r>
              <a:rPr lang="en-US" sz="4400" noProof="0" dirty="0">
                <a:solidFill>
                  <a:schemeClr val="tx1"/>
                </a:solidFill>
              </a:rPr>
              <a:t>Load dataset</a:t>
            </a:r>
          </a:p>
          <a:p>
            <a:pPr marL="857250" indent="-857250">
              <a:buFont typeface="Arial" panose="020B0604020202020204" pitchFamily="34" charset="0"/>
              <a:buChar char="•"/>
            </a:pPr>
            <a:r>
              <a:rPr lang="en-US" sz="4400" noProof="0" dirty="0">
                <a:solidFill>
                  <a:schemeClr val="tx1"/>
                </a:solidFill>
              </a:rPr>
              <a:t>Compute features</a:t>
            </a:r>
          </a:p>
          <a:p>
            <a:pPr marL="857250" indent="-857250">
              <a:buFont typeface="Arial" panose="020B0604020202020204" pitchFamily="34" charset="0"/>
              <a:buChar char="•"/>
            </a:pPr>
            <a:r>
              <a:rPr lang="en-US" sz="4400" noProof="0" dirty="0">
                <a:solidFill>
                  <a:schemeClr val="tx1"/>
                </a:solidFill>
              </a:rPr>
              <a:t>Split dataset</a:t>
            </a:r>
          </a:p>
          <a:p>
            <a:pPr marL="857250" indent="-857250">
              <a:buFont typeface="Arial" panose="020B0604020202020204" pitchFamily="34" charset="0"/>
              <a:buChar char="•"/>
            </a:pPr>
            <a:r>
              <a:rPr lang="en-US" sz="4400" noProof="0" dirty="0">
                <a:solidFill>
                  <a:schemeClr val="tx1"/>
                </a:solidFill>
              </a:rPr>
              <a:t>Train model</a:t>
            </a:r>
          </a:p>
          <a:p>
            <a:pPr marL="857250" indent="-857250">
              <a:buFont typeface="Arial" panose="020B0604020202020204" pitchFamily="34" charset="0"/>
              <a:buChar char="•"/>
            </a:pPr>
            <a:r>
              <a:rPr lang="en-US" sz="4400" noProof="0" dirty="0">
                <a:solidFill>
                  <a:schemeClr val="tx1"/>
                </a:solidFill>
              </a:rPr>
              <a:t>Plot classification results</a:t>
            </a:r>
          </a:p>
          <a:p>
            <a:pPr marL="857250" indent="-857250">
              <a:buFont typeface="Arial" panose="020B0604020202020204" pitchFamily="34" charset="0"/>
              <a:buChar char="•"/>
            </a:pPr>
            <a:r>
              <a:rPr lang="en-US" sz="4400" noProof="0" dirty="0">
                <a:solidFill>
                  <a:schemeClr val="tx1"/>
                </a:solidFill>
              </a:rPr>
              <a:t>Identify recurrent anchor rules</a:t>
            </a:r>
          </a:p>
          <a:p>
            <a:pPr algn="ctr"/>
            <a:endParaRPr lang="en-US" noProof="0" dirty="0"/>
          </a:p>
        </p:txBody>
      </p:sp>
      <p:pic>
        <p:nvPicPr>
          <p:cNvPr id="20" name="Graphic 19" descr="Customer review with solid fill">
            <a:extLst>
              <a:ext uri="{FF2B5EF4-FFF2-40B4-BE49-F238E27FC236}">
                <a16:creationId xmlns:a16="http://schemas.microsoft.com/office/drawing/2014/main" id="{CB6AEA3E-2CED-76CE-CC55-238DCE87A38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65147" y="43423310"/>
            <a:ext cx="3110003" cy="3110003"/>
          </a:xfrm>
          <a:prstGeom prst="rect">
            <a:avLst/>
          </a:prstGeom>
        </p:spPr>
      </p:pic>
      <p:pic>
        <p:nvPicPr>
          <p:cNvPr id="21" name="Graphic 20" descr="Tools with solid fill">
            <a:extLst>
              <a:ext uri="{FF2B5EF4-FFF2-40B4-BE49-F238E27FC236}">
                <a16:creationId xmlns:a16="http://schemas.microsoft.com/office/drawing/2014/main" id="{30357586-D891-7B9B-5CE7-CEE2D87E838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33447" y="47095411"/>
            <a:ext cx="2641703" cy="2641703"/>
          </a:xfrm>
          <a:prstGeom prst="rect">
            <a:avLst/>
          </a:prstGeom>
        </p:spPr>
      </p:pic>
      <p:sp>
        <p:nvSpPr>
          <p:cNvPr id="22" name="TextBox 21">
            <a:extLst>
              <a:ext uri="{FF2B5EF4-FFF2-40B4-BE49-F238E27FC236}">
                <a16:creationId xmlns:a16="http://schemas.microsoft.com/office/drawing/2014/main" id="{9AD7EEF7-AC29-6E82-9961-99B7A43B828C}"/>
              </a:ext>
            </a:extLst>
          </p:cNvPr>
          <p:cNvSpPr txBox="1"/>
          <p:nvPr/>
        </p:nvSpPr>
        <p:spPr>
          <a:xfrm>
            <a:off x="5743575" y="44378146"/>
            <a:ext cx="14116050" cy="1200329"/>
          </a:xfrm>
          <a:prstGeom prst="rect">
            <a:avLst/>
          </a:prstGeom>
          <a:noFill/>
        </p:spPr>
        <p:txBody>
          <a:bodyPr wrap="square" rtlCol="0">
            <a:spAutoFit/>
          </a:bodyPr>
          <a:lstStyle/>
          <a:p>
            <a:r>
              <a:rPr lang="en-US" sz="7200" noProof="0" dirty="0"/>
              <a:t>User prompt to </a:t>
            </a:r>
            <a:r>
              <a:rPr lang="en-US" sz="7200" noProof="0" dirty="0" err="1"/>
              <a:t>ChemicHAL</a:t>
            </a:r>
            <a:endParaRPr lang="en-US" sz="7200" noProof="0" dirty="0"/>
          </a:p>
        </p:txBody>
      </p:sp>
      <p:sp>
        <p:nvSpPr>
          <p:cNvPr id="23" name="TextBox 22">
            <a:extLst>
              <a:ext uri="{FF2B5EF4-FFF2-40B4-BE49-F238E27FC236}">
                <a16:creationId xmlns:a16="http://schemas.microsoft.com/office/drawing/2014/main" id="{79C960E6-BF83-97BE-9634-10CAB5F967F9}"/>
              </a:ext>
            </a:extLst>
          </p:cNvPr>
          <p:cNvSpPr txBox="1"/>
          <p:nvPr/>
        </p:nvSpPr>
        <p:spPr>
          <a:xfrm>
            <a:off x="5743575" y="47334044"/>
            <a:ext cx="14116050" cy="1200329"/>
          </a:xfrm>
          <a:prstGeom prst="rect">
            <a:avLst/>
          </a:prstGeom>
          <a:noFill/>
        </p:spPr>
        <p:txBody>
          <a:bodyPr wrap="square" rtlCol="0">
            <a:spAutoFit/>
          </a:bodyPr>
          <a:lstStyle/>
          <a:p>
            <a:r>
              <a:rPr lang="en-US" sz="7200" noProof="0" dirty="0" err="1"/>
              <a:t>ChemicHAL</a:t>
            </a:r>
            <a:r>
              <a:rPr lang="en-US" sz="7200" noProof="0" dirty="0"/>
              <a:t> tools called</a:t>
            </a:r>
          </a:p>
        </p:txBody>
      </p:sp>
      <p:pic>
        <p:nvPicPr>
          <p:cNvPr id="27" name="Picture 26" descr="A bar graph with numbers and text&#10;&#10;AI-generated content may be incorrect.">
            <a:extLst>
              <a:ext uri="{FF2B5EF4-FFF2-40B4-BE49-F238E27FC236}">
                <a16:creationId xmlns:a16="http://schemas.microsoft.com/office/drawing/2014/main" id="{DDA67D64-D306-A0CD-5ECD-8492A850A7F5}"/>
              </a:ext>
            </a:extLst>
          </p:cNvPr>
          <p:cNvPicPr>
            <a:picLocks noChangeAspect="1"/>
          </p:cNvPicPr>
          <p:nvPr/>
        </p:nvPicPr>
        <p:blipFill>
          <a:blip r:embed="rId7">
            <a:extLst>
              <a:ext uri="{28A0092B-C50C-407E-A947-70E740481C1C}">
                <a14:useLocalDpi xmlns:a14="http://schemas.microsoft.com/office/drawing/2010/main" val="0"/>
              </a:ext>
            </a:extLst>
          </a:blip>
          <a:srcRect r="10508" b="17689"/>
          <a:stretch/>
        </p:blipFill>
        <p:spPr>
          <a:xfrm>
            <a:off x="8463999" y="20397699"/>
            <a:ext cx="13225524" cy="6400931"/>
          </a:xfrm>
          <a:prstGeom prst="rect">
            <a:avLst/>
          </a:prstGeom>
        </p:spPr>
      </p:pic>
      <p:sp>
        <p:nvSpPr>
          <p:cNvPr id="30" name="TextBox 29">
            <a:extLst>
              <a:ext uri="{FF2B5EF4-FFF2-40B4-BE49-F238E27FC236}">
                <a16:creationId xmlns:a16="http://schemas.microsoft.com/office/drawing/2014/main" id="{5BAA39A6-DC6F-57E4-6567-4545559A0C33}"/>
              </a:ext>
            </a:extLst>
          </p:cNvPr>
          <p:cNvSpPr txBox="1"/>
          <p:nvPr/>
        </p:nvSpPr>
        <p:spPr>
          <a:xfrm>
            <a:off x="1666244" y="28261810"/>
            <a:ext cx="20023280" cy="5509200"/>
          </a:xfrm>
          <a:prstGeom prst="rect">
            <a:avLst/>
          </a:prstGeom>
          <a:noFill/>
        </p:spPr>
        <p:txBody>
          <a:bodyPr wrap="square">
            <a:spAutoFit/>
          </a:bodyPr>
          <a:lstStyle/>
          <a:p>
            <a:pPr algn="l"/>
            <a:r>
              <a:rPr lang="en-US" sz="4400" b="0" i="0" noProof="0" dirty="0">
                <a:solidFill>
                  <a:srgbClr val="0F0F0F"/>
                </a:solidFill>
                <a:effectLst/>
              </a:rPr>
              <a:t>The Balanced Random Forest model achieved strong performance on the test set:</a:t>
            </a:r>
          </a:p>
          <a:p>
            <a:pPr algn="l">
              <a:buFont typeface="Arial" panose="020B0604020202020204" pitchFamily="34" charset="0"/>
              <a:buChar char="•"/>
            </a:pPr>
            <a:r>
              <a:rPr lang="en-US" sz="4400" b="1" i="0" noProof="0" dirty="0">
                <a:solidFill>
                  <a:srgbClr val="0F0F0F"/>
                </a:solidFill>
                <a:effectLst/>
              </a:rPr>
              <a:t>Accuracy</a:t>
            </a:r>
            <a:r>
              <a:rPr lang="en-US" sz="4400" b="0" i="0" noProof="0" dirty="0">
                <a:solidFill>
                  <a:srgbClr val="0F0F0F"/>
                </a:solidFill>
                <a:effectLst/>
              </a:rPr>
              <a:t>: 89.3%</a:t>
            </a:r>
          </a:p>
          <a:p>
            <a:pPr algn="l">
              <a:buFont typeface="Arial" panose="020B0604020202020204" pitchFamily="34" charset="0"/>
              <a:buChar char="•"/>
            </a:pPr>
            <a:r>
              <a:rPr lang="en-US" sz="4400" b="1" i="0" noProof="0" dirty="0">
                <a:solidFill>
                  <a:srgbClr val="0F0F0F"/>
                </a:solidFill>
                <a:effectLst/>
              </a:rPr>
              <a:t>Balanced Accuracy</a:t>
            </a:r>
            <a:r>
              <a:rPr lang="en-US" sz="4400" b="0" i="0" noProof="0" dirty="0">
                <a:solidFill>
                  <a:srgbClr val="0F0F0F"/>
                </a:solidFill>
                <a:effectLst/>
              </a:rPr>
              <a:t>: 84.7%</a:t>
            </a:r>
          </a:p>
          <a:p>
            <a:pPr algn="l">
              <a:buFont typeface="Arial" panose="020B0604020202020204" pitchFamily="34" charset="0"/>
              <a:buChar char="•"/>
            </a:pPr>
            <a:r>
              <a:rPr lang="en-US" sz="4400" b="1" i="0" noProof="0" dirty="0">
                <a:solidFill>
                  <a:srgbClr val="0F0F0F"/>
                </a:solidFill>
                <a:effectLst/>
              </a:rPr>
              <a:t>MCC</a:t>
            </a:r>
            <a:r>
              <a:rPr lang="en-US" sz="4400" b="0" i="0" noProof="0" dirty="0">
                <a:solidFill>
                  <a:srgbClr val="0F0F0F"/>
                </a:solidFill>
                <a:effectLst/>
              </a:rPr>
              <a:t>: 0.749</a:t>
            </a:r>
          </a:p>
          <a:p>
            <a:pPr algn="l">
              <a:buFont typeface="Arial" panose="020B0604020202020204" pitchFamily="34" charset="0"/>
              <a:buChar char="•"/>
            </a:pPr>
            <a:r>
              <a:rPr lang="en-US" sz="4400" b="1" i="0" noProof="0" dirty="0">
                <a:solidFill>
                  <a:srgbClr val="0F0F0F"/>
                </a:solidFill>
                <a:effectLst/>
              </a:rPr>
              <a:t>F1 Macro</a:t>
            </a:r>
            <a:r>
              <a:rPr lang="en-US" sz="4400" b="0" i="0" noProof="0" dirty="0">
                <a:solidFill>
                  <a:srgbClr val="0F0F0F"/>
                </a:solidFill>
                <a:effectLst/>
              </a:rPr>
              <a:t>: 0.780</a:t>
            </a:r>
          </a:p>
          <a:p>
            <a:pPr algn="l"/>
            <a:r>
              <a:rPr lang="en-US" sz="4400" b="0" i="0" noProof="0" dirty="0">
                <a:solidFill>
                  <a:srgbClr val="0F0F0F"/>
                </a:solidFill>
                <a:effectLst/>
              </a:rPr>
              <a:t>Class 1 (PI3K-delta selective) and Class 2 (PI3K-gamma selective) show good separation, though Class 2 has fewer samples (15 in test set), which is typical for highly specific selectivity data.</a:t>
            </a:r>
          </a:p>
        </p:txBody>
      </p:sp>
      <p:pic>
        <p:nvPicPr>
          <p:cNvPr id="33" name="Graphic 32" descr="Subtitles with solid fill">
            <a:extLst>
              <a:ext uri="{FF2B5EF4-FFF2-40B4-BE49-F238E27FC236}">
                <a16:creationId xmlns:a16="http://schemas.microsoft.com/office/drawing/2014/main" id="{C52E7A92-5E5B-8D10-F20D-87C22621422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0030373" y="15977828"/>
            <a:ext cx="2884975" cy="2884975"/>
          </a:xfrm>
          <a:prstGeom prst="rect">
            <a:avLst/>
          </a:prstGeom>
        </p:spPr>
      </p:pic>
      <p:pic>
        <p:nvPicPr>
          <p:cNvPr id="34" name="Graphic 33" descr="Subtitles with solid fill">
            <a:extLst>
              <a:ext uri="{FF2B5EF4-FFF2-40B4-BE49-F238E27FC236}">
                <a16:creationId xmlns:a16="http://schemas.microsoft.com/office/drawing/2014/main" id="{79762F53-3216-6517-D583-06E345BC816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9859625" y="43535822"/>
            <a:ext cx="2884975" cy="2884975"/>
          </a:xfrm>
          <a:prstGeom prst="rect">
            <a:avLst/>
          </a:prstGeom>
        </p:spPr>
      </p:pic>
      <p:sp>
        <p:nvSpPr>
          <p:cNvPr id="35" name="TextBox 34">
            <a:extLst>
              <a:ext uri="{FF2B5EF4-FFF2-40B4-BE49-F238E27FC236}">
                <a16:creationId xmlns:a16="http://schemas.microsoft.com/office/drawing/2014/main" id="{7E81FB83-7547-28A2-7CD6-3C02D9F62266}"/>
              </a:ext>
            </a:extLst>
          </p:cNvPr>
          <p:cNvSpPr txBox="1"/>
          <p:nvPr/>
        </p:nvSpPr>
        <p:spPr>
          <a:xfrm>
            <a:off x="22744600" y="44372723"/>
            <a:ext cx="14116050" cy="1200329"/>
          </a:xfrm>
          <a:prstGeom prst="rect">
            <a:avLst/>
          </a:prstGeom>
          <a:noFill/>
        </p:spPr>
        <p:txBody>
          <a:bodyPr wrap="square" rtlCol="0">
            <a:spAutoFit/>
          </a:bodyPr>
          <a:lstStyle/>
          <a:p>
            <a:r>
              <a:rPr lang="en-US" sz="7200" noProof="0" dirty="0" err="1"/>
              <a:t>ChemicHAL</a:t>
            </a:r>
            <a:r>
              <a:rPr lang="en-US" sz="7200" noProof="0" dirty="0"/>
              <a:t> Response</a:t>
            </a:r>
          </a:p>
        </p:txBody>
      </p:sp>
      <p:sp>
        <p:nvSpPr>
          <p:cNvPr id="47" name="Rectangle: Rounded Corners 46">
            <a:extLst>
              <a:ext uri="{FF2B5EF4-FFF2-40B4-BE49-F238E27FC236}">
                <a16:creationId xmlns:a16="http://schemas.microsoft.com/office/drawing/2014/main" id="{F15D1001-4EDE-353E-1E12-A7E7F98D98C9}"/>
              </a:ext>
            </a:extLst>
          </p:cNvPr>
          <p:cNvSpPr/>
          <p:nvPr/>
        </p:nvSpPr>
        <p:spPr>
          <a:xfrm>
            <a:off x="24726167" y="18248251"/>
            <a:ext cx="22543477" cy="17146213"/>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50" name="Graphic 49" descr="Subtitles with solid fill">
            <a:extLst>
              <a:ext uri="{FF2B5EF4-FFF2-40B4-BE49-F238E27FC236}">
                <a16:creationId xmlns:a16="http://schemas.microsoft.com/office/drawing/2014/main" id="{5F915C69-C22F-2AA5-1B17-D827237339E2}"/>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4555417" y="15628249"/>
            <a:ext cx="2884975" cy="2884975"/>
          </a:xfrm>
          <a:prstGeom prst="rect">
            <a:avLst/>
          </a:prstGeom>
        </p:spPr>
      </p:pic>
      <p:sp>
        <p:nvSpPr>
          <p:cNvPr id="52" name="TextBox 51">
            <a:extLst>
              <a:ext uri="{FF2B5EF4-FFF2-40B4-BE49-F238E27FC236}">
                <a16:creationId xmlns:a16="http://schemas.microsoft.com/office/drawing/2014/main" id="{1CA22E51-CE03-F50F-0289-6302FC2665E4}"/>
              </a:ext>
            </a:extLst>
          </p:cNvPr>
          <p:cNvSpPr txBox="1"/>
          <p:nvPr/>
        </p:nvSpPr>
        <p:spPr>
          <a:xfrm>
            <a:off x="7072861" y="18773143"/>
            <a:ext cx="9943000" cy="923330"/>
          </a:xfrm>
          <a:prstGeom prst="rect">
            <a:avLst/>
          </a:prstGeom>
          <a:noFill/>
        </p:spPr>
        <p:txBody>
          <a:bodyPr wrap="square">
            <a:spAutoFit/>
          </a:bodyPr>
          <a:lstStyle/>
          <a:p>
            <a:pPr algn="l"/>
            <a:r>
              <a:rPr lang="en-US" sz="5400" b="1" i="0" noProof="0" dirty="0">
                <a:solidFill>
                  <a:srgbClr val="0F0F0F"/>
                </a:solidFill>
                <a:effectLst/>
                <a:latin typeface="ui-sans-serif"/>
              </a:rPr>
              <a:t>Model Performance Evaluation</a:t>
            </a:r>
          </a:p>
        </p:txBody>
      </p:sp>
      <p:sp>
        <p:nvSpPr>
          <p:cNvPr id="53" name="TextBox 52">
            <a:extLst>
              <a:ext uri="{FF2B5EF4-FFF2-40B4-BE49-F238E27FC236}">
                <a16:creationId xmlns:a16="http://schemas.microsoft.com/office/drawing/2014/main" id="{4D9CB3D1-7BFC-3386-B306-BDBBA5137ABA}"/>
              </a:ext>
            </a:extLst>
          </p:cNvPr>
          <p:cNvSpPr txBox="1"/>
          <p:nvPr/>
        </p:nvSpPr>
        <p:spPr>
          <a:xfrm>
            <a:off x="31026405" y="18410119"/>
            <a:ext cx="9943000" cy="1754326"/>
          </a:xfrm>
          <a:prstGeom prst="rect">
            <a:avLst/>
          </a:prstGeom>
          <a:noFill/>
        </p:spPr>
        <p:txBody>
          <a:bodyPr wrap="square">
            <a:spAutoFit/>
          </a:bodyPr>
          <a:lstStyle/>
          <a:p>
            <a:pPr algn="ctr"/>
            <a:r>
              <a:rPr lang="en-US" sz="5400" b="1" noProof="0" dirty="0">
                <a:solidFill>
                  <a:srgbClr val="0F0F0F"/>
                </a:solidFill>
                <a:latin typeface="ui-sans-serif"/>
              </a:rPr>
              <a:t>R</a:t>
            </a:r>
            <a:r>
              <a:rPr lang="en-US" sz="5400" b="1" i="0" noProof="0" dirty="0">
                <a:solidFill>
                  <a:srgbClr val="0F0F0F"/>
                </a:solidFill>
                <a:effectLst/>
                <a:latin typeface="ui-sans-serif"/>
              </a:rPr>
              <a:t>ecurrent Molecular Anchor Fragments (Class 1 &amp; 2)</a:t>
            </a:r>
          </a:p>
        </p:txBody>
      </p:sp>
      <p:pic>
        <p:nvPicPr>
          <p:cNvPr id="57" name="Picture 56" descr="A black and red hexagons&#10;&#10;AI-generated content may be incorrect.">
            <a:extLst>
              <a:ext uri="{FF2B5EF4-FFF2-40B4-BE49-F238E27FC236}">
                <a16:creationId xmlns:a16="http://schemas.microsoft.com/office/drawing/2014/main" id="{D31C6E93-8769-C043-E3E6-35F8E48F9A7F}"/>
              </a:ext>
            </a:extLst>
          </p:cNvPr>
          <p:cNvPicPr>
            <a:picLocks noChangeAspect="1"/>
          </p:cNvPicPr>
          <p:nvPr/>
        </p:nvPicPr>
        <p:blipFill>
          <a:blip r:embed="rId10">
            <a:extLst>
              <a:ext uri="{28A0092B-C50C-407E-A947-70E740481C1C}">
                <a14:useLocalDpi xmlns:a14="http://schemas.microsoft.com/office/drawing/2010/main" val="0"/>
              </a:ext>
            </a:extLst>
          </a:blip>
          <a:srcRect r="60622" b="25829"/>
          <a:stretch/>
        </p:blipFill>
        <p:spPr>
          <a:xfrm>
            <a:off x="25217677" y="21809773"/>
            <a:ext cx="10517536" cy="3631955"/>
          </a:xfrm>
          <a:prstGeom prst="rect">
            <a:avLst/>
          </a:prstGeom>
        </p:spPr>
      </p:pic>
      <p:pic>
        <p:nvPicPr>
          <p:cNvPr id="59" name="Picture 58" descr="A red and black molecule&#10;&#10;AI-generated content may be incorrect.">
            <a:extLst>
              <a:ext uri="{FF2B5EF4-FFF2-40B4-BE49-F238E27FC236}">
                <a16:creationId xmlns:a16="http://schemas.microsoft.com/office/drawing/2014/main" id="{FF828C6A-DA1B-1C2D-DF20-B453CD4FBA2B}"/>
              </a:ext>
            </a:extLst>
          </p:cNvPr>
          <p:cNvPicPr>
            <a:picLocks noChangeAspect="1"/>
          </p:cNvPicPr>
          <p:nvPr/>
        </p:nvPicPr>
        <p:blipFill>
          <a:blip r:embed="rId11">
            <a:extLst>
              <a:ext uri="{28A0092B-C50C-407E-A947-70E740481C1C}">
                <a14:useLocalDpi xmlns:a14="http://schemas.microsoft.com/office/drawing/2010/main" val="0"/>
              </a:ext>
            </a:extLst>
          </a:blip>
          <a:srcRect t="9899" r="60477" b="34643"/>
          <a:stretch/>
        </p:blipFill>
        <p:spPr>
          <a:xfrm>
            <a:off x="35692258" y="22170466"/>
            <a:ext cx="11314115" cy="2910568"/>
          </a:xfrm>
          <a:prstGeom prst="rect">
            <a:avLst/>
          </a:prstGeom>
        </p:spPr>
      </p:pic>
      <p:grpSp>
        <p:nvGrpSpPr>
          <p:cNvPr id="67" name="Group 66">
            <a:extLst>
              <a:ext uri="{FF2B5EF4-FFF2-40B4-BE49-F238E27FC236}">
                <a16:creationId xmlns:a16="http://schemas.microsoft.com/office/drawing/2014/main" id="{9CE13C4E-79CE-DA5C-2A96-845AEE2FBFDF}"/>
              </a:ext>
            </a:extLst>
          </p:cNvPr>
          <p:cNvGrpSpPr/>
          <p:nvPr/>
        </p:nvGrpSpPr>
        <p:grpSpPr>
          <a:xfrm>
            <a:off x="25192736" y="25365208"/>
            <a:ext cx="10567418" cy="1477328"/>
            <a:chOff x="23529200" y="26300403"/>
            <a:chExt cx="10567418" cy="1477328"/>
          </a:xfrm>
        </p:grpSpPr>
        <p:sp>
          <p:nvSpPr>
            <p:cNvPr id="58" name="TextBox 57">
              <a:extLst>
                <a:ext uri="{FF2B5EF4-FFF2-40B4-BE49-F238E27FC236}">
                  <a16:creationId xmlns:a16="http://schemas.microsoft.com/office/drawing/2014/main" id="{8572CEAB-6935-A767-5441-EE39B0CFE9A6}"/>
                </a:ext>
              </a:extLst>
            </p:cNvPr>
            <p:cNvSpPr txBox="1"/>
            <p:nvPr/>
          </p:nvSpPr>
          <p:spPr>
            <a:xfrm>
              <a:off x="23529200" y="26300403"/>
              <a:ext cx="5414457"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1</a:t>
              </a:r>
            </a:p>
            <a:p>
              <a:pPr algn="ctr"/>
              <a:r>
                <a:rPr lang="en-US" sz="3000" b="1" noProof="0" dirty="0">
                  <a:solidFill>
                    <a:srgbClr val="0F0F0F"/>
                  </a:solidFill>
                  <a:latin typeface="ui-sans-serif"/>
                </a:rPr>
                <a:t>Anchor occurrence: 0.26</a:t>
              </a:r>
            </a:p>
            <a:p>
              <a:pPr algn="ctr"/>
              <a:r>
                <a:rPr lang="en-US" sz="3000" b="1" noProof="0" dirty="0">
                  <a:solidFill>
                    <a:srgbClr val="0F0F0F"/>
                  </a:solidFill>
                  <a:latin typeface="ui-sans-serif"/>
                </a:rPr>
                <a:t>Substructure occurrence: 0.26</a:t>
              </a:r>
              <a:endParaRPr lang="en-US" sz="3000" noProof="0" dirty="0"/>
            </a:p>
          </p:txBody>
        </p:sp>
        <p:sp>
          <p:nvSpPr>
            <p:cNvPr id="60" name="TextBox 59">
              <a:extLst>
                <a:ext uri="{FF2B5EF4-FFF2-40B4-BE49-F238E27FC236}">
                  <a16:creationId xmlns:a16="http://schemas.microsoft.com/office/drawing/2014/main" id="{CB3D1D01-6B66-4EBF-BA63-15E4A614E261}"/>
                </a:ext>
              </a:extLst>
            </p:cNvPr>
            <p:cNvSpPr txBox="1"/>
            <p:nvPr/>
          </p:nvSpPr>
          <p:spPr>
            <a:xfrm>
              <a:off x="28643452" y="26300403"/>
              <a:ext cx="5453166"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2</a:t>
              </a:r>
            </a:p>
            <a:p>
              <a:pPr algn="ctr"/>
              <a:r>
                <a:rPr lang="en-US" sz="3000" b="1" noProof="0" dirty="0">
                  <a:solidFill>
                    <a:srgbClr val="0F0F0F"/>
                  </a:solidFill>
                  <a:latin typeface="ui-sans-serif"/>
                </a:rPr>
                <a:t>Anchor occurrence: 0.25</a:t>
              </a:r>
            </a:p>
            <a:p>
              <a:pPr algn="ctr"/>
              <a:r>
                <a:rPr lang="en-US" sz="3000" b="1" noProof="0" dirty="0">
                  <a:solidFill>
                    <a:srgbClr val="0F0F0F"/>
                  </a:solidFill>
                  <a:latin typeface="ui-sans-serif"/>
                </a:rPr>
                <a:t>Substructure occurrence: 0.25</a:t>
              </a:r>
              <a:endParaRPr lang="en-US" sz="3000" noProof="0" dirty="0"/>
            </a:p>
          </p:txBody>
        </p:sp>
      </p:grpSp>
      <p:grpSp>
        <p:nvGrpSpPr>
          <p:cNvPr id="70" name="Group 69">
            <a:extLst>
              <a:ext uri="{FF2B5EF4-FFF2-40B4-BE49-F238E27FC236}">
                <a16:creationId xmlns:a16="http://schemas.microsoft.com/office/drawing/2014/main" id="{821A5C7F-5F5F-A4FE-1C50-2D26291CDC2B}"/>
              </a:ext>
            </a:extLst>
          </p:cNvPr>
          <p:cNvGrpSpPr/>
          <p:nvPr/>
        </p:nvGrpSpPr>
        <p:grpSpPr>
          <a:xfrm>
            <a:off x="35937642" y="25365208"/>
            <a:ext cx="10823347" cy="1477328"/>
            <a:chOff x="34281406" y="25702526"/>
            <a:chExt cx="10823347" cy="1477328"/>
          </a:xfrm>
        </p:grpSpPr>
        <p:sp>
          <p:nvSpPr>
            <p:cNvPr id="61" name="TextBox 60">
              <a:extLst>
                <a:ext uri="{FF2B5EF4-FFF2-40B4-BE49-F238E27FC236}">
                  <a16:creationId xmlns:a16="http://schemas.microsoft.com/office/drawing/2014/main" id="{A7D21A72-9214-4047-1740-F895FF59E1E6}"/>
                </a:ext>
              </a:extLst>
            </p:cNvPr>
            <p:cNvSpPr txBox="1"/>
            <p:nvPr/>
          </p:nvSpPr>
          <p:spPr>
            <a:xfrm>
              <a:off x="34281406" y="25702526"/>
              <a:ext cx="5323362"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1</a:t>
              </a:r>
            </a:p>
            <a:p>
              <a:pPr algn="ctr"/>
              <a:r>
                <a:rPr lang="en-US" sz="3000" b="1" noProof="0" dirty="0">
                  <a:solidFill>
                    <a:srgbClr val="0F0F0F"/>
                  </a:solidFill>
                  <a:latin typeface="ui-sans-serif"/>
                </a:rPr>
                <a:t>Anchor occurrence: 0.36</a:t>
              </a:r>
            </a:p>
            <a:p>
              <a:pPr algn="ctr"/>
              <a:r>
                <a:rPr lang="en-US" sz="3000" b="1" noProof="0" dirty="0">
                  <a:solidFill>
                    <a:srgbClr val="0F0F0F"/>
                  </a:solidFill>
                  <a:latin typeface="ui-sans-serif"/>
                </a:rPr>
                <a:t>Substructure occurrence: 0.82</a:t>
              </a:r>
              <a:endParaRPr lang="en-US" sz="3000" noProof="0" dirty="0"/>
            </a:p>
          </p:txBody>
        </p:sp>
        <p:sp>
          <p:nvSpPr>
            <p:cNvPr id="62" name="TextBox 61">
              <a:extLst>
                <a:ext uri="{FF2B5EF4-FFF2-40B4-BE49-F238E27FC236}">
                  <a16:creationId xmlns:a16="http://schemas.microsoft.com/office/drawing/2014/main" id="{9062DABE-6143-0CF6-47EE-82DED9712869}"/>
                </a:ext>
              </a:extLst>
            </p:cNvPr>
            <p:cNvSpPr txBox="1"/>
            <p:nvPr/>
          </p:nvSpPr>
          <p:spPr>
            <a:xfrm>
              <a:off x="39787986" y="25702526"/>
              <a:ext cx="5316767"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2</a:t>
              </a:r>
            </a:p>
            <a:p>
              <a:pPr algn="ctr"/>
              <a:r>
                <a:rPr lang="en-US" sz="3000" b="1" noProof="0" dirty="0">
                  <a:solidFill>
                    <a:srgbClr val="0F0F0F"/>
                  </a:solidFill>
                  <a:latin typeface="ui-sans-serif"/>
                </a:rPr>
                <a:t>Anchor occurrence: 0.18</a:t>
              </a:r>
            </a:p>
            <a:p>
              <a:pPr algn="ctr"/>
              <a:r>
                <a:rPr lang="en-US" sz="3000" b="1" noProof="0" dirty="0">
                  <a:solidFill>
                    <a:srgbClr val="0F0F0F"/>
                  </a:solidFill>
                  <a:latin typeface="ui-sans-serif"/>
                </a:rPr>
                <a:t>Substructure occurrence: 0.36</a:t>
              </a:r>
              <a:endParaRPr lang="en-US" sz="3000" noProof="0" dirty="0"/>
            </a:p>
          </p:txBody>
        </p:sp>
      </p:grpSp>
      <p:sp>
        <p:nvSpPr>
          <p:cNvPr id="63" name="TextBox 62">
            <a:extLst>
              <a:ext uri="{FF2B5EF4-FFF2-40B4-BE49-F238E27FC236}">
                <a16:creationId xmlns:a16="http://schemas.microsoft.com/office/drawing/2014/main" id="{6A5C72D7-D885-252B-9D5B-8FCC3218E83B}"/>
              </a:ext>
            </a:extLst>
          </p:cNvPr>
          <p:cNvSpPr txBox="1"/>
          <p:nvPr/>
        </p:nvSpPr>
        <p:spPr>
          <a:xfrm>
            <a:off x="27174716" y="20760188"/>
            <a:ext cx="6603459" cy="923330"/>
          </a:xfrm>
          <a:prstGeom prst="rect">
            <a:avLst/>
          </a:prstGeom>
          <a:noFill/>
        </p:spPr>
        <p:txBody>
          <a:bodyPr wrap="square" rtlCol="0">
            <a:spAutoFit/>
          </a:bodyPr>
          <a:lstStyle/>
          <a:p>
            <a:pPr algn="ctr"/>
            <a:r>
              <a:rPr lang="en-US" sz="5400" b="1" noProof="0" dirty="0"/>
              <a:t>Class </a:t>
            </a:r>
            <a:r>
              <a:rPr lang="en-US" sz="5400" b="1" i="0" noProof="0" dirty="0">
                <a:solidFill>
                  <a:srgbClr val="0F0F0F"/>
                </a:solidFill>
                <a:effectLst/>
                <a:latin typeface="ui-sans-serif"/>
              </a:rPr>
              <a:t>PI3K-delta</a:t>
            </a:r>
            <a:endParaRPr lang="en-US" sz="5400" b="1" noProof="0" dirty="0"/>
          </a:p>
        </p:txBody>
      </p:sp>
      <p:sp>
        <p:nvSpPr>
          <p:cNvPr id="64" name="TextBox 63">
            <a:extLst>
              <a:ext uri="{FF2B5EF4-FFF2-40B4-BE49-F238E27FC236}">
                <a16:creationId xmlns:a16="http://schemas.microsoft.com/office/drawing/2014/main" id="{375CDCAE-E997-6AB6-EE31-7EEA0E2E635E}"/>
              </a:ext>
            </a:extLst>
          </p:cNvPr>
          <p:cNvSpPr txBox="1"/>
          <p:nvPr/>
        </p:nvSpPr>
        <p:spPr>
          <a:xfrm>
            <a:off x="38194187" y="20760188"/>
            <a:ext cx="6310257" cy="923330"/>
          </a:xfrm>
          <a:prstGeom prst="rect">
            <a:avLst/>
          </a:prstGeom>
          <a:noFill/>
        </p:spPr>
        <p:txBody>
          <a:bodyPr wrap="square" rtlCol="0">
            <a:spAutoFit/>
          </a:bodyPr>
          <a:lstStyle/>
          <a:p>
            <a:pPr algn="ctr"/>
            <a:r>
              <a:rPr lang="en-US" sz="5400" b="1" noProof="0" dirty="0"/>
              <a:t>Class </a:t>
            </a:r>
            <a:r>
              <a:rPr lang="en-US" sz="5400" b="1" i="0" noProof="0" dirty="0">
                <a:solidFill>
                  <a:srgbClr val="0F0F0F"/>
                </a:solidFill>
                <a:effectLst/>
                <a:latin typeface="ui-sans-serif"/>
              </a:rPr>
              <a:t>PI3K-gamma</a:t>
            </a:r>
            <a:endParaRPr lang="en-US" sz="5400" b="1" noProof="0" dirty="0"/>
          </a:p>
        </p:txBody>
      </p:sp>
      <p:sp>
        <p:nvSpPr>
          <p:cNvPr id="65" name="TextBox 64">
            <a:extLst>
              <a:ext uri="{FF2B5EF4-FFF2-40B4-BE49-F238E27FC236}">
                <a16:creationId xmlns:a16="http://schemas.microsoft.com/office/drawing/2014/main" id="{F275191B-4583-8146-851D-EA0FC0A427D2}"/>
              </a:ext>
            </a:extLst>
          </p:cNvPr>
          <p:cNvSpPr txBox="1"/>
          <p:nvPr/>
        </p:nvSpPr>
        <p:spPr>
          <a:xfrm>
            <a:off x="36073227" y="27126710"/>
            <a:ext cx="10552176" cy="6863417"/>
          </a:xfrm>
          <a:prstGeom prst="rect">
            <a:avLst/>
          </a:prstGeom>
          <a:noFill/>
        </p:spPr>
        <p:txBody>
          <a:bodyPr wrap="square" rtlCol="0">
            <a:spAutoFit/>
          </a:bodyPr>
          <a:lstStyle/>
          <a:p>
            <a:pPr marL="228600" indent="-228600" algn="just">
              <a:buFont typeface="+mj-lt"/>
              <a:buAutoNum type="arabicPeriod"/>
            </a:pPr>
            <a:r>
              <a:rPr lang="en-US" sz="4400" noProof="0" dirty="0"/>
              <a:t>[*]c1ccn2nc(N)c([*])c2n1: Occurs in 36.4% of anchors. A </a:t>
            </a:r>
            <a:r>
              <a:rPr lang="en-US" sz="4400" b="1" noProof="0" dirty="0"/>
              <a:t>substituted </a:t>
            </a:r>
            <a:r>
              <a:rPr lang="en-US" sz="4400" b="1" noProof="0" dirty="0" err="1"/>
              <a:t>isoquinoline</a:t>
            </a:r>
            <a:r>
              <a:rPr lang="en-US" sz="4400" b="1" noProof="0" dirty="0"/>
              <a:t>/pyrazolo-pyridine core</a:t>
            </a:r>
            <a:r>
              <a:rPr lang="en-US" sz="4400" noProof="0" dirty="0"/>
              <a:t>, highly characteristic of PI3K-gamma selective inhibitors.</a:t>
            </a:r>
          </a:p>
          <a:p>
            <a:pPr marL="228600" indent="-228600" algn="just">
              <a:buFont typeface="+mj-lt"/>
              <a:buAutoNum type="arabicPeriod"/>
            </a:pPr>
            <a:endParaRPr lang="en-US" sz="4400" noProof="0" dirty="0"/>
          </a:p>
          <a:p>
            <a:pPr marL="228600" indent="-228600" algn="just">
              <a:buFont typeface="+mj-lt"/>
              <a:buAutoNum type="arabicPeriod"/>
            </a:pPr>
            <a:r>
              <a:rPr lang="en-US" sz="4400" noProof="0" dirty="0"/>
              <a:t>[*]N1Cc2cc([*])cc([*])c2C1=O</a:t>
            </a:r>
            <a:r>
              <a:rPr lang="en-US" sz="4400" b="1" noProof="0" dirty="0"/>
              <a:t>: </a:t>
            </a:r>
            <a:r>
              <a:rPr lang="en-US" sz="4400" b="1" noProof="0" dirty="0" err="1"/>
              <a:t>Dihydroisoquinolinone</a:t>
            </a:r>
            <a:r>
              <a:rPr lang="en-US" sz="4400" b="1" noProof="0" dirty="0"/>
              <a:t> derivatives</a:t>
            </a:r>
            <a:r>
              <a:rPr lang="en-US" sz="4400" noProof="0" dirty="0"/>
              <a:t>, frequently appearing in gamma-selective chemotypes.</a:t>
            </a:r>
          </a:p>
        </p:txBody>
      </p:sp>
      <p:sp>
        <p:nvSpPr>
          <p:cNvPr id="66" name="TextBox 65">
            <a:extLst>
              <a:ext uri="{FF2B5EF4-FFF2-40B4-BE49-F238E27FC236}">
                <a16:creationId xmlns:a16="http://schemas.microsoft.com/office/drawing/2014/main" id="{07CA5145-B7E2-1C7C-76AD-CFE78D36AE62}"/>
              </a:ext>
            </a:extLst>
          </p:cNvPr>
          <p:cNvSpPr txBox="1"/>
          <p:nvPr/>
        </p:nvSpPr>
        <p:spPr>
          <a:xfrm>
            <a:off x="25376906" y="27084437"/>
            <a:ext cx="10550661" cy="6863417"/>
          </a:xfrm>
          <a:prstGeom prst="rect">
            <a:avLst/>
          </a:prstGeom>
          <a:noFill/>
        </p:spPr>
        <p:txBody>
          <a:bodyPr wrap="square" rtlCol="0">
            <a:spAutoFit/>
          </a:bodyPr>
          <a:lstStyle/>
          <a:p>
            <a:pPr marL="228600" indent="-228600" algn="just">
              <a:buFont typeface="+mj-lt"/>
              <a:buAutoNum type="arabicPeriod"/>
            </a:pPr>
            <a:r>
              <a:rPr lang="en-US" sz="4400" noProof="0" dirty="0"/>
              <a:t>[*]c1ncnc(N)c1C#N: Occurs in 26.4% of correctly predicted Class 1 compounds. This </a:t>
            </a:r>
            <a:r>
              <a:rPr lang="en-US" sz="4400" b="1" noProof="0" dirty="0"/>
              <a:t>cyano-substituted pyrimidine</a:t>
            </a:r>
            <a:r>
              <a:rPr lang="en-US" sz="4400" noProof="0" dirty="0"/>
              <a:t> motif is a classic </a:t>
            </a:r>
            <a:r>
              <a:rPr lang="en-US" sz="4400" b="1" noProof="0" dirty="0"/>
              <a:t>kinase hinge-binder</a:t>
            </a:r>
            <a:r>
              <a:rPr lang="en-US" sz="4400" noProof="0" dirty="0"/>
              <a:t>.</a:t>
            </a:r>
          </a:p>
          <a:p>
            <a:pPr marL="228600" indent="-228600" algn="just">
              <a:buFont typeface="+mj-lt"/>
              <a:buAutoNum type="arabicPeriod"/>
            </a:pPr>
            <a:endParaRPr lang="en-US" sz="4400" noProof="0" dirty="0"/>
          </a:p>
          <a:p>
            <a:pPr marL="228600" indent="-228600" algn="just">
              <a:buFont typeface="+mj-lt"/>
              <a:buAutoNum type="arabicPeriod"/>
            </a:pPr>
            <a:r>
              <a:rPr lang="en-US" sz="4400" noProof="0" dirty="0"/>
              <a:t>[*]c1nc(N)</a:t>
            </a:r>
            <a:r>
              <a:rPr lang="en-US" sz="4400" noProof="0" dirty="0" err="1"/>
              <a:t>nc</a:t>
            </a:r>
            <a:r>
              <a:rPr lang="en-US" sz="4400" noProof="0" dirty="0"/>
              <a:t>(N)c1C#N: Occurs in 25.0% of cases. A </a:t>
            </a:r>
            <a:r>
              <a:rPr lang="en-US" sz="4400" b="1" noProof="0" dirty="0"/>
              <a:t>diamino-</a:t>
            </a:r>
            <a:r>
              <a:rPr lang="en-US" sz="4400" b="1" noProof="0" dirty="0" err="1"/>
              <a:t>cyano</a:t>
            </a:r>
            <a:r>
              <a:rPr lang="en-US" sz="4400" b="1" noProof="0" dirty="0"/>
              <a:t> pyrimidine derivative</a:t>
            </a:r>
            <a:r>
              <a:rPr lang="en-US" sz="4400" noProof="0" dirty="0"/>
              <a:t>, strongly indicating </a:t>
            </a:r>
            <a:r>
              <a:rPr lang="en-US" sz="4400" b="1" noProof="0" dirty="0"/>
              <a:t>hydrogen-bonding interactions </a:t>
            </a:r>
            <a:r>
              <a:rPr lang="en-US" sz="4400" noProof="0" dirty="0"/>
              <a:t>with the </a:t>
            </a:r>
            <a:r>
              <a:rPr lang="en-US" sz="4400" b="1" noProof="0" dirty="0"/>
              <a:t>hinge region</a:t>
            </a:r>
            <a:r>
              <a:rPr lang="en-US" sz="4400" noProof="0" dirty="0"/>
              <a:t>.</a:t>
            </a:r>
          </a:p>
        </p:txBody>
      </p:sp>
    </p:spTree>
    <p:extLst>
      <p:ext uri="{BB962C8B-B14F-4D97-AF65-F5344CB8AC3E}">
        <p14:creationId xmlns:p14="http://schemas.microsoft.com/office/powerpoint/2010/main" val="14858034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8" name="Rectangle: Rounded Corners 27">
            <a:extLst>
              <a:ext uri="{FF2B5EF4-FFF2-40B4-BE49-F238E27FC236}">
                <a16:creationId xmlns:a16="http://schemas.microsoft.com/office/drawing/2014/main" id="{A8D94A47-E16E-5FA6-0A1F-80756C21A4F7}"/>
              </a:ext>
            </a:extLst>
          </p:cNvPr>
          <p:cNvSpPr/>
          <p:nvPr/>
        </p:nvSpPr>
        <p:spPr>
          <a:xfrm>
            <a:off x="11390334" y="12224390"/>
            <a:ext cx="29946600" cy="13758873"/>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Rectangle: Rounded Corners 13">
            <a:extLst>
              <a:ext uri="{FF2B5EF4-FFF2-40B4-BE49-F238E27FC236}">
                <a16:creationId xmlns:a16="http://schemas.microsoft.com/office/drawing/2014/main" id="{DBF4675B-24DA-ECE6-C51C-65069789A359}"/>
              </a:ext>
            </a:extLst>
          </p:cNvPr>
          <p:cNvSpPr/>
          <p:nvPr/>
        </p:nvSpPr>
        <p:spPr>
          <a:xfrm>
            <a:off x="11391508" y="6072480"/>
            <a:ext cx="29944252" cy="5165792"/>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E655BC70-CD2D-4B35-7ABB-67359B0A388C}"/>
              </a:ext>
            </a:extLst>
          </p:cNvPr>
          <p:cNvGrpSpPr/>
          <p:nvPr/>
        </p:nvGrpSpPr>
        <p:grpSpPr>
          <a:xfrm>
            <a:off x="15275754" y="12336890"/>
            <a:ext cx="22150998" cy="8273962"/>
            <a:chOff x="14459353" y="15708740"/>
            <a:chExt cx="22150998" cy="8273962"/>
          </a:xfrm>
        </p:grpSpPr>
        <p:pic>
          <p:nvPicPr>
            <p:cNvPr id="25" name="Picture 24" descr="A diagram of a confusion matrix&#10;&#10;AI-generated content may be incorrect.">
              <a:extLst>
                <a:ext uri="{FF2B5EF4-FFF2-40B4-BE49-F238E27FC236}">
                  <a16:creationId xmlns:a16="http://schemas.microsoft.com/office/drawing/2014/main" id="{35B53DDB-EACD-148B-0EA7-FF3D0B7D55BA}"/>
                </a:ext>
              </a:extLst>
            </p:cNvPr>
            <p:cNvPicPr>
              <a:picLocks noChangeAspect="1"/>
            </p:cNvPicPr>
            <p:nvPr/>
          </p:nvPicPr>
          <p:blipFill>
            <a:blip r:embed="rId2">
              <a:extLst>
                <a:ext uri="{28A0092B-C50C-407E-A947-70E740481C1C}">
                  <a14:useLocalDpi xmlns:a14="http://schemas.microsoft.com/office/drawing/2010/main" val="0"/>
                </a:ext>
              </a:extLst>
            </a:blip>
            <a:srcRect r="14943"/>
            <a:stretch/>
          </p:blipFill>
          <p:spPr>
            <a:xfrm>
              <a:off x="14459353" y="15708740"/>
              <a:ext cx="7978651" cy="8273962"/>
            </a:xfrm>
            <a:prstGeom prst="rect">
              <a:avLst/>
            </a:prstGeom>
          </p:spPr>
        </p:pic>
        <p:pic>
          <p:nvPicPr>
            <p:cNvPr id="27" name="Picture 26" descr="A bar graph with numbers and text&#10;&#10;AI-generated content may be incorrect.">
              <a:extLst>
                <a:ext uri="{FF2B5EF4-FFF2-40B4-BE49-F238E27FC236}">
                  <a16:creationId xmlns:a16="http://schemas.microsoft.com/office/drawing/2014/main" id="{DDA67D64-D306-A0CD-5ECD-8492A850A7F5}"/>
                </a:ext>
              </a:extLst>
            </p:cNvPr>
            <p:cNvPicPr>
              <a:picLocks noChangeAspect="1"/>
            </p:cNvPicPr>
            <p:nvPr/>
          </p:nvPicPr>
          <p:blipFill>
            <a:blip r:embed="rId3">
              <a:extLst>
                <a:ext uri="{28A0092B-C50C-407E-A947-70E740481C1C}">
                  <a14:useLocalDpi xmlns:a14="http://schemas.microsoft.com/office/drawing/2010/main" val="0"/>
                </a:ext>
              </a:extLst>
            </a:blip>
            <a:srcRect r="10508" b="17689"/>
            <a:stretch/>
          </p:blipFill>
          <p:spPr>
            <a:xfrm>
              <a:off x="23384827" y="16448659"/>
              <a:ext cx="13225524" cy="6400931"/>
            </a:xfrm>
            <a:prstGeom prst="rect">
              <a:avLst/>
            </a:prstGeom>
          </p:spPr>
        </p:pic>
      </p:grpSp>
      <p:sp>
        <p:nvSpPr>
          <p:cNvPr id="30" name="TextBox 29">
            <a:extLst>
              <a:ext uri="{FF2B5EF4-FFF2-40B4-BE49-F238E27FC236}">
                <a16:creationId xmlns:a16="http://schemas.microsoft.com/office/drawing/2014/main" id="{5BAA39A6-DC6F-57E4-6567-4545559A0C33}"/>
              </a:ext>
            </a:extLst>
          </p:cNvPr>
          <p:cNvSpPr txBox="1"/>
          <p:nvPr/>
        </p:nvSpPr>
        <p:spPr>
          <a:xfrm>
            <a:off x="15275754" y="20470366"/>
            <a:ext cx="22502113" cy="5509200"/>
          </a:xfrm>
          <a:prstGeom prst="rect">
            <a:avLst/>
          </a:prstGeom>
          <a:noFill/>
        </p:spPr>
        <p:txBody>
          <a:bodyPr wrap="square">
            <a:spAutoFit/>
          </a:bodyPr>
          <a:lstStyle/>
          <a:p>
            <a:pPr algn="l"/>
            <a:r>
              <a:rPr lang="en-US" sz="4400" b="0" i="0" noProof="0" dirty="0">
                <a:solidFill>
                  <a:srgbClr val="0F0F0F"/>
                </a:solidFill>
                <a:effectLst/>
              </a:rPr>
              <a:t>The Balanced Random Forest model achieved strong performance on the test set:</a:t>
            </a:r>
          </a:p>
          <a:p>
            <a:pPr algn="l">
              <a:buFont typeface="Arial" panose="020B0604020202020204" pitchFamily="34" charset="0"/>
              <a:buChar char="•"/>
            </a:pPr>
            <a:r>
              <a:rPr lang="en-US" sz="4400" b="1" i="0" noProof="0" dirty="0">
                <a:solidFill>
                  <a:srgbClr val="0F0F0F"/>
                </a:solidFill>
                <a:effectLst/>
              </a:rPr>
              <a:t>Accuracy</a:t>
            </a:r>
            <a:r>
              <a:rPr lang="en-US" sz="4400" b="0" i="0" noProof="0" dirty="0">
                <a:solidFill>
                  <a:srgbClr val="0F0F0F"/>
                </a:solidFill>
                <a:effectLst/>
              </a:rPr>
              <a:t>: 89.3%</a:t>
            </a:r>
          </a:p>
          <a:p>
            <a:pPr algn="l">
              <a:buFont typeface="Arial" panose="020B0604020202020204" pitchFamily="34" charset="0"/>
              <a:buChar char="•"/>
            </a:pPr>
            <a:r>
              <a:rPr lang="en-US" sz="4400" b="1" i="0" noProof="0" dirty="0">
                <a:solidFill>
                  <a:srgbClr val="0F0F0F"/>
                </a:solidFill>
                <a:effectLst/>
              </a:rPr>
              <a:t>Balanced Accuracy</a:t>
            </a:r>
            <a:r>
              <a:rPr lang="en-US" sz="4400" b="0" i="0" noProof="0" dirty="0">
                <a:solidFill>
                  <a:srgbClr val="0F0F0F"/>
                </a:solidFill>
                <a:effectLst/>
              </a:rPr>
              <a:t>: 84.7%</a:t>
            </a:r>
          </a:p>
          <a:p>
            <a:pPr algn="l">
              <a:buFont typeface="Arial" panose="020B0604020202020204" pitchFamily="34" charset="0"/>
              <a:buChar char="•"/>
            </a:pPr>
            <a:r>
              <a:rPr lang="en-US" sz="4400" b="1" i="0" noProof="0" dirty="0">
                <a:solidFill>
                  <a:srgbClr val="0F0F0F"/>
                </a:solidFill>
                <a:effectLst/>
              </a:rPr>
              <a:t>MCC</a:t>
            </a:r>
            <a:r>
              <a:rPr lang="en-US" sz="4400" b="0" i="0" noProof="0" dirty="0">
                <a:solidFill>
                  <a:srgbClr val="0F0F0F"/>
                </a:solidFill>
                <a:effectLst/>
              </a:rPr>
              <a:t>: 0.749</a:t>
            </a:r>
          </a:p>
          <a:p>
            <a:pPr algn="l">
              <a:buFont typeface="Arial" panose="020B0604020202020204" pitchFamily="34" charset="0"/>
              <a:buChar char="•"/>
            </a:pPr>
            <a:r>
              <a:rPr lang="en-US" sz="4400" b="1" i="0" noProof="0" dirty="0">
                <a:solidFill>
                  <a:srgbClr val="0F0F0F"/>
                </a:solidFill>
                <a:effectLst/>
              </a:rPr>
              <a:t>F1 Macro</a:t>
            </a:r>
            <a:r>
              <a:rPr lang="en-US" sz="4400" b="0" i="0" noProof="0" dirty="0">
                <a:solidFill>
                  <a:srgbClr val="0F0F0F"/>
                </a:solidFill>
                <a:effectLst/>
              </a:rPr>
              <a:t>: 0.780</a:t>
            </a:r>
          </a:p>
          <a:p>
            <a:pPr algn="l"/>
            <a:r>
              <a:rPr lang="en-US" sz="4400" b="0" i="0" noProof="0" dirty="0">
                <a:solidFill>
                  <a:srgbClr val="0F0F0F"/>
                </a:solidFill>
                <a:effectLst/>
              </a:rPr>
              <a:t>Class 1 (PI3K-delta selective) and Class 2 (PI3K-gamma selective) show good separation, though Class 2 has fewer samples (15 in test set), which is typical for highly specific selectivity data.</a:t>
            </a:r>
          </a:p>
        </p:txBody>
      </p:sp>
      <p:sp>
        <p:nvSpPr>
          <p:cNvPr id="52" name="TextBox 51">
            <a:extLst>
              <a:ext uri="{FF2B5EF4-FFF2-40B4-BE49-F238E27FC236}">
                <a16:creationId xmlns:a16="http://schemas.microsoft.com/office/drawing/2014/main" id="{1CA22E51-CE03-F50F-0289-6302FC2665E4}"/>
              </a:ext>
            </a:extLst>
          </p:cNvPr>
          <p:cNvSpPr txBox="1"/>
          <p:nvPr/>
        </p:nvSpPr>
        <p:spPr>
          <a:xfrm>
            <a:off x="21392134" y="11362775"/>
            <a:ext cx="9943000" cy="923330"/>
          </a:xfrm>
          <a:prstGeom prst="rect">
            <a:avLst/>
          </a:prstGeom>
          <a:noFill/>
        </p:spPr>
        <p:txBody>
          <a:bodyPr wrap="square">
            <a:spAutoFit/>
          </a:bodyPr>
          <a:lstStyle/>
          <a:p>
            <a:pPr algn="l"/>
            <a:r>
              <a:rPr lang="en-US" sz="5400" b="1" i="0" noProof="0" dirty="0">
                <a:solidFill>
                  <a:srgbClr val="0F0F0F"/>
                </a:solidFill>
                <a:effectLst/>
                <a:latin typeface="ui-sans-serif"/>
              </a:rPr>
              <a:t>Model Performance Evaluation</a:t>
            </a:r>
          </a:p>
        </p:txBody>
      </p:sp>
      <p:sp>
        <p:nvSpPr>
          <p:cNvPr id="53" name="TextBox 52">
            <a:extLst>
              <a:ext uri="{FF2B5EF4-FFF2-40B4-BE49-F238E27FC236}">
                <a16:creationId xmlns:a16="http://schemas.microsoft.com/office/drawing/2014/main" id="{4D9CB3D1-7BFC-3386-B306-BDBBA5137ABA}"/>
              </a:ext>
            </a:extLst>
          </p:cNvPr>
          <p:cNvSpPr txBox="1"/>
          <p:nvPr/>
        </p:nvSpPr>
        <p:spPr>
          <a:xfrm>
            <a:off x="17784949" y="26119453"/>
            <a:ext cx="17157371" cy="923330"/>
          </a:xfrm>
          <a:prstGeom prst="rect">
            <a:avLst/>
          </a:prstGeom>
          <a:noFill/>
        </p:spPr>
        <p:txBody>
          <a:bodyPr wrap="square">
            <a:spAutoFit/>
          </a:bodyPr>
          <a:lstStyle/>
          <a:p>
            <a:pPr algn="ctr"/>
            <a:r>
              <a:rPr lang="en-US" sz="5400" b="1" noProof="0" dirty="0">
                <a:solidFill>
                  <a:srgbClr val="0F0F0F"/>
                </a:solidFill>
                <a:latin typeface="ui-sans-serif"/>
              </a:rPr>
              <a:t>R</a:t>
            </a:r>
            <a:r>
              <a:rPr lang="en-US" sz="5400" b="1" i="0" noProof="0" dirty="0">
                <a:solidFill>
                  <a:srgbClr val="0F0F0F"/>
                </a:solidFill>
                <a:effectLst/>
                <a:latin typeface="ui-sans-serif"/>
              </a:rPr>
              <a:t>ecurrent Molecular Anchor Fragments (Class 1 &amp; 2)</a:t>
            </a:r>
          </a:p>
        </p:txBody>
      </p:sp>
      <p:grpSp>
        <p:nvGrpSpPr>
          <p:cNvPr id="69" name="Group 68">
            <a:extLst>
              <a:ext uri="{FF2B5EF4-FFF2-40B4-BE49-F238E27FC236}">
                <a16:creationId xmlns:a16="http://schemas.microsoft.com/office/drawing/2014/main" id="{7C07ED87-02E6-769C-8522-F7EA43967144}"/>
              </a:ext>
            </a:extLst>
          </p:cNvPr>
          <p:cNvGrpSpPr/>
          <p:nvPr/>
        </p:nvGrpSpPr>
        <p:grpSpPr>
          <a:xfrm>
            <a:off x="25921308" y="27870284"/>
            <a:ext cx="14331255" cy="12484043"/>
            <a:chOff x="26016215" y="32690065"/>
            <a:chExt cx="14331255" cy="12484043"/>
          </a:xfrm>
        </p:grpSpPr>
        <p:pic>
          <p:nvPicPr>
            <p:cNvPr id="59" name="Picture 58" descr="A red and black molecule&#10;&#10;AI-generated content may be incorrect.">
              <a:extLst>
                <a:ext uri="{FF2B5EF4-FFF2-40B4-BE49-F238E27FC236}">
                  <a16:creationId xmlns:a16="http://schemas.microsoft.com/office/drawing/2014/main" id="{FF828C6A-DA1B-1C2D-DF20-B453CD4FBA2B}"/>
                </a:ext>
              </a:extLst>
            </p:cNvPr>
            <p:cNvPicPr>
              <a:picLocks noChangeAspect="1"/>
            </p:cNvPicPr>
            <p:nvPr/>
          </p:nvPicPr>
          <p:blipFill>
            <a:blip r:embed="rId4">
              <a:extLst>
                <a:ext uri="{28A0092B-C50C-407E-A947-70E740481C1C}">
                  <a14:useLocalDpi xmlns:a14="http://schemas.microsoft.com/office/drawing/2010/main" val="0"/>
                </a:ext>
              </a:extLst>
            </a:blip>
            <a:srcRect t="9899" r="60477" b="34643"/>
            <a:stretch/>
          </p:blipFill>
          <p:spPr>
            <a:xfrm>
              <a:off x="26016215" y="33792057"/>
              <a:ext cx="14331255" cy="3686730"/>
            </a:xfrm>
            <a:prstGeom prst="rect">
              <a:avLst/>
            </a:prstGeom>
          </p:spPr>
        </p:pic>
        <p:grpSp>
          <p:nvGrpSpPr>
            <p:cNvPr id="56" name="Group 55">
              <a:extLst>
                <a:ext uri="{FF2B5EF4-FFF2-40B4-BE49-F238E27FC236}">
                  <a16:creationId xmlns:a16="http://schemas.microsoft.com/office/drawing/2014/main" id="{3328C6AB-5D2D-21F5-D316-19C43126EF72}"/>
                </a:ext>
              </a:extLst>
            </p:cNvPr>
            <p:cNvGrpSpPr/>
            <p:nvPr/>
          </p:nvGrpSpPr>
          <p:grpSpPr>
            <a:xfrm>
              <a:off x="27091192" y="37720664"/>
              <a:ext cx="12181300" cy="1477328"/>
              <a:chOff x="27174716" y="37720664"/>
              <a:chExt cx="12181300" cy="1477328"/>
            </a:xfrm>
          </p:grpSpPr>
          <p:sp>
            <p:nvSpPr>
              <p:cNvPr id="61" name="TextBox 60">
                <a:extLst>
                  <a:ext uri="{FF2B5EF4-FFF2-40B4-BE49-F238E27FC236}">
                    <a16:creationId xmlns:a16="http://schemas.microsoft.com/office/drawing/2014/main" id="{A7D21A72-9214-4047-1740-F895FF59E1E6}"/>
                  </a:ext>
                </a:extLst>
              </p:cNvPr>
              <p:cNvSpPr txBox="1"/>
              <p:nvPr/>
            </p:nvSpPr>
            <p:spPr>
              <a:xfrm>
                <a:off x="27174716" y="37720664"/>
                <a:ext cx="5323362"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1</a:t>
                </a:r>
              </a:p>
              <a:p>
                <a:pPr algn="ctr"/>
                <a:r>
                  <a:rPr lang="en-US" sz="3000" b="1" noProof="0" dirty="0">
                    <a:solidFill>
                      <a:srgbClr val="0F0F0F"/>
                    </a:solidFill>
                    <a:latin typeface="ui-sans-serif"/>
                  </a:rPr>
                  <a:t>Anchor occurrence: 0.36</a:t>
                </a:r>
              </a:p>
              <a:p>
                <a:pPr algn="ctr"/>
                <a:r>
                  <a:rPr lang="en-US" sz="3000" b="1" noProof="0" dirty="0">
                    <a:solidFill>
                      <a:srgbClr val="0F0F0F"/>
                    </a:solidFill>
                    <a:latin typeface="ui-sans-serif"/>
                  </a:rPr>
                  <a:t>Substructure occurrence: 0.82</a:t>
                </a:r>
                <a:endParaRPr lang="en-US" sz="3000" noProof="0" dirty="0"/>
              </a:p>
            </p:txBody>
          </p:sp>
          <p:sp>
            <p:nvSpPr>
              <p:cNvPr id="62" name="TextBox 61">
                <a:extLst>
                  <a:ext uri="{FF2B5EF4-FFF2-40B4-BE49-F238E27FC236}">
                    <a16:creationId xmlns:a16="http://schemas.microsoft.com/office/drawing/2014/main" id="{9062DABE-6143-0CF6-47EE-82DED9712869}"/>
                  </a:ext>
                </a:extLst>
              </p:cNvPr>
              <p:cNvSpPr txBox="1"/>
              <p:nvPr/>
            </p:nvSpPr>
            <p:spPr>
              <a:xfrm>
                <a:off x="34039249" y="37720664"/>
                <a:ext cx="5316767"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2</a:t>
                </a:r>
              </a:p>
              <a:p>
                <a:pPr algn="ctr"/>
                <a:r>
                  <a:rPr lang="en-US" sz="3000" b="1" noProof="0" dirty="0">
                    <a:solidFill>
                      <a:srgbClr val="0F0F0F"/>
                    </a:solidFill>
                    <a:latin typeface="ui-sans-serif"/>
                  </a:rPr>
                  <a:t>Anchor occurrence: 0.18</a:t>
                </a:r>
              </a:p>
              <a:p>
                <a:pPr algn="ctr"/>
                <a:r>
                  <a:rPr lang="en-US" sz="3000" b="1" noProof="0" dirty="0">
                    <a:solidFill>
                      <a:srgbClr val="0F0F0F"/>
                    </a:solidFill>
                    <a:latin typeface="ui-sans-serif"/>
                  </a:rPr>
                  <a:t>Substructure occurrence: 0.36</a:t>
                </a:r>
                <a:endParaRPr lang="en-US" sz="3000" noProof="0" dirty="0"/>
              </a:p>
            </p:txBody>
          </p:sp>
        </p:grpSp>
        <p:sp>
          <p:nvSpPr>
            <p:cNvPr id="64" name="TextBox 63">
              <a:extLst>
                <a:ext uri="{FF2B5EF4-FFF2-40B4-BE49-F238E27FC236}">
                  <a16:creationId xmlns:a16="http://schemas.microsoft.com/office/drawing/2014/main" id="{375CDCAE-E997-6AB6-EE31-7EEA0E2E635E}"/>
                </a:ext>
              </a:extLst>
            </p:cNvPr>
            <p:cNvSpPr txBox="1"/>
            <p:nvPr/>
          </p:nvSpPr>
          <p:spPr>
            <a:xfrm>
              <a:off x="30026714" y="32690065"/>
              <a:ext cx="6310257" cy="923330"/>
            </a:xfrm>
            <a:prstGeom prst="rect">
              <a:avLst/>
            </a:prstGeom>
            <a:noFill/>
          </p:spPr>
          <p:txBody>
            <a:bodyPr wrap="square" rtlCol="0">
              <a:spAutoFit/>
            </a:bodyPr>
            <a:lstStyle/>
            <a:p>
              <a:pPr algn="ctr"/>
              <a:r>
                <a:rPr lang="en-US" sz="5400" b="1" noProof="0" dirty="0"/>
                <a:t>Class </a:t>
              </a:r>
              <a:r>
                <a:rPr lang="en-US" sz="5400" b="1" i="0" noProof="0" dirty="0">
                  <a:solidFill>
                    <a:srgbClr val="0F0F0F"/>
                  </a:solidFill>
                  <a:effectLst/>
                  <a:latin typeface="ui-sans-serif"/>
                </a:rPr>
                <a:t>PI3K-gamma</a:t>
              </a:r>
              <a:endParaRPr lang="en-US" sz="5400" b="1" noProof="0" dirty="0"/>
            </a:p>
          </p:txBody>
        </p:sp>
        <p:sp>
          <p:nvSpPr>
            <p:cNvPr id="65" name="TextBox 64">
              <a:extLst>
                <a:ext uri="{FF2B5EF4-FFF2-40B4-BE49-F238E27FC236}">
                  <a16:creationId xmlns:a16="http://schemas.microsoft.com/office/drawing/2014/main" id="{F275191B-4583-8146-851D-EA0FC0A427D2}"/>
                </a:ext>
              </a:extLst>
            </p:cNvPr>
            <p:cNvSpPr txBox="1"/>
            <p:nvPr/>
          </p:nvSpPr>
          <p:spPr>
            <a:xfrm>
              <a:off x="27101082" y="39664908"/>
              <a:ext cx="12161520" cy="5509200"/>
            </a:xfrm>
            <a:prstGeom prst="rect">
              <a:avLst/>
            </a:prstGeom>
            <a:noFill/>
          </p:spPr>
          <p:txBody>
            <a:bodyPr wrap="square" rtlCol="0">
              <a:spAutoFit/>
            </a:bodyPr>
            <a:lstStyle/>
            <a:p>
              <a:pPr marL="228600" indent="-228600" algn="just">
                <a:buFont typeface="+mj-lt"/>
                <a:buAutoNum type="arabicPeriod"/>
              </a:pPr>
              <a:r>
                <a:rPr lang="en-US" sz="4400" noProof="0" dirty="0"/>
                <a:t> Occurs in 36.4% of anchors. A </a:t>
              </a:r>
              <a:r>
                <a:rPr lang="en-US" sz="4400" b="1" noProof="0" dirty="0"/>
                <a:t>substituted </a:t>
              </a:r>
              <a:r>
                <a:rPr lang="en-US" sz="4400" b="1" noProof="0" dirty="0" err="1"/>
                <a:t>isoquinoline</a:t>
              </a:r>
              <a:r>
                <a:rPr lang="en-US" sz="4400" b="1" noProof="0" dirty="0"/>
                <a:t>/pyrazolo-pyridine core</a:t>
              </a:r>
              <a:r>
                <a:rPr lang="en-US" sz="4400" noProof="0" dirty="0"/>
                <a:t>, highly characteristic of PI3K-gamma selective inhibitors.</a:t>
              </a:r>
            </a:p>
            <a:p>
              <a:pPr marL="228600" indent="-228600" algn="just">
                <a:buFont typeface="+mj-lt"/>
                <a:buAutoNum type="arabicPeriod"/>
              </a:pPr>
              <a:endParaRPr lang="en-US" sz="4400" noProof="0" dirty="0"/>
            </a:p>
            <a:p>
              <a:pPr marL="228600" indent="-228600" algn="just">
                <a:buFont typeface="+mj-lt"/>
                <a:buAutoNum type="arabicPeriod"/>
              </a:pPr>
              <a:r>
                <a:rPr lang="en-US" sz="4400" b="1" noProof="0" dirty="0"/>
                <a:t> </a:t>
              </a:r>
              <a:r>
                <a:rPr lang="en-US" sz="4400" b="1" noProof="0" dirty="0" err="1"/>
                <a:t>Dihydroisoquinolinone</a:t>
              </a:r>
              <a:r>
                <a:rPr lang="en-US" sz="4400" b="1" noProof="0" dirty="0"/>
                <a:t> derivatives</a:t>
              </a:r>
              <a:r>
                <a:rPr lang="en-US" sz="4400" noProof="0" dirty="0"/>
                <a:t>, frequently appearing in gamma-selective chemotypes.</a:t>
              </a:r>
            </a:p>
          </p:txBody>
        </p:sp>
      </p:grpSp>
      <p:grpSp>
        <p:nvGrpSpPr>
          <p:cNvPr id="71" name="Group 70">
            <a:extLst>
              <a:ext uri="{FF2B5EF4-FFF2-40B4-BE49-F238E27FC236}">
                <a16:creationId xmlns:a16="http://schemas.microsoft.com/office/drawing/2014/main" id="{B566DC8D-A751-746E-78CA-6C8E8122C95C}"/>
              </a:ext>
            </a:extLst>
          </p:cNvPr>
          <p:cNvGrpSpPr/>
          <p:nvPr/>
        </p:nvGrpSpPr>
        <p:grpSpPr>
          <a:xfrm>
            <a:off x="12647583" y="27870284"/>
            <a:ext cx="12161520" cy="12484043"/>
            <a:chOff x="12742490" y="32690065"/>
            <a:chExt cx="12161520" cy="12484043"/>
          </a:xfrm>
        </p:grpSpPr>
        <p:pic>
          <p:nvPicPr>
            <p:cNvPr id="57" name="Picture 56" descr="A black and red hexagons&#10;&#10;AI-generated content may be incorrect.">
              <a:extLst>
                <a:ext uri="{FF2B5EF4-FFF2-40B4-BE49-F238E27FC236}">
                  <a16:creationId xmlns:a16="http://schemas.microsoft.com/office/drawing/2014/main" id="{D31C6E93-8769-C043-E3E6-35F8E48F9A7F}"/>
                </a:ext>
              </a:extLst>
            </p:cNvPr>
            <p:cNvPicPr>
              <a:picLocks noChangeAspect="1"/>
            </p:cNvPicPr>
            <p:nvPr/>
          </p:nvPicPr>
          <p:blipFill>
            <a:blip r:embed="rId5">
              <a:extLst>
                <a:ext uri="{28A0092B-C50C-407E-A947-70E740481C1C}">
                  <a14:useLocalDpi xmlns:a14="http://schemas.microsoft.com/office/drawing/2010/main" val="0"/>
                </a:ext>
              </a:extLst>
            </a:blip>
            <a:srcRect r="60622" b="25829"/>
            <a:stretch/>
          </p:blipFill>
          <p:spPr>
            <a:xfrm>
              <a:off x="12970037" y="33436279"/>
              <a:ext cx="11706426" cy="4042508"/>
            </a:xfrm>
            <a:prstGeom prst="rect">
              <a:avLst/>
            </a:prstGeom>
          </p:spPr>
        </p:pic>
        <p:grpSp>
          <p:nvGrpSpPr>
            <p:cNvPr id="68" name="Group 67">
              <a:extLst>
                <a:ext uri="{FF2B5EF4-FFF2-40B4-BE49-F238E27FC236}">
                  <a16:creationId xmlns:a16="http://schemas.microsoft.com/office/drawing/2014/main" id="{3B152157-9CC7-F546-D5E7-974890FB190C}"/>
                </a:ext>
              </a:extLst>
            </p:cNvPr>
            <p:cNvGrpSpPr/>
            <p:nvPr/>
          </p:nvGrpSpPr>
          <p:grpSpPr>
            <a:xfrm>
              <a:off x="13187768" y="37935654"/>
              <a:ext cx="11270964" cy="1477328"/>
              <a:chOff x="13180193" y="37935654"/>
              <a:chExt cx="11270964" cy="1477328"/>
            </a:xfrm>
          </p:grpSpPr>
          <p:sp>
            <p:nvSpPr>
              <p:cNvPr id="58" name="TextBox 57">
                <a:extLst>
                  <a:ext uri="{FF2B5EF4-FFF2-40B4-BE49-F238E27FC236}">
                    <a16:creationId xmlns:a16="http://schemas.microsoft.com/office/drawing/2014/main" id="{8572CEAB-6935-A767-5441-EE39B0CFE9A6}"/>
                  </a:ext>
                </a:extLst>
              </p:cNvPr>
              <p:cNvSpPr txBox="1"/>
              <p:nvPr/>
            </p:nvSpPr>
            <p:spPr>
              <a:xfrm>
                <a:off x="13180193" y="37935654"/>
                <a:ext cx="5414457"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1</a:t>
                </a:r>
              </a:p>
              <a:p>
                <a:pPr algn="ctr"/>
                <a:r>
                  <a:rPr lang="en-US" sz="3000" b="1" noProof="0" dirty="0">
                    <a:solidFill>
                      <a:srgbClr val="0F0F0F"/>
                    </a:solidFill>
                    <a:latin typeface="ui-sans-serif"/>
                  </a:rPr>
                  <a:t>Anchor occurrence: 0.26</a:t>
                </a:r>
              </a:p>
              <a:p>
                <a:pPr algn="ctr"/>
                <a:r>
                  <a:rPr lang="en-US" sz="3000" b="1" noProof="0" dirty="0">
                    <a:solidFill>
                      <a:srgbClr val="0F0F0F"/>
                    </a:solidFill>
                    <a:latin typeface="ui-sans-serif"/>
                  </a:rPr>
                  <a:t>Substructure occurrence: 0.26</a:t>
                </a:r>
                <a:endParaRPr lang="en-US" sz="3000" noProof="0" dirty="0"/>
              </a:p>
            </p:txBody>
          </p:sp>
          <p:sp>
            <p:nvSpPr>
              <p:cNvPr id="60" name="TextBox 59">
                <a:extLst>
                  <a:ext uri="{FF2B5EF4-FFF2-40B4-BE49-F238E27FC236}">
                    <a16:creationId xmlns:a16="http://schemas.microsoft.com/office/drawing/2014/main" id="{CB3D1D01-6B66-4EBF-BA63-15E4A614E261}"/>
                  </a:ext>
                </a:extLst>
              </p:cNvPr>
              <p:cNvSpPr txBox="1"/>
              <p:nvPr/>
            </p:nvSpPr>
            <p:spPr>
              <a:xfrm>
                <a:off x="18997991" y="37935654"/>
                <a:ext cx="5453166" cy="1477328"/>
              </a:xfrm>
              <a:prstGeom prst="rect">
                <a:avLst/>
              </a:prstGeom>
              <a:noFill/>
            </p:spPr>
            <p:txBody>
              <a:bodyPr wrap="square" rtlCol="0">
                <a:spAutoFit/>
              </a:bodyPr>
              <a:lstStyle/>
              <a:p>
                <a:pPr algn="ctr"/>
                <a:r>
                  <a:rPr lang="en-US" sz="3000" b="1" i="0" noProof="0" dirty="0">
                    <a:solidFill>
                      <a:srgbClr val="0F0F0F"/>
                    </a:solidFill>
                    <a:effectLst/>
                    <a:latin typeface="ui-sans-serif"/>
                  </a:rPr>
                  <a:t>Rank 2</a:t>
                </a:r>
              </a:p>
              <a:p>
                <a:pPr algn="ctr"/>
                <a:r>
                  <a:rPr lang="en-US" sz="3000" b="1" noProof="0" dirty="0">
                    <a:solidFill>
                      <a:srgbClr val="0F0F0F"/>
                    </a:solidFill>
                    <a:latin typeface="ui-sans-serif"/>
                  </a:rPr>
                  <a:t>Anchor occurrence: 0.25</a:t>
                </a:r>
              </a:p>
              <a:p>
                <a:pPr algn="ctr"/>
                <a:r>
                  <a:rPr lang="en-US" sz="3000" b="1" noProof="0" dirty="0">
                    <a:solidFill>
                      <a:srgbClr val="0F0F0F"/>
                    </a:solidFill>
                    <a:latin typeface="ui-sans-serif"/>
                  </a:rPr>
                  <a:t>Substructure occurrence: 0.25</a:t>
                </a:r>
                <a:endParaRPr lang="en-US" sz="3000" noProof="0" dirty="0"/>
              </a:p>
            </p:txBody>
          </p:sp>
        </p:grpSp>
        <p:sp>
          <p:nvSpPr>
            <p:cNvPr id="63" name="TextBox 62">
              <a:extLst>
                <a:ext uri="{FF2B5EF4-FFF2-40B4-BE49-F238E27FC236}">
                  <a16:creationId xmlns:a16="http://schemas.microsoft.com/office/drawing/2014/main" id="{6A5C72D7-D885-252B-9D5B-8FCC3218E83B}"/>
                </a:ext>
              </a:extLst>
            </p:cNvPr>
            <p:cNvSpPr txBox="1"/>
            <p:nvPr/>
          </p:nvSpPr>
          <p:spPr>
            <a:xfrm>
              <a:off x="15521521" y="32690065"/>
              <a:ext cx="6603459" cy="923330"/>
            </a:xfrm>
            <a:prstGeom prst="rect">
              <a:avLst/>
            </a:prstGeom>
            <a:noFill/>
          </p:spPr>
          <p:txBody>
            <a:bodyPr wrap="square" rtlCol="0">
              <a:spAutoFit/>
            </a:bodyPr>
            <a:lstStyle/>
            <a:p>
              <a:pPr algn="ctr"/>
              <a:r>
                <a:rPr lang="en-US" sz="5400" b="1" noProof="0" dirty="0"/>
                <a:t>Class </a:t>
              </a:r>
              <a:r>
                <a:rPr lang="en-US" sz="5400" b="1" i="0" noProof="0" dirty="0">
                  <a:solidFill>
                    <a:srgbClr val="0F0F0F"/>
                  </a:solidFill>
                  <a:effectLst/>
                  <a:latin typeface="ui-sans-serif"/>
                </a:rPr>
                <a:t>PI3K-delta</a:t>
              </a:r>
              <a:endParaRPr lang="en-US" sz="5400" b="1" noProof="0" dirty="0"/>
            </a:p>
          </p:txBody>
        </p:sp>
        <p:sp>
          <p:nvSpPr>
            <p:cNvPr id="66" name="TextBox 65">
              <a:extLst>
                <a:ext uri="{FF2B5EF4-FFF2-40B4-BE49-F238E27FC236}">
                  <a16:creationId xmlns:a16="http://schemas.microsoft.com/office/drawing/2014/main" id="{07CA5145-B7E2-1C7C-76AD-CFE78D36AE62}"/>
                </a:ext>
              </a:extLst>
            </p:cNvPr>
            <p:cNvSpPr txBox="1"/>
            <p:nvPr/>
          </p:nvSpPr>
          <p:spPr>
            <a:xfrm>
              <a:off x="12742490" y="39664908"/>
              <a:ext cx="12161520" cy="5509200"/>
            </a:xfrm>
            <a:prstGeom prst="rect">
              <a:avLst/>
            </a:prstGeom>
            <a:noFill/>
          </p:spPr>
          <p:txBody>
            <a:bodyPr wrap="square" rtlCol="0">
              <a:spAutoFit/>
            </a:bodyPr>
            <a:lstStyle/>
            <a:p>
              <a:pPr marL="228600" indent="-228600" algn="just">
                <a:buFont typeface="+mj-lt"/>
                <a:buAutoNum type="arabicPeriod"/>
              </a:pPr>
              <a:r>
                <a:rPr lang="en-US" sz="4400" noProof="0" dirty="0"/>
                <a:t> Occurs in 26.4% of correctly predicted Class 1 compounds. This </a:t>
              </a:r>
              <a:r>
                <a:rPr lang="en-US" sz="4400" b="1" noProof="0" dirty="0"/>
                <a:t>cyano-substituted pyrimidine</a:t>
              </a:r>
              <a:r>
                <a:rPr lang="en-US" sz="4400" noProof="0" dirty="0"/>
                <a:t> motif is a classic </a:t>
              </a:r>
              <a:r>
                <a:rPr lang="en-US" sz="4400" b="1" noProof="0" dirty="0"/>
                <a:t>kinase hinge-binder</a:t>
              </a:r>
              <a:r>
                <a:rPr lang="en-US" sz="4400" noProof="0" dirty="0"/>
                <a:t>.</a:t>
              </a:r>
            </a:p>
            <a:p>
              <a:pPr marL="228600" indent="-228600" algn="just">
                <a:buFont typeface="+mj-lt"/>
                <a:buAutoNum type="arabicPeriod"/>
              </a:pPr>
              <a:endParaRPr lang="en-US" sz="4400" noProof="0" dirty="0"/>
            </a:p>
            <a:p>
              <a:pPr marL="228600" indent="-228600" algn="just">
                <a:buFont typeface="+mj-lt"/>
                <a:buAutoNum type="arabicPeriod"/>
              </a:pPr>
              <a:r>
                <a:rPr lang="en-US" sz="4400" noProof="0" dirty="0"/>
                <a:t> Occurs in 25.0% of cases. A </a:t>
              </a:r>
              <a:r>
                <a:rPr lang="en-US" sz="4400" b="1" noProof="0" dirty="0"/>
                <a:t>diamino-</a:t>
              </a:r>
              <a:r>
                <a:rPr lang="en-US" sz="4400" b="1" noProof="0" dirty="0" err="1"/>
                <a:t>cyano</a:t>
              </a:r>
              <a:r>
                <a:rPr lang="en-US" sz="4400" b="1" noProof="0" dirty="0"/>
                <a:t> pyrimidine derivative</a:t>
              </a:r>
              <a:r>
                <a:rPr lang="en-US" sz="4400" noProof="0" dirty="0"/>
                <a:t>, strongly indicating </a:t>
              </a:r>
              <a:r>
                <a:rPr lang="en-US" sz="4400" b="1" noProof="0" dirty="0"/>
                <a:t>hydrogen-bonding interactions </a:t>
              </a:r>
              <a:r>
                <a:rPr lang="en-US" sz="4400" noProof="0" dirty="0"/>
                <a:t>with the </a:t>
              </a:r>
              <a:r>
                <a:rPr lang="en-US" sz="4400" b="1" noProof="0" dirty="0"/>
                <a:t>hinge region</a:t>
              </a:r>
              <a:r>
                <a:rPr lang="en-US" sz="4400" noProof="0" dirty="0"/>
                <a:t>.</a:t>
              </a:r>
            </a:p>
          </p:txBody>
        </p:sp>
      </p:grpSp>
      <p:sp>
        <p:nvSpPr>
          <p:cNvPr id="2" name="Rectangle: Top Corners Rounded 1">
            <a:extLst>
              <a:ext uri="{FF2B5EF4-FFF2-40B4-BE49-F238E27FC236}">
                <a16:creationId xmlns:a16="http://schemas.microsoft.com/office/drawing/2014/main" id="{6C13FBF4-81B4-461D-A19D-5804EED023DD}"/>
              </a:ext>
            </a:extLst>
          </p:cNvPr>
          <p:cNvSpPr/>
          <p:nvPr/>
        </p:nvSpPr>
        <p:spPr>
          <a:xfrm>
            <a:off x="11391508" y="62907"/>
            <a:ext cx="29944252" cy="5373486"/>
          </a:xfrm>
          <a:prstGeom prst="round2SameRect">
            <a:avLst/>
          </a:prstGeom>
          <a:solidFill>
            <a:schemeClr val="tx2">
              <a:lumMod val="25000"/>
              <a:lumOff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sz="1800" noProof="0" dirty="0">
              <a:solidFill>
                <a:schemeClr val="tx1"/>
              </a:solidFill>
            </a:endParaRPr>
          </a:p>
          <a:p>
            <a:pPr algn="just"/>
            <a:r>
              <a:rPr lang="en-US" sz="6000" noProof="0" dirty="0">
                <a:solidFill>
                  <a:schemeClr val="tx1"/>
                </a:solidFill>
              </a:rPr>
              <a:t>You are running a reproducibility study for compound selectivity prediction. The goal is to train a Balanced Random Forest Classifier to distinguish PI3K-delta (UniProt: O00329) vs PI3K-gamma (UniProt:  P48736) selective compounds, evaluate its performance, and identify recurrent molecular anchor fragments that drive the model's correct predictions for each selective class (class 1 &amp; 2) and discuss the chemical insight gained.</a:t>
            </a:r>
          </a:p>
        </p:txBody>
      </p:sp>
      <p:sp>
        <p:nvSpPr>
          <p:cNvPr id="3" name="Rectangle: Rounded Corners 2">
            <a:extLst>
              <a:ext uri="{FF2B5EF4-FFF2-40B4-BE49-F238E27FC236}">
                <a16:creationId xmlns:a16="http://schemas.microsoft.com/office/drawing/2014/main" id="{465AE2D3-52C5-2D04-D846-EC865A9F4DC7}"/>
              </a:ext>
            </a:extLst>
          </p:cNvPr>
          <p:cNvSpPr/>
          <p:nvPr/>
        </p:nvSpPr>
        <p:spPr>
          <a:xfrm>
            <a:off x="12044361" y="6917439"/>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Find dataset</a:t>
            </a:r>
          </a:p>
        </p:txBody>
      </p:sp>
      <p:sp>
        <p:nvSpPr>
          <p:cNvPr id="4" name="Rectangle: Rounded Corners 3">
            <a:extLst>
              <a:ext uri="{FF2B5EF4-FFF2-40B4-BE49-F238E27FC236}">
                <a16:creationId xmlns:a16="http://schemas.microsoft.com/office/drawing/2014/main" id="{6DB85F9D-5273-DCFF-C989-7562C2561479}"/>
              </a:ext>
            </a:extLst>
          </p:cNvPr>
          <p:cNvSpPr/>
          <p:nvPr/>
        </p:nvSpPr>
        <p:spPr>
          <a:xfrm>
            <a:off x="12044361" y="9238208"/>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Load dataset</a:t>
            </a:r>
          </a:p>
        </p:txBody>
      </p:sp>
      <p:sp>
        <p:nvSpPr>
          <p:cNvPr id="8" name="Rectangle: Rounded Corners 7">
            <a:extLst>
              <a:ext uri="{FF2B5EF4-FFF2-40B4-BE49-F238E27FC236}">
                <a16:creationId xmlns:a16="http://schemas.microsoft.com/office/drawing/2014/main" id="{872B3574-1A6E-95E9-EEA3-C496E1B2F4CE}"/>
              </a:ext>
            </a:extLst>
          </p:cNvPr>
          <p:cNvSpPr/>
          <p:nvPr/>
        </p:nvSpPr>
        <p:spPr>
          <a:xfrm>
            <a:off x="19516990" y="9238208"/>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Compute features</a:t>
            </a:r>
          </a:p>
        </p:txBody>
      </p:sp>
      <p:sp>
        <p:nvSpPr>
          <p:cNvPr id="9" name="Rectangle: Rounded Corners 8">
            <a:extLst>
              <a:ext uri="{FF2B5EF4-FFF2-40B4-BE49-F238E27FC236}">
                <a16:creationId xmlns:a16="http://schemas.microsoft.com/office/drawing/2014/main" id="{AB67E2D9-9E9D-F863-4BAE-D1ACB7A59896}"/>
              </a:ext>
            </a:extLst>
          </p:cNvPr>
          <p:cNvSpPr/>
          <p:nvPr/>
        </p:nvSpPr>
        <p:spPr>
          <a:xfrm>
            <a:off x="19516990" y="6917439"/>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Split dataset</a:t>
            </a:r>
          </a:p>
        </p:txBody>
      </p:sp>
      <p:sp>
        <p:nvSpPr>
          <p:cNvPr id="10" name="Rectangle: Rounded Corners 9">
            <a:extLst>
              <a:ext uri="{FF2B5EF4-FFF2-40B4-BE49-F238E27FC236}">
                <a16:creationId xmlns:a16="http://schemas.microsoft.com/office/drawing/2014/main" id="{1344948B-9127-5D85-04AF-9E27623C51DB}"/>
              </a:ext>
            </a:extLst>
          </p:cNvPr>
          <p:cNvSpPr/>
          <p:nvPr/>
        </p:nvSpPr>
        <p:spPr>
          <a:xfrm>
            <a:off x="27051018" y="6917439"/>
            <a:ext cx="6499225" cy="133843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Train model</a:t>
            </a:r>
          </a:p>
        </p:txBody>
      </p:sp>
      <p:sp>
        <p:nvSpPr>
          <p:cNvPr id="12" name="Rectangle: Rounded Corners 11">
            <a:extLst>
              <a:ext uri="{FF2B5EF4-FFF2-40B4-BE49-F238E27FC236}">
                <a16:creationId xmlns:a16="http://schemas.microsoft.com/office/drawing/2014/main" id="{9B31298B-CDEF-CDC2-2977-DCA4EAA13569}"/>
              </a:ext>
            </a:extLst>
          </p:cNvPr>
          <p:cNvSpPr/>
          <p:nvPr/>
        </p:nvSpPr>
        <p:spPr>
          <a:xfrm>
            <a:off x="27051018" y="8990043"/>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Plot classification</a:t>
            </a:r>
          </a:p>
          <a:p>
            <a:pPr algn="ctr"/>
            <a:r>
              <a:rPr lang="en-US" sz="6000" noProof="0" dirty="0">
                <a:solidFill>
                  <a:schemeClr val="tx1"/>
                </a:solidFill>
              </a:rPr>
              <a:t>results</a:t>
            </a:r>
          </a:p>
        </p:txBody>
      </p:sp>
      <p:sp>
        <p:nvSpPr>
          <p:cNvPr id="13" name="Rectangle: Rounded Corners 12">
            <a:extLst>
              <a:ext uri="{FF2B5EF4-FFF2-40B4-BE49-F238E27FC236}">
                <a16:creationId xmlns:a16="http://schemas.microsoft.com/office/drawing/2014/main" id="{A2D69792-6240-2A88-CEB7-39F07C646BE7}"/>
              </a:ext>
            </a:extLst>
          </p:cNvPr>
          <p:cNvSpPr/>
          <p:nvPr/>
        </p:nvSpPr>
        <p:spPr>
          <a:xfrm>
            <a:off x="34528255" y="8990043"/>
            <a:ext cx="6499225" cy="1834769"/>
          </a:xfrm>
          <a:prstGeom prst="roundRect">
            <a:avLst/>
          </a:prstGeom>
          <a:solidFill>
            <a:schemeClr val="bg1">
              <a:lumMod val="6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0" noProof="0" dirty="0">
                <a:solidFill>
                  <a:schemeClr val="tx1"/>
                </a:solidFill>
              </a:rPr>
              <a:t>Identify recurrent anchor rules</a:t>
            </a:r>
          </a:p>
        </p:txBody>
      </p:sp>
      <p:cxnSp>
        <p:nvCxnSpPr>
          <p:cNvPr id="16" name="Straight Arrow Connector 15">
            <a:extLst>
              <a:ext uri="{FF2B5EF4-FFF2-40B4-BE49-F238E27FC236}">
                <a16:creationId xmlns:a16="http://schemas.microsoft.com/office/drawing/2014/main" id="{0EB09105-A603-3792-FA56-C202D530844E}"/>
              </a:ext>
            </a:extLst>
          </p:cNvPr>
          <p:cNvCxnSpPr>
            <a:cxnSpLocks/>
            <a:stCxn id="3" idx="2"/>
            <a:endCxn id="4" idx="0"/>
          </p:cNvCxnSpPr>
          <p:nvPr/>
        </p:nvCxnSpPr>
        <p:spPr>
          <a:xfrm>
            <a:off x="15293974" y="8255878"/>
            <a:ext cx="0" cy="98233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18" name="Straight Arrow Connector 17">
            <a:extLst>
              <a:ext uri="{FF2B5EF4-FFF2-40B4-BE49-F238E27FC236}">
                <a16:creationId xmlns:a16="http://schemas.microsoft.com/office/drawing/2014/main" id="{826109EB-84B7-25A1-4C4D-5E40E7C05280}"/>
              </a:ext>
            </a:extLst>
          </p:cNvPr>
          <p:cNvCxnSpPr>
            <a:cxnSpLocks/>
            <a:endCxn id="8" idx="1"/>
          </p:cNvCxnSpPr>
          <p:nvPr/>
        </p:nvCxnSpPr>
        <p:spPr>
          <a:xfrm>
            <a:off x="18543586" y="9907427"/>
            <a:ext cx="973404" cy="1"/>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FE9E200C-F61C-E3BC-C813-973305E697A5}"/>
              </a:ext>
            </a:extLst>
          </p:cNvPr>
          <p:cNvCxnSpPr>
            <a:cxnSpLocks/>
            <a:stCxn id="8" idx="0"/>
            <a:endCxn id="9" idx="2"/>
          </p:cNvCxnSpPr>
          <p:nvPr/>
        </p:nvCxnSpPr>
        <p:spPr>
          <a:xfrm flipV="1">
            <a:off x="22766603" y="8255878"/>
            <a:ext cx="0" cy="98233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2" name="Straight Arrow Connector 31">
            <a:extLst>
              <a:ext uri="{FF2B5EF4-FFF2-40B4-BE49-F238E27FC236}">
                <a16:creationId xmlns:a16="http://schemas.microsoft.com/office/drawing/2014/main" id="{6B958271-883F-8940-76BB-8AF8F00A9DC4}"/>
              </a:ext>
            </a:extLst>
          </p:cNvPr>
          <p:cNvCxnSpPr>
            <a:cxnSpLocks/>
          </p:cNvCxnSpPr>
          <p:nvPr/>
        </p:nvCxnSpPr>
        <p:spPr>
          <a:xfrm>
            <a:off x="26016215" y="7586658"/>
            <a:ext cx="1034803"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38" name="Straight Arrow Connector 37">
            <a:extLst>
              <a:ext uri="{FF2B5EF4-FFF2-40B4-BE49-F238E27FC236}">
                <a16:creationId xmlns:a16="http://schemas.microsoft.com/office/drawing/2014/main" id="{14B6177B-6EC6-A0F4-463E-CAAB2559ADE4}"/>
              </a:ext>
            </a:extLst>
          </p:cNvPr>
          <p:cNvCxnSpPr>
            <a:cxnSpLocks/>
            <a:stCxn id="10" idx="2"/>
            <a:endCxn id="12" idx="0"/>
          </p:cNvCxnSpPr>
          <p:nvPr/>
        </p:nvCxnSpPr>
        <p:spPr>
          <a:xfrm>
            <a:off x="30300631" y="8255878"/>
            <a:ext cx="0" cy="734165"/>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cxnSp>
        <p:nvCxnSpPr>
          <p:cNvPr id="44" name="Straight Arrow Connector 43">
            <a:extLst>
              <a:ext uri="{FF2B5EF4-FFF2-40B4-BE49-F238E27FC236}">
                <a16:creationId xmlns:a16="http://schemas.microsoft.com/office/drawing/2014/main" id="{617806EB-FC1C-9A83-BF43-2E984DA88F27}"/>
              </a:ext>
            </a:extLst>
          </p:cNvPr>
          <p:cNvCxnSpPr>
            <a:cxnSpLocks/>
            <a:stCxn id="12" idx="3"/>
            <a:endCxn id="13" idx="1"/>
          </p:cNvCxnSpPr>
          <p:nvPr/>
        </p:nvCxnSpPr>
        <p:spPr>
          <a:xfrm>
            <a:off x="33550243" y="9907428"/>
            <a:ext cx="978012" cy="0"/>
          </a:xfrm>
          <a:prstGeom prst="straightConnector1">
            <a:avLst/>
          </a:prstGeom>
          <a:ln w="76200">
            <a:solidFill>
              <a:schemeClr val="tx1"/>
            </a:solidFill>
            <a:tailEnd type="triangle"/>
          </a:ln>
        </p:spPr>
        <p:style>
          <a:lnRef idx="2">
            <a:schemeClr val="dk1"/>
          </a:lnRef>
          <a:fillRef idx="0">
            <a:schemeClr val="dk1"/>
          </a:fillRef>
          <a:effectRef idx="1">
            <a:schemeClr val="dk1"/>
          </a:effectRef>
          <a:fontRef idx="minor">
            <a:schemeClr val="tx1"/>
          </a:fontRef>
        </p:style>
      </p:cxnSp>
      <p:sp>
        <p:nvSpPr>
          <p:cNvPr id="49" name="Rectangle: Rounded Corners 48">
            <a:extLst>
              <a:ext uri="{FF2B5EF4-FFF2-40B4-BE49-F238E27FC236}">
                <a16:creationId xmlns:a16="http://schemas.microsoft.com/office/drawing/2014/main" id="{1C29497D-2B90-2BE5-88BB-D67B8144BA05}"/>
              </a:ext>
            </a:extLst>
          </p:cNvPr>
          <p:cNvSpPr/>
          <p:nvPr/>
        </p:nvSpPr>
        <p:spPr>
          <a:xfrm>
            <a:off x="11390334" y="26961496"/>
            <a:ext cx="29946600" cy="13758873"/>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5" name="Rectangle: Top Corners Rounded 74">
            <a:extLst>
              <a:ext uri="{FF2B5EF4-FFF2-40B4-BE49-F238E27FC236}">
                <a16:creationId xmlns:a16="http://schemas.microsoft.com/office/drawing/2014/main" id="{ADA389BC-6277-D00F-8843-FDFC3BF7E611}"/>
              </a:ext>
            </a:extLst>
          </p:cNvPr>
          <p:cNvSpPr/>
          <p:nvPr/>
        </p:nvSpPr>
        <p:spPr>
          <a:xfrm rot="10800000">
            <a:off x="11391508" y="41765163"/>
            <a:ext cx="29944252" cy="7360778"/>
          </a:xfrm>
          <a:prstGeom prst="round2Same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endParaRPr lang="en-US" sz="4400" noProof="0" dirty="0">
              <a:solidFill>
                <a:schemeClr val="tx1"/>
              </a:solidFill>
            </a:endParaRPr>
          </a:p>
        </p:txBody>
      </p:sp>
      <p:sp>
        <p:nvSpPr>
          <p:cNvPr id="77" name="TextBox 76">
            <a:extLst>
              <a:ext uri="{FF2B5EF4-FFF2-40B4-BE49-F238E27FC236}">
                <a16:creationId xmlns:a16="http://schemas.microsoft.com/office/drawing/2014/main" id="{C9821E32-A8A6-C518-B031-E9D5E16F9A8D}"/>
              </a:ext>
            </a:extLst>
          </p:cNvPr>
          <p:cNvSpPr txBox="1"/>
          <p:nvPr/>
        </p:nvSpPr>
        <p:spPr>
          <a:xfrm>
            <a:off x="12044361" y="42262524"/>
            <a:ext cx="28852813" cy="6863417"/>
          </a:xfrm>
          <a:prstGeom prst="rect">
            <a:avLst/>
          </a:prstGeom>
          <a:noFill/>
        </p:spPr>
        <p:txBody>
          <a:bodyPr wrap="square">
            <a:spAutoFit/>
          </a:bodyPr>
          <a:lstStyle/>
          <a:p>
            <a:pPr marL="228600" indent="-228600">
              <a:buFont typeface="+mj-lt"/>
              <a:buAutoNum type="arabicPeriod"/>
            </a:pPr>
            <a:r>
              <a:rPr lang="en-US" sz="4400" b="1" i="0" noProof="0" dirty="0">
                <a:solidFill>
                  <a:srgbClr val="0F0F0F"/>
                </a:solidFill>
                <a:effectLst/>
                <a:latin typeface="ui-sans-serif"/>
              </a:rPr>
              <a:t>Distinct </a:t>
            </a:r>
            <a:r>
              <a:rPr lang="en-US" sz="4400" i="0" noProof="0" dirty="0">
                <a:solidFill>
                  <a:srgbClr val="0F0F0F"/>
                </a:solidFill>
                <a:effectLst/>
                <a:latin typeface="ui-sans-serif"/>
              </a:rPr>
              <a:t>Chemotypes for Selectivity: The recurrent anchors clearly separate the two selective classes. Class 1 (delta) is driven by cyano-pyrimidine </a:t>
            </a:r>
            <a:r>
              <a:rPr lang="en-US" sz="4400" b="1" i="0" noProof="0" dirty="0">
                <a:solidFill>
                  <a:srgbClr val="0F0F0F"/>
                </a:solidFill>
                <a:effectLst/>
                <a:latin typeface="ui-sans-serif"/>
              </a:rPr>
              <a:t>hinge binders</a:t>
            </a:r>
            <a:r>
              <a:rPr lang="en-US" sz="4400" i="0" noProof="0" dirty="0">
                <a:solidFill>
                  <a:srgbClr val="0F0F0F"/>
                </a:solidFill>
                <a:effectLst/>
                <a:latin typeface="ui-sans-serif"/>
              </a:rPr>
              <a:t>, while Class 2 (gamma) is driven by </a:t>
            </a:r>
            <a:r>
              <a:rPr lang="en-US" sz="4400" i="0" noProof="0" dirty="0" err="1">
                <a:solidFill>
                  <a:srgbClr val="0F0F0F"/>
                </a:solidFill>
                <a:effectLst/>
                <a:latin typeface="ui-sans-serif"/>
              </a:rPr>
              <a:t>isoquinoline</a:t>
            </a:r>
            <a:r>
              <a:rPr lang="en-US" sz="4400" i="0" noProof="0" dirty="0">
                <a:solidFill>
                  <a:srgbClr val="0F0F0F"/>
                </a:solidFill>
                <a:effectLst/>
                <a:latin typeface="ui-sans-serif"/>
              </a:rPr>
              <a:t>/</a:t>
            </a:r>
            <a:r>
              <a:rPr lang="en-US" sz="4400" i="0" noProof="0" dirty="0" err="1">
                <a:solidFill>
                  <a:srgbClr val="0F0F0F"/>
                </a:solidFill>
                <a:effectLst/>
                <a:latin typeface="ui-sans-serif"/>
              </a:rPr>
              <a:t>dihydroisoquinolinone</a:t>
            </a:r>
            <a:r>
              <a:rPr lang="en-US" sz="4400" i="0" noProof="0" dirty="0">
                <a:solidFill>
                  <a:srgbClr val="0F0F0F"/>
                </a:solidFill>
                <a:effectLst/>
                <a:latin typeface="ui-sans-serif"/>
              </a:rPr>
              <a:t> scaffolds. This </a:t>
            </a:r>
            <a:r>
              <a:rPr lang="en-US" sz="4400" b="1" i="0" noProof="0" dirty="0">
                <a:solidFill>
                  <a:srgbClr val="0F0F0F"/>
                </a:solidFill>
                <a:effectLst/>
                <a:latin typeface="ui-sans-serif"/>
              </a:rPr>
              <a:t>aligns with known structure-activity relationships (SAR) in PI3K inhibitor design.</a:t>
            </a:r>
          </a:p>
          <a:p>
            <a:endParaRPr lang="en-US" sz="4400" i="0" noProof="0" dirty="0">
              <a:solidFill>
                <a:srgbClr val="0F0F0F"/>
              </a:solidFill>
              <a:effectLst/>
              <a:latin typeface="ui-sans-serif"/>
            </a:endParaRPr>
          </a:p>
          <a:p>
            <a:pPr marL="228600" indent="-228600">
              <a:buFont typeface="+mj-lt"/>
              <a:buAutoNum type="arabicPeriod" startAt="2"/>
            </a:pPr>
            <a:r>
              <a:rPr lang="en-US" sz="4400" b="1" i="0" noProof="0" dirty="0">
                <a:solidFill>
                  <a:srgbClr val="0F0F0F"/>
                </a:solidFill>
                <a:effectLst/>
                <a:latin typeface="ui-sans-serif"/>
              </a:rPr>
              <a:t>Hinge Region Mimicry</a:t>
            </a:r>
            <a:r>
              <a:rPr lang="en-US" sz="4400" i="0" noProof="0" dirty="0">
                <a:solidFill>
                  <a:srgbClr val="0F0F0F"/>
                </a:solidFill>
                <a:effectLst/>
                <a:latin typeface="ui-sans-serif"/>
              </a:rPr>
              <a:t>: The high anchor occurrence of cyano-pyrimidines in Class 1 confirms the model has learned the </a:t>
            </a:r>
            <a:r>
              <a:rPr lang="en-US" sz="4400" b="1" i="0" noProof="0" dirty="0">
                <a:solidFill>
                  <a:srgbClr val="0F0F0F"/>
                </a:solidFill>
                <a:effectLst/>
                <a:latin typeface="ui-sans-serif"/>
              </a:rPr>
              <a:t>canonical hydrogen-bonding motif</a:t>
            </a:r>
            <a:r>
              <a:rPr lang="en-US" sz="4400" i="0" noProof="0" dirty="0">
                <a:solidFill>
                  <a:srgbClr val="0F0F0F"/>
                </a:solidFill>
                <a:effectLst/>
                <a:latin typeface="ui-sans-serif"/>
              </a:rPr>
              <a:t> required for PI3K catalytic domain binding.</a:t>
            </a:r>
          </a:p>
          <a:p>
            <a:endParaRPr lang="en-US" sz="4400" i="0" noProof="0" dirty="0">
              <a:solidFill>
                <a:srgbClr val="0F0F0F"/>
              </a:solidFill>
              <a:effectLst/>
              <a:latin typeface="ui-sans-serif"/>
            </a:endParaRPr>
          </a:p>
          <a:p>
            <a:pPr marL="228600" indent="-228600">
              <a:buFont typeface="+mj-lt"/>
              <a:buAutoNum type="arabicPeriod" startAt="3"/>
            </a:pPr>
            <a:r>
              <a:rPr lang="en-US" sz="4400" b="1" i="0" noProof="0" dirty="0">
                <a:solidFill>
                  <a:srgbClr val="0F0F0F"/>
                </a:solidFill>
                <a:effectLst/>
                <a:latin typeface="ui-sans-serif"/>
              </a:rPr>
              <a:t>Scaffold-Driven Selectivity: </a:t>
            </a:r>
            <a:r>
              <a:rPr lang="en-US" sz="4400" i="0" noProof="0" dirty="0">
                <a:solidFill>
                  <a:srgbClr val="0F0F0F"/>
                </a:solidFill>
                <a:effectLst/>
                <a:latin typeface="ui-sans-serif"/>
              </a:rPr>
              <a:t>The dominance of bicyclic nitrogenous cores (</a:t>
            </a:r>
            <a:r>
              <a:rPr lang="en-US" sz="4400" i="0" noProof="0" dirty="0" err="1">
                <a:solidFill>
                  <a:srgbClr val="0F0F0F"/>
                </a:solidFill>
                <a:effectLst/>
                <a:latin typeface="ui-sans-serif"/>
              </a:rPr>
              <a:t>isoquinolines</a:t>
            </a:r>
            <a:r>
              <a:rPr lang="en-US" sz="4400" i="0" noProof="0" dirty="0">
                <a:solidFill>
                  <a:srgbClr val="0F0F0F"/>
                </a:solidFill>
                <a:effectLst/>
                <a:latin typeface="ui-sans-serif"/>
              </a:rPr>
              <a:t>) in Class 2 suggests that PI3K-gamma selectivity is </a:t>
            </a:r>
            <a:r>
              <a:rPr lang="en-US" sz="4400" b="1" i="0" noProof="0" dirty="0">
                <a:solidFill>
                  <a:srgbClr val="0F0F0F"/>
                </a:solidFill>
                <a:effectLst/>
                <a:latin typeface="ui-sans-serif"/>
              </a:rPr>
              <a:t>heavily scaffold-dependent</a:t>
            </a:r>
            <a:r>
              <a:rPr lang="en-US" sz="4400" i="0" noProof="0" dirty="0">
                <a:solidFill>
                  <a:srgbClr val="0F0F0F"/>
                </a:solidFill>
                <a:effectLst/>
                <a:latin typeface="ui-sans-serif"/>
              </a:rPr>
              <a:t>, likely due to subtle differences in the </a:t>
            </a:r>
            <a:r>
              <a:rPr lang="en-US" sz="4400" b="1" i="0" noProof="0" dirty="0">
                <a:solidFill>
                  <a:srgbClr val="0F0F0F"/>
                </a:solidFill>
                <a:effectLst/>
                <a:latin typeface="ui-sans-serif"/>
              </a:rPr>
              <a:t>gatekeeper residue </a:t>
            </a:r>
            <a:r>
              <a:rPr lang="en-US" sz="4400" i="0" noProof="0" dirty="0">
                <a:solidFill>
                  <a:srgbClr val="0F0F0F"/>
                </a:solidFill>
                <a:effectLst/>
                <a:latin typeface="ui-sans-serif"/>
              </a:rPr>
              <a:t>or </a:t>
            </a:r>
            <a:r>
              <a:rPr lang="en-US" sz="4400" b="1" i="0" noProof="0" dirty="0">
                <a:solidFill>
                  <a:srgbClr val="0F0F0F"/>
                </a:solidFill>
                <a:effectLst/>
                <a:latin typeface="ui-sans-serif"/>
              </a:rPr>
              <a:t>allosteric pocket topology </a:t>
            </a:r>
            <a:r>
              <a:rPr lang="en-US" sz="4400" i="0" noProof="0" dirty="0">
                <a:solidFill>
                  <a:srgbClr val="0F0F0F"/>
                </a:solidFill>
                <a:effectLst/>
                <a:latin typeface="ui-sans-serif"/>
              </a:rPr>
              <a:t>compared to PI3K-delta.</a:t>
            </a:r>
            <a:endParaRPr lang="en-US" sz="4400" noProof="0" dirty="0"/>
          </a:p>
        </p:txBody>
      </p:sp>
      <p:sp>
        <p:nvSpPr>
          <p:cNvPr id="80" name="TextBox 79">
            <a:extLst>
              <a:ext uri="{FF2B5EF4-FFF2-40B4-BE49-F238E27FC236}">
                <a16:creationId xmlns:a16="http://schemas.microsoft.com/office/drawing/2014/main" id="{4F75911C-6BD0-922D-B821-7CE96BED0CA3}"/>
              </a:ext>
            </a:extLst>
          </p:cNvPr>
          <p:cNvSpPr txBox="1"/>
          <p:nvPr/>
        </p:nvSpPr>
        <p:spPr>
          <a:xfrm>
            <a:off x="17784949" y="40889572"/>
            <a:ext cx="17157371" cy="923330"/>
          </a:xfrm>
          <a:prstGeom prst="rect">
            <a:avLst/>
          </a:prstGeom>
          <a:noFill/>
        </p:spPr>
        <p:txBody>
          <a:bodyPr wrap="square">
            <a:spAutoFit/>
          </a:bodyPr>
          <a:lstStyle/>
          <a:p>
            <a:pPr algn="ctr"/>
            <a:r>
              <a:rPr lang="en-US" sz="5400" b="1" noProof="0" dirty="0">
                <a:solidFill>
                  <a:srgbClr val="0F0F0F"/>
                </a:solidFill>
                <a:latin typeface="ui-sans-serif"/>
              </a:rPr>
              <a:t>Chemical insights &amp; discussion</a:t>
            </a:r>
            <a:endParaRPr lang="en-US" sz="5400" b="1" i="0" noProof="0" dirty="0">
              <a:solidFill>
                <a:srgbClr val="0F0F0F"/>
              </a:solidFill>
              <a:effectLst/>
              <a:latin typeface="ui-sans-serif"/>
            </a:endParaRPr>
          </a:p>
        </p:txBody>
      </p:sp>
      <p:sp>
        <p:nvSpPr>
          <p:cNvPr id="81" name="Rectangle 80">
            <a:extLst>
              <a:ext uri="{FF2B5EF4-FFF2-40B4-BE49-F238E27FC236}">
                <a16:creationId xmlns:a16="http://schemas.microsoft.com/office/drawing/2014/main" id="{72807964-5BD9-B45A-64B0-2645DF88EB3B}"/>
              </a:ext>
            </a:extLst>
          </p:cNvPr>
          <p:cNvSpPr/>
          <p:nvPr/>
        </p:nvSpPr>
        <p:spPr>
          <a:xfrm>
            <a:off x="12044361" y="49996814"/>
            <a:ext cx="2414589" cy="576217"/>
          </a:xfrm>
          <a:prstGeom prst="rect">
            <a:avLst/>
          </a:prstGeom>
          <a:solidFill>
            <a:srgbClr val="A6CAE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2" name="TextBox 81">
            <a:extLst>
              <a:ext uri="{FF2B5EF4-FFF2-40B4-BE49-F238E27FC236}">
                <a16:creationId xmlns:a16="http://schemas.microsoft.com/office/drawing/2014/main" id="{EACA069E-8CED-5E8A-69B1-E9F4FC24041A}"/>
              </a:ext>
            </a:extLst>
          </p:cNvPr>
          <p:cNvSpPr txBox="1"/>
          <p:nvPr/>
        </p:nvSpPr>
        <p:spPr>
          <a:xfrm>
            <a:off x="13691175" y="49777091"/>
            <a:ext cx="6199523" cy="1015663"/>
          </a:xfrm>
          <a:prstGeom prst="rect">
            <a:avLst/>
          </a:prstGeom>
          <a:noFill/>
        </p:spPr>
        <p:txBody>
          <a:bodyPr wrap="square" rtlCol="0">
            <a:spAutoFit/>
          </a:bodyPr>
          <a:lstStyle/>
          <a:p>
            <a:pPr algn="ctr"/>
            <a:r>
              <a:rPr lang="en-US" sz="6000" noProof="0" dirty="0"/>
              <a:t>User prompt</a:t>
            </a:r>
          </a:p>
        </p:txBody>
      </p:sp>
      <p:sp>
        <p:nvSpPr>
          <p:cNvPr id="83" name="Rectangle 82">
            <a:extLst>
              <a:ext uri="{FF2B5EF4-FFF2-40B4-BE49-F238E27FC236}">
                <a16:creationId xmlns:a16="http://schemas.microsoft.com/office/drawing/2014/main" id="{083E7B6A-0D88-EE7A-862D-CD52DE210854}"/>
              </a:ext>
            </a:extLst>
          </p:cNvPr>
          <p:cNvSpPr/>
          <p:nvPr/>
        </p:nvSpPr>
        <p:spPr>
          <a:xfrm>
            <a:off x="19563794" y="49996814"/>
            <a:ext cx="2414589" cy="57621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4" name="TextBox 83">
            <a:extLst>
              <a:ext uri="{FF2B5EF4-FFF2-40B4-BE49-F238E27FC236}">
                <a16:creationId xmlns:a16="http://schemas.microsoft.com/office/drawing/2014/main" id="{358AE044-1305-34FC-BBC0-450EF8C6264C}"/>
              </a:ext>
            </a:extLst>
          </p:cNvPr>
          <p:cNvSpPr txBox="1"/>
          <p:nvPr/>
        </p:nvSpPr>
        <p:spPr>
          <a:xfrm>
            <a:off x="21704779" y="49777091"/>
            <a:ext cx="8218539" cy="1015663"/>
          </a:xfrm>
          <a:prstGeom prst="rect">
            <a:avLst/>
          </a:prstGeom>
          <a:noFill/>
        </p:spPr>
        <p:txBody>
          <a:bodyPr wrap="square" rtlCol="0">
            <a:spAutoFit/>
          </a:bodyPr>
          <a:lstStyle/>
          <a:p>
            <a:pPr algn="ctr"/>
            <a:r>
              <a:rPr lang="en-US" sz="6000" noProof="0" dirty="0" err="1"/>
              <a:t>ChemicHAL</a:t>
            </a:r>
            <a:r>
              <a:rPr lang="en-US" sz="6000" noProof="0" dirty="0"/>
              <a:t> response</a:t>
            </a:r>
          </a:p>
        </p:txBody>
      </p:sp>
      <p:sp>
        <p:nvSpPr>
          <p:cNvPr id="86" name="Rectangle 85">
            <a:extLst>
              <a:ext uri="{FF2B5EF4-FFF2-40B4-BE49-F238E27FC236}">
                <a16:creationId xmlns:a16="http://schemas.microsoft.com/office/drawing/2014/main" id="{350C722C-59C7-EC1B-EC99-E1777E1494CE}"/>
              </a:ext>
            </a:extLst>
          </p:cNvPr>
          <p:cNvSpPr/>
          <p:nvPr/>
        </p:nvSpPr>
        <p:spPr>
          <a:xfrm>
            <a:off x="29883577" y="49996814"/>
            <a:ext cx="2414589" cy="576217"/>
          </a:xfrm>
          <a:prstGeom prst="rect">
            <a:avLst/>
          </a:prstGeom>
          <a:solidFill>
            <a:srgbClr val="B4E5A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7" name="TextBox 86">
            <a:extLst>
              <a:ext uri="{FF2B5EF4-FFF2-40B4-BE49-F238E27FC236}">
                <a16:creationId xmlns:a16="http://schemas.microsoft.com/office/drawing/2014/main" id="{24FCF701-8B21-25B2-2AE4-BF962FF75654}"/>
              </a:ext>
            </a:extLst>
          </p:cNvPr>
          <p:cNvSpPr txBox="1"/>
          <p:nvPr/>
        </p:nvSpPr>
        <p:spPr>
          <a:xfrm>
            <a:off x="32541055" y="49777091"/>
            <a:ext cx="8218539" cy="1015663"/>
          </a:xfrm>
          <a:prstGeom prst="rect">
            <a:avLst/>
          </a:prstGeom>
          <a:noFill/>
        </p:spPr>
        <p:txBody>
          <a:bodyPr wrap="square" rtlCol="0">
            <a:spAutoFit/>
          </a:bodyPr>
          <a:lstStyle/>
          <a:p>
            <a:pPr algn="ctr"/>
            <a:r>
              <a:rPr lang="en-US" sz="6000" noProof="0" dirty="0" err="1"/>
              <a:t>ChemicHAL</a:t>
            </a:r>
            <a:r>
              <a:rPr lang="en-US" sz="6000" noProof="0" dirty="0"/>
              <a:t> discussion</a:t>
            </a:r>
          </a:p>
        </p:txBody>
      </p:sp>
    </p:spTree>
    <p:extLst>
      <p:ext uri="{BB962C8B-B14F-4D97-AF65-F5344CB8AC3E}">
        <p14:creationId xmlns:p14="http://schemas.microsoft.com/office/powerpoint/2010/main" val="23501573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 name="Graphic 10" descr="Tools with solid fill">
            <a:extLst>
              <a:ext uri="{FF2B5EF4-FFF2-40B4-BE49-F238E27FC236}">
                <a16:creationId xmlns:a16="http://schemas.microsoft.com/office/drawing/2014/main" id="{92D0C0C2-A6A2-3FAB-626E-69F6C32225E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2950453" y="1078277"/>
            <a:ext cx="3155389" cy="3155389"/>
          </a:xfrm>
          <a:prstGeom prst="rect">
            <a:avLst/>
          </a:prstGeom>
        </p:spPr>
      </p:pic>
      <p:sp>
        <p:nvSpPr>
          <p:cNvPr id="14" name="Rectangle: Rounded Corners 13">
            <a:extLst>
              <a:ext uri="{FF2B5EF4-FFF2-40B4-BE49-F238E27FC236}">
                <a16:creationId xmlns:a16="http://schemas.microsoft.com/office/drawing/2014/main" id="{DBF4675B-24DA-ECE6-C51C-65069789A359}"/>
              </a:ext>
            </a:extLst>
          </p:cNvPr>
          <p:cNvSpPr/>
          <p:nvPr/>
        </p:nvSpPr>
        <p:spPr>
          <a:xfrm>
            <a:off x="28524808" y="4828544"/>
            <a:ext cx="12006681" cy="8172450"/>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857250" indent="-857250">
              <a:buFont typeface="Arial" panose="020B0604020202020204" pitchFamily="34" charset="0"/>
              <a:buChar char="•"/>
            </a:pPr>
            <a:r>
              <a:rPr lang="en-US" sz="6600" noProof="0" dirty="0">
                <a:solidFill>
                  <a:schemeClr val="tx1"/>
                </a:solidFill>
              </a:rPr>
              <a:t>Find dataset</a:t>
            </a:r>
          </a:p>
          <a:p>
            <a:pPr marL="857250" indent="-857250">
              <a:buFont typeface="Arial" panose="020B0604020202020204" pitchFamily="34" charset="0"/>
              <a:buChar char="•"/>
            </a:pPr>
            <a:r>
              <a:rPr lang="en-US" sz="6600" noProof="0" dirty="0">
                <a:solidFill>
                  <a:schemeClr val="tx1"/>
                </a:solidFill>
              </a:rPr>
              <a:t>Load dataset</a:t>
            </a:r>
          </a:p>
          <a:p>
            <a:pPr marL="857250" indent="-857250">
              <a:buFont typeface="Arial" panose="020B0604020202020204" pitchFamily="34" charset="0"/>
              <a:buChar char="•"/>
            </a:pPr>
            <a:r>
              <a:rPr lang="en-US" sz="6600" noProof="0" dirty="0">
                <a:solidFill>
                  <a:schemeClr val="tx1"/>
                </a:solidFill>
              </a:rPr>
              <a:t>Compute features</a:t>
            </a:r>
          </a:p>
          <a:p>
            <a:pPr marL="857250" indent="-857250">
              <a:buFont typeface="Arial" panose="020B0604020202020204" pitchFamily="34" charset="0"/>
              <a:buChar char="•"/>
            </a:pPr>
            <a:r>
              <a:rPr lang="en-US" sz="6600" noProof="0" dirty="0">
                <a:solidFill>
                  <a:schemeClr val="tx1"/>
                </a:solidFill>
              </a:rPr>
              <a:t>Split dataset</a:t>
            </a:r>
          </a:p>
          <a:p>
            <a:pPr marL="857250" indent="-857250">
              <a:buFont typeface="Arial" panose="020B0604020202020204" pitchFamily="34" charset="0"/>
              <a:buChar char="•"/>
            </a:pPr>
            <a:r>
              <a:rPr lang="en-US" sz="6600" noProof="0" dirty="0">
                <a:solidFill>
                  <a:schemeClr val="tx1"/>
                </a:solidFill>
              </a:rPr>
              <a:t>Train model</a:t>
            </a:r>
          </a:p>
          <a:p>
            <a:pPr marL="857250" indent="-857250">
              <a:buFont typeface="Arial" panose="020B0604020202020204" pitchFamily="34" charset="0"/>
              <a:buChar char="•"/>
            </a:pPr>
            <a:r>
              <a:rPr lang="en-US" sz="6600" noProof="0" dirty="0">
                <a:solidFill>
                  <a:schemeClr val="tx1"/>
                </a:solidFill>
              </a:rPr>
              <a:t>Plot classification results</a:t>
            </a:r>
          </a:p>
          <a:p>
            <a:pPr algn="ctr"/>
            <a:endParaRPr lang="en-US" noProof="0" dirty="0"/>
          </a:p>
        </p:txBody>
      </p:sp>
      <p:sp>
        <p:nvSpPr>
          <p:cNvPr id="15" name="Speech Bubble: Rectangle with Corners Rounded 14">
            <a:extLst>
              <a:ext uri="{FF2B5EF4-FFF2-40B4-BE49-F238E27FC236}">
                <a16:creationId xmlns:a16="http://schemas.microsoft.com/office/drawing/2014/main" id="{586B1B68-9835-8617-AB39-A668D6F7FF64}"/>
              </a:ext>
            </a:extLst>
          </p:cNvPr>
          <p:cNvSpPr/>
          <p:nvPr/>
        </p:nvSpPr>
        <p:spPr>
          <a:xfrm>
            <a:off x="1078892" y="3228975"/>
            <a:ext cx="23667058" cy="11316962"/>
          </a:xfrm>
          <a:prstGeom prst="wedgeRoundRectCallou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just" defTabSz="457200" rtl="0" eaLnBrk="1" fontAlgn="auto" latinLnBrk="0" hangingPunct="1">
              <a:lnSpc>
                <a:spcPct val="100000"/>
              </a:lnSpc>
              <a:spcBef>
                <a:spcPts val="0"/>
              </a:spcBef>
              <a:spcAft>
                <a:spcPts val="0"/>
              </a:spcAft>
              <a:buClrTx/>
              <a:buSzTx/>
              <a:buFontTx/>
              <a:buNone/>
              <a:tabLst/>
              <a:defRPr/>
            </a:pPr>
            <a:r>
              <a:rPr kumimoji="0" lang="en-US" sz="7200" b="0" i="0" u="none" strike="noStrike" kern="1200" cap="none" spc="0" normalizeH="0" baseline="0" noProof="0" dirty="0">
                <a:ln>
                  <a:noFill/>
                </a:ln>
                <a:solidFill>
                  <a:prstClr val="black"/>
                </a:solidFill>
                <a:effectLst/>
                <a:uLnTx/>
                <a:uFillTx/>
                <a:latin typeface="Aptos" panose="02110004020202020204"/>
                <a:ea typeface="+mn-ea"/>
                <a:cs typeface="+mn-cs"/>
              </a:rPr>
              <a:t>You are running a reproducibility study for compound selectivity prediction. The goal is to train a Balanced Random Forest Classifier to distinguish PI3K-delta (UniProt: O00329) vs PI3K-gamma (UniProt:  P48736) selective compounds, evaluate its performance, and identify recurrent molecular anchor fragments that drive the model's correct predictions for each selective class (class 1 &amp; 2) and discuss the chemical insight gained.</a:t>
            </a:r>
          </a:p>
        </p:txBody>
      </p:sp>
      <p:pic>
        <p:nvPicPr>
          <p:cNvPr id="19" name="Picture 18">
            <a:extLst>
              <a:ext uri="{FF2B5EF4-FFF2-40B4-BE49-F238E27FC236}">
                <a16:creationId xmlns:a16="http://schemas.microsoft.com/office/drawing/2014/main" id="{4C8250D2-72DC-7FB8-4802-642FDE181659}"/>
              </a:ext>
            </a:extLst>
          </p:cNvPr>
          <p:cNvPicPr>
            <a:picLocks noChangeAspect="1"/>
          </p:cNvPicPr>
          <p:nvPr/>
        </p:nvPicPr>
        <p:blipFill>
          <a:blip r:embed="rId4"/>
          <a:stretch>
            <a:fillRect/>
          </a:stretch>
        </p:blipFill>
        <p:spPr>
          <a:xfrm>
            <a:off x="4026194" y="15972794"/>
            <a:ext cx="8089606" cy="10510988"/>
          </a:xfrm>
          <a:prstGeom prst="rect">
            <a:avLst/>
          </a:prstGeom>
        </p:spPr>
      </p:pic>
    </p:spTree>
    <p:extLst>
      <p:ext uri="{BB962C8B-B14F-4D97-AF65-F5344CB8AC3E}">
        <p14:creationId xmlns:p14="http://schemas.microsoft.com/office/powerpoint/2010/main" val="3352500814"/>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3643</Words>
  <Application>Microsoft Office PowerPoint</Application>
  <PresentationFormat>Custom</PresentationFormat>
  <Paragraphs>393</Paragraphs>
  <Slides>9</Slides>
  <Notes>0</Notes>
  <HiddenSlides>5</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Aptos</vt:lpstr>
      <vt:lpstr>Aptos Display</vt:lpstr>
      <vt:lpstr>Arial</vt:lpstr>
      <vt:lpstr>Calibri</vt:lpstr>
      <vt:lpstr>ui-sans-serif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Alec Lamens</dc:creator>
  <cp:lastModifiedBy>Alec Lamens</cp:lastModifiedBy>
  <cp:revision>67</cp:revision>
  <cp:lastPrinted>2026-05-05T07:49:20Z</cp:lastPrinted>
  <dcterms:created xsi:type="dcterms:W3CDTF">2026-05-04T13:41:34Z</dcterms:created>
  <dcterms:modified xsi:type="dcterms:W3CDTF">2026-06-10T10:20:06Z</dcterms:modified>
</cp:coreProperties>
</file>