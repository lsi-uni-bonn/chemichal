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3" r:id="rId3"/>
    <p:sldId id="262" r:id="rId4"/>
    <p:sldId id="261" r:id="rId5"/>
    <p:sldId id="259" r:id="rId6"/>
    <p:sldId id="256" r:id="rId7"/>
    <p:sldId id="258" r:id="rId8"/>
    <p:sldId id="257" r:id="rId9"/>
  </p:sldIdLst>
  <p:sldSz cx="51206400" cy="51206400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FFFFFF"/>
    <a:srgbClr val="B4E5A2"/>
    <a:srgbClr val="A6CA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6723" autoAdjust="0"/>
  </p:normalViewPr>
  <p:slideViewPr>
    <p:cSldViewPr snapToGrid="0">
      <p:cViewPr>
        <p:scale>
          <a:sx n="12" d="100"/>
          <a:sy n="12" d="100"/>
        </p:scale>
        <p:origin x="4464" y="1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0480" y="8380311"/>
            <a:ext cx="43525440" cy="17827413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0" y="26895217"/>
            <a:ext cx="38404800" cy="12363023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0"/>
            </a:lvl3pPr>
            <a:lvl4pPr marL="7680960" indent="0" algn="ctr">
              <a:buNone/>
              <a:defRPr sz="8960"/>
            </a:lvl4pPr>
            <a:lvl5pPr marL="10241280" indent="0" algn="ctr">
              <a:buNone/>
              <a:defRPr sz="8960"/>
            </a:lvl5pPr>
            <a:lvl6pPr marL="12801600" indent="0" algn="ctr">
              <a:buNone/>
              <a:defRPr sz="8960"/>
            </a:lvl6pPr>
            <a:lvl7pPr marL="15361920" indent="0" algn="ctr">
              <a:buNone/>
              <a:defRPr sz="8960"/>
            </a:lvl7pPr>
            <a:lvl8pPr marL="17922240" indent="0" algn="ctr">
              <a:buNone/>
              <a:defRPr sz="8960"/>
            </a:lvl8pPr>
            <a:lvl9pPr marL="20482560" indent="0" algn="ctr">
              <a:buNone/>
              <a:defRPr sz="8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1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3" y="12766055"/>
            <a:ext cx="44165520" cy="21300436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3" y="34268002"/>
            <a:ext cx="44165520" cy="11201396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82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82000"/>
                  </a:schemeClr>
                </a:solidFill>
              </a:defRPr>
            </a:lvl2pPr>
            <a:lvl3pPr marL="5120640" indent="0">
              <a:buNone/>
              <a:defRPr sz="10080">
                <a:solidFill>
                  <a:schemeClr val="tx1">
                    <a:tint val="82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4pPr>
            <a:lvl5pPr marL="1024128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5pPr>
            <a:lvl6pPr marL="1280160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6pPr>
            <a:lvl7pPr marL="1536192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7pPr>
            <a:lvl8pPr marL="1792224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8pPr>
            <a:lvl9pPr marL="204825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0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8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2726278"/>
            <a:ext cx="4416552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5" y="12552684"/>
            <a:ext cx="21662704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5" y="18704560"/>
            <a:ext cx="21662704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3" y="12552684"/>
            <a:ext cx="21769390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3" y="18704560"/>
            <a:ext cx="2176939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5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0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713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7372785"/>
            <a:ext cx="25923240" cy="36389733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7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7372785"/>
            <a:ext cx="25923240" cy="36389733"/>
          </a:xfrm>
        </p:spPr>
        <p:txBody>
          <a:bodyPr anchor="t"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41280" indent="0">
              <a:buNone/>
              <a:defRPr sz="11200"/>
            </a:lvl5pPr>
            <a:lvl6pPr marL="12801600" indent="0">
              <a:buNone/>
              <a:defRPr sz="11200"/>
            </a:lvl6pPr>
            <a:lvl7pPr marL="15361920" indent="0">
              <a:buNone/>
              <a:defRPr sz="11200"/>
            </a:lvl7pPr>
            <a:lvl8pPr marL="17922240" indent="0">
              <a:buNone/>
              <a:defRPr sz="11200"/>
            </a:lvl8pPr>
            <a:lvl9pPr marL="20482560" indent="0">
              <a:buNone/>
              <a:defRPr sz="1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93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30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3" y="2726267"/>
            <a:ext cx="1104138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2726267"/>
            <a:ext cx="3248406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21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0" y="2726278"/>
            <a:ext cx="4416552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0" y="13631334"/>
            <a:ext cx="4416552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C7EBC-4893-4C67-8E48-D69CA160025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0" y="47460758"/>
            <a:ext cx="1728216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5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160" indent="-1280160" algn="l" defTabSz="5120640" rtl="0" eaLnBrk="1" latinLnBrk="0" hangingPunct="1">
        <a:lnSpc>
          <a:spcPct val="90000"/>
        </a:lnSpc>
        <a:spcBef>
          <a:spcPts val="560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1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408176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66420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024128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280160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53619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79222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sv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1154620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0315A7-24C0-6048-1034-C950CB14E295}"/>
              </a:ext>
            </a:extLst>
          </p:cNvPr>
          <p:cNvGrpSpPr/>
          <p:nvPr/>
        </p:nvGrpSpPr>
        <p:grpSpPr>
          <a:xfrm>
            <a:off x="12759929" y="12660924"/>
            <a:ext cx="27604980" cy="11960823"/>
            <a:chOff x="12647583" y="12660924"/>
            <a:chExt cx="27604980" cy="11960823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C07ED87-02E6-769C-8522-F7EA43967144}"/>
                </a:ext>
              </a:extLst>
            </p:cNvPr>
            <p:cNvGrpSpPr/>
            <p:nvPr/>
          </p:nvGrpSpPr>
          <p:grpSpPr>
            <a:xfrm>
              <a:off x="25921308" y="12660924"/>
              <a:ext cx="14331255" cy="10606606"/>
              <a:chOff x="26016215" y="32690065"/>
              <a:chExt cx="14331255" cy="10606606"/>
            </a:xfrm>
          </p:grpSpPr>
          <p:pic>
            <p:nvPicPr>
              <p:cNvPr id="59" name="Picture 58" descr="A red and black molecule&#10;&#10;AI-generated content may be incorrect.">
                <a:extLst>
                  <a:ext uri="{FF2B5EF4-FFF2-40B4-BE49-F238E27FC236}">
                    <a16:creationId xmlns:a16="http://schemas.microsoft.com/office/drawing/2014/main" id="{FF828C6A-DA1B-1C2D-DF20-B453CD4FB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899" r="60477" b="34643"/>
              <a:stretch/>
            </p:blipFill>
            <p:spPr>
              <a:xfrm>
                <a:off x="26016215" y="33792057"/>
                <a:ext cx="14331255" cy="3686730"/>
              </a:xfrm>
              <a:prstGeom prst="rect">
                <a:avLst/>
              </a:prstGeom>
            </p:spPr>
          </p:pic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3328C6AB-5D2D-21F5-D316-19C43126EF72}"/>
                  </a:ext>
                </a:extLst>
              </p:cNvPr>
              <p:cNvGrpSpPr/>
              <p:nvPr/>
            </p:nvGrpSpPr>
            <p:grpSpPr>
              <a:xfrm>
                <a:off x="27091192" y="37720664"/>
                <a:ext cx="12181300" cy="1477328"/>
                <a:chOff x="27174716" y="37720664"/>
                <a:chExt cx="12181300" cy="1477328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A7D21A72-9214-4047-1740-F895FF59E1E6}"/>
                    </a:ext>
                  </a:extLst>
                </p:cNvPr>
                <p:cNvSpPr txBox="1"/>
                <p:nvPr/>
              </p:nvSpPr>
              <p:spPr>
                <a:xfrm>
                  <a:off x="27174716" y="37720664"/>
                  <a:ext cx="5323362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0.36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0.82</a:t>
                  </a:r>
                  <a:endParaRPr lang="en-US" sz="3000" dirty="0"/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062DABE-6143-0CF6-47EE-82DED9712869}"/>
                    </a:ext>
                  </a:extLst>
                </p:cNvPr>
                <p:cNvSpPr txBox="1"/>
                <p:nvPr/>
              </p:nvSpPr>
              <p:spPr>
                <a:xfrm>
                  <a:off x="34039249" y="37720664"/>
                  <a:ext cx="531676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0.18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0.36</a:t>
                  </a:r>
                  <a:endParaRPr lang="en-US" sz="3000" dirty="0"/>
                </a:p>
              </p:txBody>
            </p:sp>
          </p:grp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75CDCAE-E997-6AB6-EE31-7EEA0E2E635E}"/>
                  </a:ext>
                </a:extLst>
              </p:cNvPr>
              <p:cNvSpPr txBox="1"/>
              <p:nvPr/>
            </p:nvSpPr>
            <p:spPr>
              <a:xfrm>
                <a:off x="30026714" y="32690065"/>
                <a:ext cx="6310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PI3K-gamma</a:t>
                </a:r>
                <a:endParaRPr lang="de-DE" sz="5400" b="1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275191B-4583-8146-851D-EA0FC0A427D2}"/>
                  </a:ext>
                </a:extLst>
              </p:cNvPr>
              <p:cNvSpPr txBox="1"/>
              <p:nvPr/>
            </p:nvSpPr>
            <p:spPr>
              <a:xfrm>
                <a:off x="27101081" y="39664908"/>
                <a:ext cx="12697545" cy="36317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36.4% </a:t>
                </a:r>
                <a:r>
                  <a:rPr lang="en-US" sz="4400" dirty="0"/>
                  <a:t>of anchors. A </a:t>
                </a:r>
                <a:r>
                  <a:rPr lang="en-US" sz="4400" b="1" dirty="0"/>
                  <a:t>substituted </a:t>
                </a:r>
                <a:r>
                  <a:rPr lang="en-US" sz="4400" b="1" dirty="0" err="1"/>
                  <a:t>isoquinoline</a:t>
                </a:r>
                <a:r>
                  <a:rPr lang="en-US" sz="4400" b="1" dirty="0"/>
                  <a:t>/pyrazolo-pyridine core</a:t>
                </a:r>
                <a:r>
                  <a:rPr lang="en-US" sz="4400" dirty="0"/>
                  <a:t>, highly characteristic of PI3K-gamma selective inhibitors.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b="1" dirty="0" err="1"/>
                  <a:t>Dihydroisoquinolinone</a:t>
                </a:r>
                <a:r>
                  <a:rPr lang="en-US" sz="4400" b="1" dirty="0"/>
                  <a:t> derivatives</a:t>
                </a:r>
                <a:r>
                  <a:rPr lang="en-US" sz="4400" dirty="0"/>
                  <a:t>, frequently appearing in gamma-selective chemotypes.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B566DC8D-A751-746E-78CA-6C8E8122C95C}"/>
                </a:ext>
              </a:extLst>
            </p:cNvPr>
            <p:cNvGrpSpPr/>
            <p:nvPr/>
          </p:nvGrpSpPr>
          <p:grpSpPr>
            <a:xfrm>
              <a:off x="12647583" y="12660924"/>
              <a:ext cx="12161520" cy="11960823"/>
              <a:chOff x="12742490" y="32690065"/>
              <a:chExt cx="12161520" cy="11960823"/>
            </a:xfrm>
          </p:grpSpPr>
          <p:pic>
            <p:nvPicPr>
              <p:cNvPr id="57" name="Picture 56" descr="A black and red hexagons&#10;&#10;AI-generated content may be incorrect.">
                <a:extLst>
                  <a:ext uri="{FF2B5EF4-FFF2-40B4-BE49-F238E27FC236}">
                    <a16:creationId xmlns:a16="http://schemas.microsoft.com/office/drawing/2014/main" id="{D31C6E93-8769-C043-E3E6-35F8E48F9A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0622" b="25829"/>
              <a:stretch/>
            </p:blipFill>
            <p:spPr>
              <a:xfrm>
                <a:off x="12970037" y="33436279"/>
                <a:ext cx="11706426" cy="4042508"/>
              </a:xfrm>
              <a:prstGeom prst="rect">
                <a:avLst/>
              </a:prstGeom>
            </p:spPr>
          </p:pic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3B152157-9CC7-F546-D5E7-974890FB190C}"/>
                  </a:ext>
                </a:extLst>
              </p:cNvPr>
              <p:cNvGrpSpPr/>
              <p:nvPr/>
            </p:nvGrpSpPr>
            <p:grpSpPr>
              <a:xfrm>
                <a:off x="13187768" y="37935654"/>
                <a:ext cx="11270964" cy="1477328"/>
                <a:chOff x="13180193" y="37935654"/>
                <a:chExt cx="11270964" cy="1477328"/>
              </a:xfrm>
            </p:grpSpPr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72CEAB-6935-A767-5441-EE39B0CFE9A6}"/>
                    </a:ext>
                  </a:extLst>
                </p:cNvPr>
                <p:cNvSpPr txBox="1"/>
                <p:nvPr/>
              </p:nvSpPr>
              <p:spPr>
                <a:xfrm>
                  <a:off x="13180193" y="37935654"/>
                  <a:ext cx="541445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0.26</a:t>
                  </a:r>
                  <a:endParaRPr lang="en-US" sz="3000" dirty="0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B3D1D01-6B66-4EBF-BA63-15E4A614E261}"/>
                    </a:ext>
                  </a:extLst>
                </p:cNvPr>
                <p:cNvSpPr txBox="1"/>
                <p:nvPr/>
              </p:nvSpPr>
              <p:spPr>
                <a:xfrm>
                  <a:off x="18997991" y="37935654"/>
                  <a:ext cx="5453166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0.25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0.25</a:t>
                  </a:r>
                  <a:endParaRPr lang="en-US" sz="3000" dirty="0"/>
                </a:p>
              </p:txBody>
            </p:sp>
          </p:grp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A5C72D7-D885-252B-9D5B-8FCC3218E83B}"/>
                  </a:ext>
                </a:extLst>
              </p:cNvPr>
              <p:cNvSpPr txBox="1"/>
              <p:nvPr/>
            </p:nvSpPr>
            <p:spPr>
              <a:xfrm>
                <a:off x="15521521" y="32690065"/>
                <a:ext cx="660345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PI3K-delta</a:t>
                </a:r>
                <a:endParaRPr lang="de-DE" sz="5400" b="1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7CA5145-B7E2-1C7C-76AD-CFE78D36AE62}"/>
                  </a:ext>
                </a:extLst>
              </p:cNvPr>
              <p:cNvSpPr txBox="1"/>
              <p:nvPr/>
            </p:nvSpPr>
            <p:spPr>
              <a:xfrm>
                <a:off x="12742490" y="39664908"/>
                <a:ext cx="12161520" cy="4985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26.4% </a:t>
                </a:r>
                <a:r>
                  <a:rPr lang="en-US" sz="4400" dirty="0"/>
                  <a:t>of correctly predicted Class 1 compounds. This </a:t>
                </a:r>
                <a:r>
                  <a:rPr lang="en-US" sz="4400" b="1" dirty="0"/>
                  <a:t>cyano-substituted pyrimidine </a:t>
                </a:r>
                <a:r>
                  <a:rPr lang="en-US" sz="4400" dirty="0"/>
                  <a:t>motif is a classic </a:t>
                </a:r>
                <a:r>
                  <a:rPr lang="en-US" sz="4400" b="1" dirty="0"/>
                  <a:t>kinase hinge-binder.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25.0% </a:t>
                </a:r>
                <a:r>
                  <a:rPr lang="en-US" sz="4400" dirty="0"/>
                  <a:t>of cases. A </a:t>
                </a:r>
                <a:r>
                  <a:rPr lang="en-US" sz="4400" b="1" dirty="0"/>
                  <a:t>diamino-</a:t>
                </a:r>
                <a:r>
                  <a:rPr lang="en-US" sz="4400" b="1" dirty="0" err="1"/>
                  <a:t>cyano</a:t>
                </a:r>
                <a:r>
                  <a:rPr lang="en-US" sz="4400" b="1" dirty="0"/>
                  <a:t> pyrimidine derivative</a:t>
                </a:r>
                <a:r>
                  <a:rPr lang="en-US" sz="4400" dirty="0"/>
                  <a:t>, strongly indicating </a:t>
                </a:r>
                <a:r>
                  <a:rPr lang="en-US" sz="4400" b="1" dirty="0"/>
                  <a:t>hydrogen-bonding interactions </a:t>
                </a:r>
                <a:r>
                  <a:rPr lang="en-US" sz="4400" dirty="0"/>
                  <a:t>with the </a:t>
                </a:r>
                <a:r>
                  <a:rPr lang="en-US" sz="4400" b="1" dirty="0"/>
                  <a:t>hinge region</a:t>
                </a:r>
                <a:r>
                  <a:rPr lang="en-US" sz="4400" dirty="0"/>
                  <a:t>.</a:t>
                </a:r>
              </a:p>
            </p:txBody>
          </p:sp>
        </p:grp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457622" y="2072967"/>
            <a:ext cx="29944252" cy="3590329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12536218"/>
            <a:ext cx="29946600" cy="124308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9" y="25999205"/>
            <a:ext cx="29944252" cy="6757550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26496566"/>
            <a:ext cx="28852813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spcAft>
                <a:spcPts val="1800"/>
              </a:spcAft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pPr marL="228600" indent="-228600">
              <a:spcAft>
                <a:spcPts val="1800"/>
              </a:spcAft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25123614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2860226" y="3320637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4434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4455039" y="28125844"/>
            <a:ext cx="20876373" cy="493571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4154224" y="2369470"/>
            <a:ext cx="43034339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092708" y="7904417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1: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MolAnchor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SHAP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4154225" y="-3102958"/>
            <a:ext cx="43034337" cy="5118544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P14416) from inactive compounds, evaluate its performance, and then directly compare two pairs of explainability methods on the same on the same correctly predicted active compound:  </a:t>
            </a:r>
            <a:r>
              <a:rPr lang="en-US" sz="6000" dirty="0" err="1">
                <a:solidFill>
                  <a:schemeClr val="tx1"/>
                </a:solidFill>
              </a:rPr>
              <a:t>Molanchor</a:t>
            </a:r>
            <a:r>
              <a:rPr lang="en-US" sz="6000" dirty="0">
                <a:solidFill>
                  <a:schemeClr val="tx1"/>
                </a:solidFill>
              </a:rPr>
              <a:t> vs SHAP and </a:t>
            </a:r>
            <a:r>
              <a:rPr lang="en-US" sz="6000" dirty="0" err="1">
                <a:solidFill>
                  <a:schemeClr val="tx1"/>
                </a:solidFill>
              </a:rPr>
              <a:t>MolCE</a:t>
            </a:r>
            <a:r>
              <a:rPr lang="en-US" sz="6000" dirty="0">
                <a:solidFill>
                  <a:schemeClr val="tx1"/>
                </a:solidFill>
              </a:rPr>
              <a:t> vs Counterfactuals. Summarize where the methods agree on the structural determinants of the predictions and where they disagree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60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4154225" y="8937608"/>
            <a:ext cx="43034337" cy="161875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4183558" y="43987533"/>
            <a:ext cx="42966225" cy="871111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4337120" y="43987535"/>
            <a:ext cx="42668547" cy="9633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52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52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52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52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52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52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092708" y="43009821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2060852" y="53380182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4728070" y="2817285"/>
            <a:ext cx="41369126" cy="4270163"/>
            <a:chOff x="6759985" y="11876103"/>
            <a:chExt cx="41369126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5" y="12124268"/>
              <a:ext cx="7772400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5" y="14558075"/>
              <a:ext cx="7772400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5159167" y="14558075"/>
              <a:ext cx="7772400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Compute features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5159167" y="12124268"/>
              <a:ext cx="7772400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3558349" y="12124268"/>
              <a:ext cx="7772400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3558349" y="14309910"/>
              <a:ext cx="7772400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molanchor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31957531" y="14308322"/>
              <a:ext cx="7772400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smiles with SHAP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646185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4532385" y="15227295"/>
              <a:ext cx="626782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9045367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22931567" y="12793488"/>
              <a:ext cx="626782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7444549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31330749" y="15227294"/>
              <a:ext cx="626782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31957531" y="11876103"/>
              <a:ext cx="7772400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MolCE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40356711" y="11876103"/>
              <a:ext cx="7772400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Generate counterfactuals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584373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7FD3E7C-BE4B-8079-4E21-3CAB73D84A8F}"/>
                </a:ext>
              </a:extLst>
            </p:cNvPr>
            <p:cNvSpPr/>
            <p:nvPr/>
          </p:nvSpPr>
          <p:spPr>
            <a:xfrm>
              <a:off x="40356711" y="14308322"/>
              <a:ext cx="7772400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top k bit environments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9729931" y="12793488"/>
              <a:ext cx="62678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37A21C-5BCA-35D4-54D6-C61119FAA409}"/>
                </a:ext>
              </a:extLst>
            </p:cNvPr>
            <p:cNvCxnSpPr>
              <a:cxnSpLocks/>
              <a:stCxn id="15" idx="2"/>
              <a:endCxn id="34" idx="0"/>
            </p:cNvCxnSpPr>
            <p:nvPr/>
          </p:nvCxnSpPr>
          <p:spPr>
            <a:xfrm>
              <a:off x="4424291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3235830" y="9035700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SHAP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1591496" y="9035700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MolAnchor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9388797" y="9863073"/>
            <a:ext cx="11008857" cy="674374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30886530" y="9917252"/>
            <a:ext cx="11008857" cy="69593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4631351" y="16986423"/>
            <a:ext cx="20523749" cy="720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5400" b="1" dirty="0"/>
              <a:t>✅ AGREEMENTS (</a:t>
            </a:r>
            <a:r>
              <a:rPr lang="en-US" sz="5400" b="1" dirty="0" err="1"/>
              <a:t>MolAnchor</a:t>
            </a:r>
            <a:r>
              <a:rPr lang="en-US" sz="5400" b="1" dirty="0"/>
              <a:t> ↔ SHAP)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dirty="0"/>
              <a:t>Core scaffold importance: </a:t>
            </a:r>
            <a:r>
              <a:rPr lang="en-US" sz="5400" dirty="0"/>
              <a:t>Both methods identify the piperazine/benzyl core as critical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dirty="0"/>
              <a:t>N-methyl motif: </a:t>
            </a:r>
            <a:r>
              <a:rPr lang="en-US" sz="5400" dirty="0"/>
              <a:t>SHAP's top features (Bits 1280, 1791, 1792) all involve the N-methyl/benzyl-dimethylamine region captured by </a:t>
            </a:r>
            <a:r>
              <a:rPr lang="en-US" sz="5400" dirty="0" err="1"/>
              <a:t>MolAnchor's</a:t>
            </a:r>
            <a:r>
              <a:rPr lang="en-US" sz="5400" dirty="0"/>
              <a:t> anchor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dirty="0"/>
              <a:t>Pharmacophore consensus</a:t>
            </a:r>
            <a:r>
              <a:rPr lang="en-US" sz="5400" dirty="0"/>
              <a:t>: Both confirm the morpholinone-piperazine-benzyl framework is essential for D2 binding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789758" y="16986423"/>
            <a:ext cx="192024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5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5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5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5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7092708" y="25474704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3235830" y="26861234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1591496" y="26861234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5292025" y="35439903"/>
            <a:ext cx="19202400" cy="803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5400" b="1" dirty="0">
                <a:latin typeface="Aptos" panose="020B0004020202020204" pitchFamily="34" charset="0"/>
              </a:rPr>
              <a:t>✅ AGREEMENTS (</a:t>
            </a:r>
            <a:r>
              <a:rPr lang="en-US" sz="5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5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5400" b="1" dirty="0"/>
              <a:t>Piperazine N as critical site: </a:t>
            </a:r>
            <a:r>
              <a:rPr lang="en-US" sz="5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dirty="0"/>
              <a:t> Substituent sensitivity: </a:t>
            </a:r>
            <a:r>
              <a:rPr lang="en-US" sz="5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5400" b="1" dirty="0"/>
              <a:t> Polarity effect: </a:t>
            </a:r>
            <a:r>
              <a:rPr lang="en-US" sz="5400" dirty="0" err="1"/>
              <a:t>MolCE's</a:t>
            </a:r>
            <a:r>
              <a:rPr lang="en-US" sz="5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789758" y="35439903"/>
            <a:ext cx="19202400" cy="7048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5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5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5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5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5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5975019" y="28081024"/>
            <a:ext cx="20831878" cy="4930638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485826" y="33322480"/>
            <a:ext cx="83463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44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4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7370684" y="33322480"/>
            <a:ext cx="83463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44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4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6857880" y="33322480"/>
            <a:ext cx="54144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44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4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7739342" y="33322480"/>
            <a:ext cx="545316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44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4400" dirty="0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4154224" y="26553256"/>
            <a:ext cx="43034339" cy="161875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43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4535967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979702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Explanation of active and inactive compounds</a:t>
            </a: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8"/>
            <a:ext cx="37042353" cy="3858422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Train a GNN model on a compound activity prediction dataset. Select a correctly predicted active compound and a correctly predicted inactive compound from the test set and explain the predictions using </a:t>
            </a:r>
            <a:r>
              <a:rPr lang="en-US" sz="6000" dirty="0" err="1">
                <a:solidFill>
                  <a:schemeClr val="tx1"/>
                </a:solidFill>
              </a:rPr>
              <a:t>EdgeSHAPer</a:t>
            </a:r>
            <a:r>
              <a:rPr lang="en-US" sz="6000" dirty="0">
                <a:solidFill>
                  <a:schemeClr val="tx1"/>
                </a:solidFill>
              </a:rPr>
              <a:t>. Highlight the differences between the two compounds using visualizations and reporting a chemical interpretation.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0830211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4983782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Prepare GNN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GNN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Select compounds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710872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20615405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Visualize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r>
                <a:rPr lang="en-US" sz="6000" dirty="0">
                  <a:solidFill>
                    <a:schemeClr val="tx1"/>
                  </a:solidFill>
                </a:rPr>
                <a:t> results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bond environments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092830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Inactive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092830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Active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1963804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1809855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18879026"/>
            <a:ext cx="16459200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it-IT" sz="4400" b="1" dirty="0"/>
              <a:t>💡</a:t>
            </a:r>
            <a:r>
              <a:rPr lang="en-US" sz="4400" b="1" dirty="0" err="1"/>
              <a:t>EdgeSHAPer</a:t>
            </a:r>
            <a:r>
              <a:rPr lang="en-US" sz="4400" b="1" dirty="0"/>
              <a:t> insights </a:t>
            </a:r>
          </a:p>
          <a:p>
            <a:pPr algn="l"/>
            <a:r>
              <a:rPr lang="en-US" sz="4400" b="1" i="0" dirty="0">
                <a:effectLst/>
              </a:rPr>
              <a:t>Piperazine Ring Bonds Dominate</a:t>
            </a:r>
            <a:r>
              <a:rPr lang="en-US" sz="4400" b="0" i="0" dirty="0">
                <a:effectLst/>
              </a:rPr>
              <a:t> (φ = 0.116, 0.101, 0.095)</a:t>
            </a:r>
          </a:p>
          <a:p>
            <a:pPr algn="l"/>
            <a:endParaRPr lang="en-US" sz="4400" b="0" i="0" dirty="0">
              <a:effectLst/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The C-N and C-C bonds within the </a:t>
            </a:r>
            <a:r>
              <a:rPr lang="en-US" sz="4400" b="1" i="0" dirty="0">
                <a:effectLst/>
              </a:rPr>
              <a:t>piperazine ring </a:t>
            </a:r>
            <a:r>
              <a:rPr lang="en-US" sz="4400" b="0" i="0" dirty="0">
                <a:effectLst/>
              </a:rPr>
              <a:t>show the highest positive SHAP values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This suggests the model associates the </a:t>
            </a:r>
            <a:r>
              <a:rPr lang="en-US" sz="4400" b="1" i="0" dirty="0">
                <a:effectLst/>
              </a:rPr>
              <a:t>piperazine scaffold with activity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Piperazine is a </a:t>
            </a:r>
            <a:r>
              <a:rPr lang="en-US" sz="4400" b="1" i="0" dirty="0">
                <a:effectLst/>
              </a:rPr>
              <a:t>common pharmacophore </a:t>
            </a:r>
            <a:r>
              <a:rPr lang="en-US" sz="4400" b="0" i="0" dirty="0">
                <a:effectLst/>
              </a:rPr>
              <a:t>in bioactive molecules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18879026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175012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7050566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1257408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1: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MolAnchor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SHAP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7"/>
            <a:ext cx="37071691" cy="6053787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 P14416) from inactive compounds, evaluate its performance, and then directly compare two pairs of explainability methods on the same on the same correctly predicted active compound: </a:t>
            </a:r>
            <a:r>
              <a:rPr lang="en-US" sz="6000" dirty="0" err="1">
                <a:solidFill>
                  <a:schemeClr val="tx1"/>
                </a:solidFill>
              </a:rPr>
              <a:t>Molanchor</a:t>
            </a:r>
            <a:r>
              <a:rPr lang="en-US" sz="6000" dirty="0">
                <a:solidFill>
                  <a:schemeClr val="tx1"/>
                </a:solidFill>
              </a:rPr>
              <a:t> vs SHAP and </a:t>
            </a:r>
            <a:r>
              <a:rPr lang="en-US" sz="6000" dirty="0" err="1">
                <a:solidFill>
                  <a:schemeClr val="tx1"/>
                </a:solidFill>
              </a:rPr>
              <a:t>MolCE</a:t>
            </a:r>
            <a:r>
              <a:rPr lang="en-US" sz="6000" dirty="0">
                <a:solidFill>
                  <a:schemeClr val="tx1"/>
                </a:solidFill>
              </a:rPr>
              <a:t> vs Counterfactuals. Summarize where the methods agree on the structural determinants of the predictions and where they disagree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60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3607274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7498381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Compute features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molanchor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smiles with SHAP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20615405" y="12793487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MolCE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Generate counterfactuals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7FD3E7C-BE4B-8079-4E21-3CAB73D84A8F}"/>
                </a:ext>
              </a:extLst>
            </p:cNvPr>
            <p:cNvSpPr/>
            <p:nvPr/>
          </p:nvSpPr>
          <p:spPr>
            <a:xfrm>
              <a:off x="36184762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top k bit environments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37A21C-5BCA-35D4-54D6-C61119FAA409}"/>
                </a:ext>
              </a:extLst>
            </p:cNvPr>
            <p:cNvCxnSpPr>
              <a:cxnSpLocks/>
              <a:stCxn id="15" idx="2"/>
              <a:endCxn id="34" idx="0"/>
            </p:cNvCxnSpPr>
            <p:nvPr/>
          </p:nvCxnSpPr>
          <p:spPr>
            <a:xfrm>
              <a:off x="39434375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3705366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SHAP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3705366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MolAnchor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4740867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4586918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/>
              <a:t>✅ AGREEMENTS (</a:t>
            </a:r>
            <a:r>
              <a:rPr lang="en-US" sz="4400" b="1" dirty="0" err="1"/>
              <a:t>MolAnchor</a:t>
            </a:r>
            <a:r>
              <a:rPr lang="en-US" sz="4400" b="1" dirty="0"/>
              <a:t> ↔ SHAP)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Core scaffold importance: </a:t>
            </a:r>
            <a:r>
              <a:rPr lang="en-US" sz="4400" dirty="0"/>
              <a:t>Both methods identify the piperazine/benzyl core as critical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N-methyl motif: </a:t>
            </a:r>
            <a:r>
              <a:rPr lang="en-US" sz="4400" dirty="0"/>
              <a:t>SHAP's top features (Bits 1280, 1791, 1792) all involve the N-methyl/benzyl-dimethylamine region captured by </a:t>
            </a:r>
            <a:r>
              <a:rPr lang="en-US" sz="4400" dirty="0" err="1"/>
              <a:t>MolAnchor's</a:t>
            </a:r>
            <a:r>
              <a:rPr lang="en-US" sz="4400" dirty="0"/>
              <a:t> anchor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Pharmacophore consensus</a:t>
            </a:r>
            <a:r>
              <a:rPr lang="en-US" sz="4400" dirty="0"/>
              <a:t>: Both confirm the morpholinone-piperazine-benzyl framework is essential for D2 binding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074598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3691175" y="12224390"/>
            <a:ext cx="23735578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3647094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diagram of a confusion matrix&#10;&#10;AI-generated content may be incorrect.">
            <a:extLst>
              <a:ext uri="{FF2B5EF4-FFF2-40B4-BE49-F238E27FC236}">
                <a16:creationId xmlns:a16="http://schemas.microsoft.com/office/drawing/2014/main" id="{35B53DDB-EACD-148B-0EA7-FF3D0B7D5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3"/>
          <a:stretch/>
        </p:blipFill>
        <p:spPr>
          <a:xfrm>
            <a:off x="693492" y="19461184"/>
            <a:ext cx="7978651" cy="827396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693491" y="18597830"/>
            <a:ext cx="22127025" cy="1595313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25CD5-A017-BD2B-F176-3CA388103295}"/>
              </a:ext>
            </a:extLst>
          </p:cNvPr>
          <p:cNvSpPr/>
          <p:nvPr/>
        </p:nvSpPr>
        <p:spPr>
          <a:xfrm>
            <a:off x="1633447" y="8198389"/>
            <a:ext cx="17246113" cy="62706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</a:t>
            </a:r>
            <a:r>
              <a:rPr lang="en-US" sz="54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dirty="0"/>
          </a:p>
        </p:txBody>
      </p:sp>
      <p:pic>
        <p:nvPicPr>
          <p:cNvPr id="7" name="Graphic 6" descr="Customer review with solid fill">
            <a:extLst>
              <a:ext uri="{FF2B5EF4-FFF2-40B4-BE49-F238E27FC236}">
                <a16:creationId xmlns:a16="http://schemas.microsoft.com/office/drawing/2014/main" id="{D7B0435D-F7B8-934A-EEAB-9AFE4BFF1E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6328" y="5398038"/>
            <a:ext cx="2800350" cy="2800350"/>
          </a:xfrm>
          <a:prstGeom prst="rect">
            <a:avLst/>
          </a:prstGeom>
        </p:spPr>
      </p:pic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37765" y="6360459"/>
            <a:ext cx="2378678" cy="2378678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854274" y="8802264"/>
            <a:ext cx="9273325" cy="5165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Plot classification results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Identify recurrent anchor rules</a:t>
            </a:r>
          </a:p>
          <a:p>
            <a:pPr algn="ctr"/>
            <a:endParaRPr lang="en-US" dirty="0"/>
          </a:p>
        </p:txBody>
      </p:sp>
      <p:pic>
        <p:nvPicPr>
          <p:cNvPr id="20" name="Graphic 19" descr="Customer review with solid fill">
            <a:extLst>
              <a:ext uri="{FF2B5EF4-FFF2-40B4-BE49-F238E27FC236}">
                <a16:creationId xmlns:a16="http://schemas.microsoft.com/office/drawing/2014/main" id="{CB6AEA3E-2CED-76CE-CC55-238DCE87A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5147" y="43423310"/>
            <a:ext cx="3110003" cy="3110003"/>
          </a:xfrm>
          <a:prstGeom prst="rect">
            <a:avLst/>
          </a:prstGeom>
        </p:spPr>
      </p:pic>
      <p:pic>
        <p:nvPicPr>
          <p:cNvPr id="21" name="Graphic 20" descr="Tools with solid fill">
            <a:extLst>
              <a:ext uri="{FF2B5EF4-FFF2-40B4-BE49-F238E27FC236}">
                <a16:creationId xmlns:a16="http://schemas.microsoft.com/office/drawing/2014/main" id="{30357586-D891-7B9B-5CE7-CEE2D87E83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33447" y="47095411"/>
            <a:ext cx="2641703" cy="264170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AD7EEF7-AC29-6E82-9961-99B7A43B828C}"/>
              </a:ext>
            </a:extLst>
          </p:cNvPr>
          <p:cNvSpPr txBox="1"/>
          <p:nvPr/>
        </p:nvSpPr>
        <p:spPr>
          <a:xfrm>
            <a:off x="5743575" y="44378146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User prompt to </a:t>
            </a:r>
            <a:r>
              <a:rPr lang="en-US" sz="7200" dirty="0" err="1"/>
              <a:t>ChemicHAL</a:t>
            </a:r>
            <a:endParaRPr lang="en-US" sz="7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C960E6-BF83-97BE-9634-10CAB5F967F9}"/>
              </a:ext>
            </a:extLst>
          </p:cNvPr>
          <p:cNvSpPr txBox="1"/>
          <p:nvPr/>
        </p:nvSpPr>
        <p:spPr>
          <a:xfrm>
            <a:off x="5743575" y="47334044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tools called</a:t>
            </a:r>
          </a:p>
        </p:txBody>
      </p:sp>
      <p:pic>
        <p:nvPicPr>
          <p:cNvPr id="27" name="Picture 26" descr="A bar graph with numbers and text&#10;&#10;AI-generated content may be incorrect.">
            <a:extLst>
              <a:ext uri="{FF2B5EF4-FFF2-40B4-BE49-F238E27FC236}">
                <a16:creationId xmlns:a16="http://schemas.microsoft.com/office/drawing/2014/main" id="{DDA67D64-D306-A0CD-5ECD-8492A850A7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08" b="17689"/>
          <a:stretch/>
        </p:blipFill>
        <p:spPr>
          <a:xfrm>
            <a:off x="8463999" y="20397699"/>
            <a:ext cx="13225524" cy="640093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666244" y="28261810"/>
            <a:ext cx="200232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pic>
        <p:nvPicPr>
          <p:cNvPr id="33" name="Graphic 32" descr="Subtitles with solid fill">
            <a:extLst>
              <a:ext uri="{FF2B5EF4-FFF2-40B4-BE49-F238E27FC236}">
                <a16:creationId xmlns:a16="http://schemas.microsoft.com/office/drawing/2014/main" id="{C52E7A92-5E5B-8D10-F20D-87C226214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30373" y="15977828"/>
            <a:ext cx="2884975" cy="2884975"/>
          </a:xfrm>
          <a:prstGeom prst="rect">
            <a:avLst/>
          </a:prstGeom>
        </p:spPr>
      </p:pic>
      <p:pic>
        <p:nvPicPr>
          <p:cNvPr id="34" name="Graphic 33" descr="Subtitles with solid fill">
            <a:extLst>
              <a:ext uri="{FF2B5EF4-FFF2-40B4-BE49-F238E27FC236}">
                <a16:creationId xmlns:a16="http://schemas.microsoft.com/office/drawing/2014/main" id="{79762F53-3216-6517-D583-06E345BC81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859625" y="43535822"/>
            <a:ext cx="2884975" cy="288497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E81FB83-7547-28A2-7CD6-3C02D9F62266}"/>
              </a:ext>
            </a:extLst>
          </p:cNvPr>
          <p:cNvSpPr txBox="1"/>
          <p:nvPr/>
        </p:nvSpPr>
        <p:spPr>
          <a:xfrm>
            <a:off x="22744600" y="44372723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Response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15D1001-4EDE-353E-1E12-A7E7F98D98C9}"/>
              </a:ext>
            </a:extLst>
          </p:cNvPr>
          <p:cNvSpPr/>
          <p:nvPr/>
        </p:nvSpPr>
        <p:spPr>
          <a:xfrm>
            <a:off x="24726167" y="18248251"/>
            <a:ext cx="22543477" cy="1714621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0" name="Graphic 49" descr="Subtitles with solid fill">
            <a:extLst>
              <a:ext uri="{FF2B5EF4-FFF2-40B4-BE49-F238E27FC236}">
                <a16:creationId xmlns:a16="http://schemas.microsoft.com/office/drawing/2014/main" id="{5F915C69-C22F-2AA5-1B17-D827237339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555417" y="15628249"/>
            <a:ext cx="2884975" cy="288497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7072861" y="18773143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31026405" y="18410119"/>
            <a:ext cx="994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pic>
        <p:nvPicPr>
          <p:cNvPr id="57" name="Picture 56" descr="A black and red hexagons&#10;&#10;AI-generated content may be incorrect.">
            <a:extLst>
              <a:ext uri="{FF2B5EF4-FFF2-40B4-BE49-F238E27FC236}">
                <a16:creationId xmlns:a16="http://schemas.microsoft.com/office/drawing/2014/main" id="{D31C6E93-8769-C043-E3E6-35F8E48F9A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5217677" y="21809773"/>
            <a:ext cx="10517536" cy="3631955"/>
          </a:xfrm>
          <a:prstGeom prst="rect">
            <a:avLst/>
          </a:prstGeom>
        </p:spPr>
      </p:pic>
      <p:pic>
        <p:nvPicPr>
          <p:cNvPr id="59" name="Picture 58" descr="A red and black molecule&#10;&#10;AI-generated content may be incorrect.">
            <a:extLst>
              <a:ext uri="{FF2B5EF4-FFF2-40B4-BE49-F238E27FC236}">
                <a16:creationId xmlns:a16="http://schemas.microsoft.com/office/drawing/2014/main" id="{FF828C6A-DA1B-1C2D-DF20-B453CD4FBA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35692258" y="22170466"/>
            <a:ext cx="11314115" cy="291056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9CE13C4E-79CE-DA5C-2A96-845AEE2FBFDF}"/>
              </a:ext>
            </a:extLst>
          </p:cNvPr>
          <p:cNvGrpSpPr/>
          <p:nvPr/>
        </p:nvGrpSpPr>
        <p:grpSpPr>
          <a:xfrm>
            <a:off x="25192736" y="25365208"/>
            <a:ext cx="10567418" cy="1477328"/>
            <a:chOff x="23529200" y="26300403"/>
            <a:chExt cx="10567418" cy="1477328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572CEAB-6935-A767-5441-EE39B0CFE9A6}"/>
                </a:ext>
              </a:extLst>
            </p:cNvPr>
            <p:cNvSpPr txBox="1"/>
            <p:nvPr/>
          </p:nvSpPr>
          <p:spPr>
            <a:xfrm>
              <a:off x="23529200" y="26300403"/>
              <a:ext cx="541445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0.26</a:t>
              </a:r>
              <a:endParaRPr lang="en-US" sz="3000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3D1D01-6B66-4EBF-BA63-15E4A614E261}"/>
                </a:ext>
              </a:extLst>
            </p:cNvPr>
            <p:cNvSpPr txBox="1"/>
            <p:nvPr/>
          </p:nvSpPr>
          <p:spPr>
            <a:xfrm>
              <a:off x="28643452" y="26300403"/>
              <a:ext cx="5453166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0.25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0.25</a:t>
              </a:r>
              <a:endParaRPr lang="en-US" sz="30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21A5C7F-5F5F-A4FE-1C50-2D26291CDC2B}"/>
              </a:ext>
            </a:extLst>
          </p:cNvPr>
          <p:cNvGrpSpPr/>
          <p:nvPr/>
        </p:nvGrpSpPr>
        <p:grpSpPr>
          <a:xfrm>
            <a:off x="35937642" y="25365208"/>
            <a:ext cx="10823347" cy="1477328"/>
            <a:chOff x="34281406" y="25702526"/>
            <a:chExt cx="10823347" cy="1477328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7D21A72-9214-4047-1740-F895FF59E1E6}"/>
                </a:ext>
              </a:extLst>
            </p:cNvPr>
            <p:cNvSpPr txBox="1"/>
            <p:nvPr/>
          </p:nvSpPr>
          <p:spPr>
            <a:xfrm>
              <a:off x="34281406" y="25702526"/>
              <a:ext cx="5323362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0.36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0.82</a:t>
              </a:r>
              <a:endParaRPr lang="en-US" sz="30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62DABE-6143-0CF6-47EE-82DED9712869}"/>
                </a:ext>
              </a:extLst>
            </p:cNvPr>
            <p:cNvSpPr txBox="1"/>
            <p:nvPr/>
          </p:nvSpPr>
          <p:spPr>
            <a:xfrm>
              <a:off x="39787986" y="25702526"/>
              <a:ext cx="531676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0.18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0.36</a:t>
              </a:r>
              <a:endParaRPr lang="en-US" sz="3000" dirty="0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27174716" y="20760188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sz="54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8194187" y="20760188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sz="54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75191B-4583-8146-851D-EA0FC0A427D2}"/>
              </a:ext>
            </a:extLst>
          </p:cNvPr>
          <p:cNvSpPr txBox="1"/>
          <p:nvPr/>
        </p:nvSpPr>
        <p:spPr>
          <a:xfrm>
            <a:off x="36073227" y="27126710"/>
            <a:ext cx="10552176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[*]c1ccn2nc(N)c([*])c2n1: Occurs in 36.4% of anchors. A </a:t>
            </a:r>
            <a:r>
              <a:rPr lang="en-US" sz="4400" b="1" dirty="0"/>
              <a:t>substituted </a:t>
            </a:r>
            <a:r>
              <a:rPr lang="en-US" sz="4400" b="1" dirty="0" err="1"/>
              <a:t>isoquinoline</a:t>
            </a:r>
            <a:r>
              <a:rPr lang="en-US" sz="4400" b="1" dirty="0"/>
              <a:t>/pyrazolo-pyridine core</a:t>
            </a:r>
            <a:r>
              <a:rPr lang="en-US" sz="4400" dirty="0"/>
              <a:t>, highly characteristic of PI3K-gamma selective inhibitors.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[*]N1Cc2cc([*])cc([*])c2C1=O</a:t>
            </a:r>
            <a:r>
              <a:rPr lang="en-US" sz="4400" b="1" dirty="0"/>
              <a:t>: </a:t>
            </a:r>
            <a:r>
              <a:rPr lang="en-US" sz="4400" b="1" dirty="0" err="1"/>
              <a:t>Dihydroisoquinolinone</a:t>
            </a:r>
            <a:r>
              <a:rPr lang="en-US" sz="4400" b="1" dirty="0"/>
              <a:t> derivatives</a:t>
            </a:r>
            <a:r>
              <a:rPr lang="en-US" sz="4400" dirty="0"/>
              <a:t>, frequently appearing in gamma-selective chemotypes.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CA5145-B7E2-1C7C-76AD-CFE78D36AE62}"/>
              </a:ext>
            </a:extLst>
          </p:cNvPr>
          <p:cNvSpPr txBox="1"/>
          <p:nvPr/>
        </p:nvSpPr>
        <p:spPr>
          <a:xfrm>
            <a:off x="25376906" y="27084437"/>
            <a:ext cx="10550661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[*]c1ncnc(N)c1C#N: Occurs in 26.4% of correctly predicted Class 1 compounds. This </a:t>
            </a:r>
            <a:r>
              <a:rPr lang="en-US" sz="4400" b="1" dirty="0"/>
              <a:t>cyano-substituted pyrimidine</a:t>
            </a:r>
            <a:r>
              <a:rPr lang="en-US" sz="4400" dirty="0"/>
              <a:t> motif is a classic </a:t>
            </a:r>
            <a:r>
              <a:rPr lang="en-US" sz="4400" b="1" dirty="0"/>
              <a:t>kinase hinge-binder</a:t>
            </a:r>
            <a:r>
              <a:rPr lang="en-US" sz="4400" dirty="0"/>
              <a:t>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[*]c1nc(N)</a:t>
            </a:r>
            <a:r>
              <a:rPr lang="en-US" sz="4400" dirty="0" err="1"/>
              <a:t>nc</a:t>
            </a:r>
            <a:r>
              <a:rPr lang="en-US" sz="4400" dirty="0"/>
              <a:t>(N)c1C#N: Occurs in 25.0% of cases. A </a:t>
            </a:r>
            <a:r>
              <a:rPr lang="en-US" sz="4400" b="1" dirty="0"/>
              <a:t>diamino-</a:t>
            </a:r>
            <a:r>
              <a:rPr lang="en-US" sz="4400" b="1" dirty="0" err="1"/>
              <a:t>cyano</a:t>
            </a:r>
            <a:r>
              <a:rPr lang="en-US" sz="4400" b="1" dirty="0"/>
              <a:t> pyrimidine derivative</a:t>
            </a:r>
            <a:r>
              <a:rPr lang="en-US" sz="4400" dirty="0"/>
              <a:t>, strongly indicating </a:t>
            </a:r>
            <a:r>
              <a:rPr lang="en-US" sz="4400" b="1" dirty="0"/>
              <a:t>hydrogen-bonding interactions </a:t>
            </a:r>
            <a:r>
              <a:rPr lang="en-US" sz="4400" dirty="0"/>
              <a:t>with the </a:t>
            </a:r>
            <a:r>
              <a:rPr lang="en-US" sz="4400" b="1" dirty="0"/>
              <a:t>hinge region</a:t>
            </a:r>
            <a:r>
              <a:rPr lang="en-US" sz="4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5803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1390334" y="12224390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235015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0453" y="1078277"/>
            <a:ext cx="3155389" cy="315538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524808" y="4828544"/>
            <a:ext cx="12006681" cy="817245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Plot classification results</a:t>
            </a:r>
          </a:p>
          <a:p>
            <a:pPr algn="ctr"/>
            <a:endParaRPr lang="en-US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586B1B68-9835-8617-AB39-A668D6F7FF64}"/>
              </a:ext>
            </a:extLst>
          </p:cNvPr>
          <p:cNvSpPr/>
          <p:nvPr/>
        </p:nvSpPr>
        <p:spPr>
          <a:xfrm>
            <a:off x="1078892" y="3228975"/>
            <a:ext cx="23667058" cy="11316962"/>
          </a:xfrm>
          <a:prstGeom prst="wedgeRoundRectCallou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You are running a reproducibility study for compound selectivity prediction. The goal is to train a Balanced Random Forest Classifier to distinguish PI3K-delta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O00329) vs PI3K-gamma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C8250D2-72DC-7FB8-4802-642FDE181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194" y="15972794"/>
            <a:ext cx="8089606" cy="105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00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3243</Words>
  <Application>Microsoft Office PowerPoint</Application>
  <PresentationFormat>Custom</PresentationFormat>
  <Paragraphs>338</Paragraphs>
  <Slides>8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Alec Lamens</cp:lastModifiedBy>
  <cp:revision>32</cp:revision>
  <cp:lastPrinted>2026-05-05T07:49:20Z</cp:lastPrinted>
  <dcterms:created xsi:type="dcterms:W3CDTF">2026-05-04T13:41:34Z</dcterms:created>
  <dcterms:modified xsi:type="dcterms:W3CDTF">2026-06-03T09:29:36Z</dcterms:modified>
</cp:coreProperties>
</file>