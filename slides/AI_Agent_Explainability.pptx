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6"/>
  </p:notesMasterIdLst>
  <p:sldIdLst>
    <p:sldId id="297" r:id="rId3"/>
    <p:sldId id="298" r:id="rId4"/>
    <p:sldId id="299" r:id="rId5"/>
    <p:sldId id="519" r:id="rId6"/>
    <p:sldId id="300" r:id="rId7"/>
    <p:sldId id="302" r:id="rId8"/>
    <p:sldId id="305" r:id="rId9"/>
    <p:sldId id="306" r:id="rId10"/>
    <p:sldId id="307" r:id="rId11"/>
    <p:sldId id="556" r:id="rId12"/>
    <p:sldId id="303" r:id="rId13"/>
    <p:sldId id="304" r:id="rId14"/>
    <p:sldId id="301" r:id="rId1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69" autoAdjust="0"/>
  </p:normalViewPr>
  <p:slideViewPr>
    <p:cSldViewPr snapToGrid="0">
      <p:cViewPr varScale="1">
        <p:scale>
          <a:sx n="152" d="100"/>
          <a:sy n="152" d="100"/>
        </p:scale>
        <p:origin x="2060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4-02T12:40:40.607" v="50" actId="478"/>
      <pc:docMkLst>
        <pc:docMk/>
      </pc:docMkLst>
      <pc:sldChg chg="addSp delSp modSp mod">
        <pc:chgData name="Tiago Janela" userId="ee1a79fe-c79c-4f34-9602-7f6f2f0482b3" providerId="ADAL" clId="{A1A622BE-A8AD-47B7-8802-BAC61BCE5126}" dt="2026-04-02T12:40:40.607" v="50" actId="478"/>
        <pc:sldMkLst>
          <pc:docMk/>
          <pc:sldMk cId="1707478755" sldId="299"/>
        </pc:sldMkLst>
        <pc:graphicFrameChg chg="add del modGraphic">
          <ac:chgData name="Tiago Janela" userId="ee1a79fe-c79c-4f34-9602-7f6f2f0482b3" providerId="ADAL" clId="{A1A622BE-A8AD-47B7-8802-BAC61BCE5126}" dt="2026-04-02T12:40:40.607" v="50" actId="478"/>
          <ac:graphicFrameMkLst>
            <pc:docMk/>
            <pc:sldMk cId="1707478755" sldId="299"/>
            <ac:graphicFrameMk id="4" creationId="{689F2044-8E26-DCF5-DE2D-9AD979C8C1EE}"/>
          </ac:graphicFrameMkLst>
        </pc:graphicFrameChg>
      </pc:sldChg>
    </pc:docChg>
  </pc:docChgLst>
  <pc:docChgLst>
    <pc:chgData name="Tiago Janela" userId="ee1a79fe-c79c-4f34-9602-7f6f2f0482b3" providerId="ADAL" clId="{FF6951D0-D029-4985-BC76-70E5B4A62478}"/>
    <pc:docChg chg="addSld modSld sldOrd">
      <pc:chgData name="Tiago Janela" userId="ee1a79fe-c79c-4f34-9602-7f6f2f0482b3" providerId="ADAL" clId="{FF6951D0-D029-4985-BC76-70E5B4A62478}" dt="2026-04-24T09:48:18.185" v="6"/>
      <pc:docMkLst>
        <pc:docMk/>
      </pc:docMkLst>
      <pc:sldChg chg="modSp mod">
        <pc:chgData name="Tiago Janela" userId="ee1a79fe-c79c-4f34-9602-7f6f2f0482b3" providerId="ADAL" clId="{FF6951D0-D029-4985-BC76-70E5B4A62478}" dt="2026-04-24T09:45:33.131" v="1" actId="20577"/>
        <pc:sldMkLst>
          <pc:docMk/>
          <pc:sldMk cId="1707478755" sldId="299"/>
        </pc:sldMkLst>
        <pc:spChg chg="mod">
          <ac:chgData name="Tiago Janela" userId="ee1a79fe-c79c-4f34-9602-7f6f2f0482b3" providerId="ADAL" clId="{FF6951D0-D029-4985-BC76-70E5B4A62478}" dt="2026-04-24T09:45:33.131" v="1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mod ord modShow">
        <pc:chgData name="Tiago Janela" userId="ee1a79fe-c79c-4f34-9602-7f6f2f0482b3" providerId="ADAL" clId="{FF6951D0-D029-4985-BC76-70E5B4A62478}" dt="2026-04-24T09:47:45.785" v="5"/>
        <pc:sldMkLst>
          <pc:docMk/>
          <pc:sldMk cId="2375808848" sldId="301"/>
        </pc:sldMkLst>
      </pc:sldChg>
      <pc:sldChg chg="add">
        <pc:chgData name="Tiago Janela" userId="ee1a79fe-c79c-4f34-9602-7f6f2f0482b3" providerId="ADAL" clId="{FF6951D0-D029-4985-BC76-70E5B4A62478}" dt="2026-04-24T09:47:35.256" v="2"/>
        <pc:sldMkLst>
          <pc:docMk/>
          <pc:sldMk cId="921095034" sldId="519"/>
        </pc:sldMkLst>
      </pc:sldChg>
      <pc:sldChg chg="add">
        <pc:chgData name="Tiago Janela" userId="ee1a79fe-c79c-4f34-9602-7f6f2f0482b3" providerId="ADAL" clId="{FF6951D0-D029-4985-BC76-70E5B4A62478}" dt="2026-04-24T09:48:18.185" v="6"/>
        <pc:sldMkLst>
          <pc:docMk/>
          <pc:sldMk cId="2674446027" sldId="556"/>
        </pc:sldMkLst>
      </pc:sldChg>
    </pc:docChg>
  </pc:docChgLst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95F6FA-647C-4311-838E-A4FEC80CEF77}" type="datetimeFigureOut">
              <a:rPr lang="de-DE" smtClean="0"/>
              <a:t>24.04.2026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CB59DE-A395-4FE1-AF6E-B266016DC7B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1869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a concrete example. </a:t>
            </a:r>
          </a:p>
          <a:p>
            <a:endParaRPr lang="en-US" dirty="0"/>
          </a:p>
          <a:p>
            <a:r>
              <a:rPr lang="en-US" dirty="0"/>
              <a:t>The user asks the system to take a kinase selectivity dataset, split it using scaffold partitioning, train a random forest with cross-validated hyperparameter optimization, and report performance. </a:t>
            </a:r>
          </a:p>
          <a:p>
            <a:endParaRPr lang="en-US" dirty="0"/>
          </a:p>
          <a:p>
            <a:r>
              <a:rPr lang="en-US" dirty="0"/>
              <a:t>The agent handles all of this autonomously. This workflow would normally require writing and debugging a Python script — here it's done through a text prompt.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1D436-8E8C-482D-8D71-F0E649122FF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9654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5D11D-EA46-9A83-3E55-EA32102FD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82B54D5D-CDA7-0157-77E7-1FDE8EDD9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5DF8A04-46B2-BA00-FB5D-DACB585F0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practical advantages: it serves as a visual aid for medicinal chemists, increasing trust in ML predictions through transparency. </a:t>
            </a:r>
          </a:p>
          <a:p>
            <a:endParaRPr lang="en-US" dirty="0"/>
          </a:p>
          <a:p>
            <a:r>
              <a:rPr lang="en-US" dirty="0"/>
              <a:t>It's fully integrated with an LLM, so it's ready to use. </a:t>
            </a:r>
          </a:p>
          <a:p>
            <a:endParaRPr lang="en-US" dirty="0"/>
          </a:p>
          <a:p>
            <a:r>
              <a:rPr lang="en-US" dirty="0"/>
              <a:t>And it's built on open-source models, making it accessible and adaptable to different needs</a:t>
            </a:r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FB29BA-E2DC-742B-7EFE-FDB0758980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1D436-8E8C-482D-8D71-F0E649122F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5246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6509" y="2127309"/>
            <a:ext cx="7810981" cy="335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b="1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b="1" spc="-1" dirty="0">
                <a:solidFill>
                  <a:srgbClr val="000000"/>
                </a:solidFill>
                <a:latin typeface="Century Gothic"/>
              </a:rPr>
              <a:t> 3.6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, Gemma 4, etc.)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B66AB-4C34-335D-C637-6159F7C9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F82143BD-207C-0F21-595D-2BC5AB956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pt-PT" sz="3200" b="0" strike="noStrike" spc="-1" dirty="0" err="1">
                <a:solidFill>
                  <a:srgbClr val="0064C8"/>
                </a:solidFill>
                <a:latin typeface="Century Gothic"/>
              </a:rPr>
              <a:t>Practical</a:t>
            </a:r>
            <a:r>
              <a:rPr lang="pt-PT" sz="3200" b="0" strike="noStrike" spc="-1" dirty="0">
                <a:solidFill>
                  <a:srgbClr val="0064C8"/>
                </a:solidFill>
                <a:latin typeface="Century Gothic"/>
              </a:rPr>
              <a:t> </a:t>
            </a:r>
            <a:r>
              <a:rPr lang="pt-PT" sz="3200" b="0" strike="noStrike" spc="-1" dirty="0" err="1">
                <a:solidFill>
                  <a:srgbClr val="0064C8"/>
                </a:solidFill>
                <a:latin typeface="Century Gothic"/>
              </a:rPr>
              <a:t>Example</a:t>
            </a:r>
            <a:r>
              <a:rPr lang="pt-PT" sz="3200" b="0" strike="noStrike" spc="-1" dirty="0">
                <a:solidFill>
                  <a:srgbClr val="0064C8"/>
                </a:solidFill>
                <a:latin typeface="Century Gothic"/>
              </a:rPr>
              <a:t> - ML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44B88D20-671C-6A36-AD5A-B00142FEB55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CFDAB819-6BAF-B7C7-0B20-F55019CACA6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419004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b="1" strike="noStrike" spc="-1" dirty="0">
                <a:latin typeface="Century Gothic"/>
              </a:rPr>
              <a:t>ML prompt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400" spc="-1" dirty="0">
                <a:solidFill>
                  <a:srgbClr val="000000"/>
                </a:solidFill>
                <a:latin typeface="Century Gothic"/>
              </a:rPr>
              <a:t>For the given curated dataset ‘kinase_selectivity.csv’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4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400" spc="-1" dirty="0">
                <a:solidFill>
                  <a:srgbClr val="000000"/>
                </a:solidFill>
                <a:latin typeface="Century Gothic"/>
              </a:rPr>
              <a:t>Split the data using a scaffold split using a ratio of  80%/20% train/test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4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400" spc="-1" dirty="0">
                <a:solidFill>
                  <a:srgbClr val="000000"/>
                </a:solidFill>
                <a:latin typeface="Century Gothic"/>
              </a:rPr>
              <a:t>Train an RF model and perform a 5-fold CV for hyperparameter optimization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4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400" spc="-1" dirty="0">
                <a:solidFill>
                  <a:srgbClr val="000000"/>
                </a:solidFill>
                <a:latin typeface="Century Gothic"/>
              </a:rPr>
              <a:t>Calculate and display the test set performance using appropriate metrics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877CA3-72FB-5BAD-B036-17D15BFC3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608" y="1246234"/>
            <a:ext cx="4140000" cy="442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095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SHAP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for a given compound with SHAP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MolAnchor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(Anchor and substructure occurrence)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BC6A26-9CF7-7B03-D767-F8B5CB55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811" t="-1266" r="-2705" b="-5248"/>
          <a:stretch/>
        </p:blipFill>
        <p:spPr>
          <a:xfrm>
            <a:off x="4313911" y="1075604"/>
            <a:ext cx="4307305" cy="40259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F84ACB-0B25-83EE-C843-9841A30F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4862478"/>
            <a:ext cx="4051300" cy="108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88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MolCE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7453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For instances: See both substituent and scaffold foils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(occurrence, contrastive score)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448BF6-C81C-6C8D-8F4B-2F0B75A5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622" y="990120"/>
            <a:ext cx="4557038" cy="3008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67D0B5-80AA-A015-D6E0-17D1621B9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622" y="3998266"/>
            <a:ext cx="4557038" cy="214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29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EdgeSHAPer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74529" y="1371598"/>
            <a:ext cx="425152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Prompt: Train a GNN model on a binary dataset and explain a correctly predicted active compound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LLM selects the architecture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Reports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A85E66-1EFD-47C3-862B-21979C1F5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63" y="1174421"/>
            <a:ext cx="3804481" cy="26129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EE4EBE-BE81-4F15-9C55-5A2351D3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5563" y="4610647"/>
            <a:ext cx="3804480" cy="11310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B3B521-7DFA-48D0-AB2D-3890673F8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563" y="3786896"/>
            <a:ext cx="3804480" cy="83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285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EdgeSHAPer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74529" y="1371598"/>
            <a:ext cx="425152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Explanation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Visualization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b="1" spc="-1" dirty="0">
                <a:solidFill>
                  <a:srgbClr val="000000"/>
                </a:solidFill>
                <a:latin typeface="Century Gothic"/>
              </a:rPr>
              <a:t>Interpretation by LLM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E98D6943-8123-432E-B888-F72E412B7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52648" y="3342695"/>
            <a:ext cx="657242" cy="6572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7E8F3-108A-471B-965A-75C4C333D3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5455"/>
          <a:stretch/>
        </p:blipFill>
        <p:spPr>
          <a:xfrm>
            <a:off x="4698409" y="1007015"/>
            <a:ext cx="3927583" cy="20812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2944AD-320D-42C0-A96F-022974D40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09" y="3088293"/>
            <a:ext cx="3927582" cy="303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4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5A1B2-7A92-53AE-94A1-C4092E55B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>
            <a:extLst>
              <a:ext uri="{FF2B5EF4-FFF2-40B4-BE49-F238E27FC236}">
                <a16:creationId xmlns:a16="http://schemas.microsoft.com/office/drawing/2014/main" id="{F4F64255-0CB6-D441-EB42-A827943DC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Agent Advantages and Improvements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9" name="PlaceHolder 2">
            <a:extLst>
              <a:ext uri="{FF2B5EF4-FFF2-40B4-BE49-F238E27FC236}">
                <a16:creationId xmlns:a16="http://schemas.microsoft.com/office/drawing/2014/main" id="{D59FF44B-6222-67BD-CD20-4D01B6DF976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382679" y="1371600"/>
            <a:ext cx="8378281" cy="4321079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0" indent="0"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None/>
            </a:pPr>
            <a:r>
              <a:rPr lang="en-US" sz="2000" b="1" strike="noStrike" spc="-1" dirty="0">
                <a:latin typeface="Century Gothic"/>
              </a:rPr>
              <a:t>Practical advantages</a:t>
            </a:r>
            <a:r>
              <a:rPr lang="en-US" sz="2000" strike="noStrike" spc="-1" dirty="0">
                <a:latin typeface="Century Gothic"/>
              </a:rPr>
              <a:t> </a:t>
            </a:r>
          </a:p>
          <a:p>
            <a:pPr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latin typeface="Century Gothic"/>
              </a:rPr>
              <a:t>Visual aid for chemists → Increase transparency in ML predictions  </a:t>
            </a:r>
          </a:p>
          <a:p>
            <a:pPr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latin typeface="Century Gothic"/>
              </a:rPr>
              <a:t>Built on Open-source LLMs → Accessible to the community</a:t>
            </a:r>
          </a:p>
          <a:p>
            <a:pPr marL="0" indent="0"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None/>
            </a:pPr>
            <a:r>
              <a:rPr lang="en-US" sz="2000" b="1" spc="-1" dirty="0">
                <a:latin typeface="Century Gothic"/>
              </a:rPr>
              <a:t>Points to evaluate and improve</a:t>
            </a:r>
          </a:p>
          <a:p>
            <a:pPr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latin typeface="Century Gothic"/>
              </a:rPr>
              <a:t>Susceptibility to LLM hallucinations →  Use domain-specific models</a:t>
            </a:r>
            <a:endParaRPr lang="en-US" sz="1800" b="1" spc="-1" dirty="0">
              <a:latin typeface="Century Gothic"/>
            </a:endParaRPr>
          </a:p>
          <a:p>
            <a:pPr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latin typeface="Century Gothic"/>
              </a:rPr>
              <a:t>Requires careful prompt curation → Addition of interactive chat feature</a:t>
            </a:r>
            <a:endParaRPr lang="en-US" sz="1800" b="1" spc="-1" dirty="0">
              <a:latin typeface="Century Gothic"/>
            </a:endParaRPr>
          </a:p>
          <a:p>
            <a:pPr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sz="1800" spc="-1" dirty="0">
              <a:latin typeface="Century Gothic"/>
            </a:endParaRPr>
          </a:p>
          <a:p>
            <a:pPr marL="0" indent="0"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None/>
            </a:pPr>
            <a:endParaRPr lang="en-US" sz="2000" spc="-1" dirty="0">
              <a:latin typeface="Century Gothic"/>
            </a:endParaRPr>
          </a:p>
          <a:p>
            <a:pPr lvl="1">
              <a:spcBef>
                <a:spcPts val="400"/>
              </a:spcBef>
              <a:spcAft>
                <a:spcPts val="2400"/>
              </a:spcAft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sz="1400" strike="noStrike" spc="-1" dirty="0">
              <a:latin typeface="Century Gothic"/>
            </a:endParaRPr>
          </a:p>
        </p:txBody>
      </p:sp>
      <p:sp>
        <p:nvSpPr>
          <p:cNvPr id="160" name="PlaceHolder 3">
            <a:extLst>
              <a:ext uri="{FF2B5EF4-FFF2-40B4-BE49-F238E27FC236}">
                <a16:creationId xmlns:a16="http://schemas.microsoft.com/office/drawing/2014/main" id="{0DF1A3F0-772D-A247-0D44-2C215E694721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7D48D3EA-1A87-4EB3-8072-3AEE88103579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74446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To do list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11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Integrate with cluster for faster inference and explore larger LLMs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It works already on the workstations with medium-to-large LLMs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Clean up the repository and make it available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“organization repository” is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 guide for lab members for the implementation of AI agents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Framing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How to frame the project: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proof-of-concept study?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applied to molecular design?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specific to molecular selectivity?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modular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-enhanced platform for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chemoinformatics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? 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4879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571</Words>
  <Application>Microsoft Office PowerPoint</Application>
  <PresentationFormat>On-screen Show (4:3)</PresentationFormat>
  <Paragraphs>140</Paragraphs>
  <Slides>13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Aptos</vt:lpstr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Practical Example - ML</vt:lpstr>
      <vt:lpstr>Exemplary answer output SHAP</vt:lpstr>
      <vt:lpstr>Exemplary answer output MolAnchor</vt:lpstr>
      <vt:lpstr>Exemplary answer output MolCE</vt:lpstr>
      <vt:lpstr>Exemplary answer output EdgeSHAPer</vt:lpstr>
      <vt:lpstr>Exemplary answer output EdgeSHAPer</vt:lpstr>
      <vt:lpstr>Agent Advantages and Improvements</vt:lpstr>
      <vt:lpstr>To do list</vt:lpstr>
      <vt:lpstr>Framing</vt:lpstr>
      <vt:lpstr>Exemplary answer output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Tiago Janela</cp:lastModifiedBy>
  <cp:revision>1673</cp:revision>
  <cp:lastPrinted>2019-01-04T13:46:38Z</cp:lastPrinted>
  <dcterms:created xsi:type="dcterms:W3CDTF">2006-08-16T00:00:00Z</dcterms:created>
  <dcterms:modified xsi:type="dcterms:W3CDTF">2026-04-24T10:31:15Z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