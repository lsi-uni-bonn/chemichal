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16"/>
  </p:notesMasterIdLst>
  <p:sldIdLst>
    <p:sldId id="297" r:id="rId3"/>
    <p:sldId id="298" r:id="rId4"/>
    <p:sldId id="308" r:id="rId5"/>
    <p:sldId id="299" r:id="rId6"/>
    <p:sldId id="310" r:id="rId7"/>
    <p:sldId id="309" r:id="rId8"/>
    <p:sldId id="311" r:id="rId9"/>
    <p:sldId id="312" r:id="rId10"/>
    <p:sldId id="313" r:id="rId11"/>
    <p:sldId id="314" r:id="rId12"/>
    <p:sldId id="315" r:id="rId13"/>
    <p:sldId id="316" r:id="rId14"/>
    <p:sldId id="303" r:id="rId15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C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69" autoAdjust="0"/>
  </p:normalViewPr>
  <p:slideViewPr>
    <p:cSldViewPr snapToGrid="0">
      <p:cViewPr varScale="1">
        <p:scale>
          <a:sx n="120" d="100"/>
          <a:sy n="120" d="100"/>
        </p:scale>
        <p:origin x="1344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67D2C233-DF3C-4C6D-9040-D7553E3BCB8A}"/>
    <pc:docChg chg="delSld modSld">
      <pc:chgData name="Tiago Janela" userId="ee1a79fe-c79c-4f34-9602-7f6f2f0482b3" providerId="ADAL" clId="{67D2C233-DF3C-4C6D-9040-D7553E3BCB8A}" dt="2026-03-16T14:03:02.466" v="54" actId="20577"/>
      <pc:docMkLst>
        <pc:docMk/>
      </pc:docMkLst>
      <pc:sldChg chg="modSp mod">
        <pc:chgData name="Tiago Janela" userId="ee1a79fe-c79c-4f34-9602-7f6f2f0482b3" providerId="ADAL" clId="{67D2C233-DF3C-4C6D-9040-D7553E3BCB8A}" dt="2026-03-16T14:03:02.466" v="54" actId="20577"/>
        <pc:sldMkLst>
          <pc:docMk/>
          <pc:sldMk cId="829672710" sldId="297"/>
        </pc:sldMkLst>
        <pc:spChg chg="mod">
          <ac:chgData name="Tiago Janela" userId="ee1a79fe-c79c-4f34-9602-7f6f2f0482b3" providerId="ADAL" clId="{67D2C233-DF3C-4C6D-9040-D7553E3BCB8A}" dt="2026-03-16T14:03:02.466" v="54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67D2C233-DF3C-4C6D-9040-D7553E3BCB8A}" dt="2026-03-16T14:02:34.148" v="0" actId="20577"/>
        <pc:sldMkLst>
          <pc:docMk/>
          <pc:sldMk cId="721732568" sldId="298"/>
        </pc:sldMkLst>
        <pc:spChg chg="mod">
          <ac:chgData name="Tiago Janela" userId="ee1a79fe-c79c-4f34-9602-7f6f2f0482b3" providerId="ADAL" clId="{67D2C233-DF3C-4C6D-9040-D7553E3BCB8A}" dt="2026-03-16T14:02:34.148" v="0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  <pc:docChgLst>
    <pc:chgData name="Tiago Janela" userId="ee1a79fe-c79c-4f34-9602-7f6f2f0482b3" providerId="ADAL" clId="{6BE67FA1-4A27-48B9-BA6A-E25A9786A9CC}"/>
    <pc:docChg chg="undo custSel addSld modSld sldOrd">
      <pc:chgData name="Tiago Janela" userId="ee1a79fe-c79c-4f34-9602-7f6f2f0482b3" providerId="ADAL" clId="{6BE67FA1-4A27-48B9-BA6A-E25A9786A9CC}" dt="2026-03-20T13:52:23.099" v="1063" actId="20577"/>
      <pc:docMkLst>
        <pc:docMk/>
      </pc:docMkLst>
      <pc:sldChg chg="addSp modSp mod">
        <pc:chgData name="Tiago Janela" userId="ee1a79fe-c79c-4f34-9602-7f6f2f0482b3" providerId="ADAL" clId="{6BE67FA1-4A27-48B9-BA6A-E25A9786A9CC}" dt="2026-03-19T10:54:12.398" v="162" actId="1076"/>
        <pc:sldMkLst>
          <pc:docMk/>
          <pc:sldMk cId="721732568" sldId="298"/>
        </pc:sldMkLst>
        <pc:spChg chg="mod">
          <ac:chgData name="Tiago Janela" userId="ee1a79fe-c79c-4f34-9602-7f6f2f0482b3" providerId="ADAL" clId="{6BE67FA1-4A27-48B9-BA6A-E25A9786A9CC}" dt="2026-03-19T10:51:19.221" v="88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6BE67FA1-4A27-48B9-BA6A-E25A9786A9CC}" dt="2026-03-19T10:37:44.329" v="9" actId="20577"/>
          <ac:spMkLst>
            <pc:docMk/>
            <pc:sldMk cId="721732568" sldId="298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19T10:54:12.398" v="162" actId="1076"/>
          <ac:picMkLst>
            <pc:docMk/>
            <pc:sldMk cId="721732568" sldId="298"/>
            <ac:picMk id="4" creationId="{A9172708-06AB-AE7A-4BC0-05B1328EE700}"/>
          </ac:picMkLst>
        </pc:picChg>
      </pc:sldChg>
      <pc:sldChg chg="delSp modSp add mod">
        <pc:chgData name="Tiago Janela" userId="ee1a79fe-c79c-4f34-9602-7f6f2f0482b3" providerId="ADAL" clId="{6BE67FA1-4A27-48B9-BA6A-E25A9786A9CC}" dt="2026-03-19T10:59:23.180" v="500" actId="20577"/>
        <pc:sldMkLst>
          <pc:docMk/>
          <pc:sldMk cId="1707478755" sldId="299"/>
        </pc:sldMkLst>
        <pc:spChg chg="mod">
          <ac:chgData name="Tiago Janela" userId="ee1a79fe-c79c-4f34-9602-7f6f2f0482b3" providerId="ADAL" clId="{6BE67FA1-4A27-48B9-BA6A-E25A9786A9CC}" dt="2026-03-19T10:59:23.180" v="500" actId="20577"/>
          <ac:spMkLst>
            <pc:docMk/>
            <pc:sldMk cId="1707478755" sldId="299"/>
            <ac:spMk id="2" creationId="{870990D0-7AC5-46BA-6FC4-274F8E0A3ABE}"/>
          </ac:spMkLst>
        </pc:spChg>
      </pc:sldChg>
      <pc:sldChg chg="addSp delSp modSp add mod">
        <pc:chgData name="Tiago Janela" userId="ee1a79fe-c79c-4f34-9602-7f6f2f0482b3" providerId="ADAL" clId="{6BE67FA1-4A27-48B9-BA6A-E25A9786A9CC}" dt="2026-03-20T13:21:59.221" v="1059" actId="20577"/>
        <pc:sldMkLst>
          <pc:docMk/>
          <pc:sldMk cId="457486825" sldId="300"/>
        </pc:sldMkLst>
        <pc:spChg chg="add mod">
          <ac:chgData name="Tiago Janela" userId="ee1a79fe-c79c-4f34-9602-7f6f2f0482b3" providerId="ADAL" clId="{6BE67FA1-4A27-48B9-BA6A-E25A9786A9CC}" dt="2026-03-20T13:21:59.221" v="1059" actId="20577"/>
          <ac:spMkLst>
            <pc:docMk/>
            <pc:sldMk cId="457486825" sldId="300"/>
            <ac:spMk id="7" creationId="{66DE14D4-64D4-6D1F-DD92-BC16D674C58B}"/>
          </ac:spMkLst>
        </pc:spChg>
        <pc:spChg chg="mod">
          <ac:chgData name="Tiago Janela" userId="ee1a79fe-c79c-4f34-9602-7f6f2f0482b3" providerId="ADAL" clId="{6BE67FA1-4A27-48B9-BA6A-E25A9786A9CC}" dt="2026-03-20T13:08:59.412" v="584" actId="20577"/>
          <ac:spMkLst>
            <pc:docMk/>
            <pc:sldMk cId="457486825" sldId="300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20T13:19:08.305" v="821" actId="1076"/>
          <ac:picMkLst>
            <pc:docMk/>
            <pc:sldMk cId="457486825" sldId="300"/>
            <ac:picMk id="4" creationId="{0F3D5BC1-9264-881D-CF39-9525F816570A}"/>
          </ac:picMkLst>
        </pc:picChg>
      </pc:sldChg>
      <pc:sldChg chg="delSp modSp add mod ord">
        <pc:chgData name="Tiago Janela" userId="ee1a79fe-c79c-4f34-9602-7f6f2f0482b3" providerId="ADAL" clId="{6BE67FA1-4A27-48B9-BA6A-E25A9786A9CC}" dt="2026-03-20T13:52:23.099" v="1063" actId="20577"/>
        <pc:sldMkLst>
          <pc:docMk/>
          <pc:sldMk cId="2375808848" sldId="301"/>
        </pc:sldMkLst>
        <pc:spChg chg="mod">
          <ac:chgData name="Tiago Janela" userId="ee1a79fe-c79c-4f34-9602-7f6f2f0482b3" providerId="ADAL" clId="{6BE67FA1-4A27-48B9-BA6A-E25A9786A9CC}" dt="2026-03-20T13:52:23.099" v="1063" actId="20577"/>
          <ac:spMkLst>
            <pc:docMk/>
            <pc:sldMk cId="2375808848" sldId="301"/>
            <ac:spMk id="2" creationId="{870990D0-7AC5-46BA-6FC4-274F8E0A3ABE}"/>
          </ac:spMkLst>
        </pc:spChg>
        <pc:picChg chg="mod">
          <ac:chgData name="Tiago Janela" userId="ee1a79fe-c79c-4f34-9602-7f6f2f0482b3" providerId="ADAL" clId="{6BE67FA1-4A27-48B9-BA6A-E25A9786A9CC}" dt="2026-03-20T13:17:16.190" v="611" actId="1076"/>
          <ac:picMkLst>
            <pc:docMk/>
            <pc:sldMk cId="2375808848" sldId="301"/>
            <ac:picMk id="6" creationId="{D3BA145D-265C-C0B1-7C0E-2EE32552E491}"/>
          </ac:picMkLst>
        </pc:picChg>
      </pc:sldChg>
    </pc:docChg>
  </pc:docChgLst>
  <pc:docChgLst>
    <pc:chgData name="Tiago Janela" userId="ee1a79fe-c79c-4f34-9602-7f6f2f0482b3" providerId="ADAL" clId="{A1A622BE-A8AD-47B7-8802-BAC61BCE5126}"/>
    <pc:docChg chg="undo custSel modSld">
      <pc:chgData name="Tiago Janela" userId="ee1a79fe-c79c-4f34-9602-7f6f2f0482b3" providerId="ADAL" clId="{A1A622BE-A8AD-47B7-8802-BAC61BCE5126}" dt="2026-04-02T12:40:40.607" v="50" actId="478"/>
      <pc:docMkLst>
        <pc:docMk/>
      </pc:docMkLst>
      <pc:sldChg chg="addSp delSp modSp mod">
        <pc:chgData name="Tiago Janela" userId="ee1a79fe-c79c-4f34-9602-7f6f2f0482b3" providerId="ADAL" clId="{A1A622BE-A8AD-47B7-8802-BAC61BCE5126}" dt="2026-04-02T12:40:40.607" v="50" actId="478"/>
        <pc:sldMkLst>
          <pc:docMk/>
          <pc:sldMk cId="1707478755" sldId="299"/>
        </pc:sldMkLst>
        <pc:graphicFrameChg chg="add del modGraphic">
          <ac:chgData name="Tiago Janela" userId="ee1a79fe-c79c-4f34-9602-7f6f2f0482b3" providerId="ADAL" clId="{A1A622BE-A8AD-47B7-8802-BAC61BCE5126}" dt="2026-04-02T12:40:40.607" v="50" actId="478"/>
          <ac:graphicFrameMkLst>
            <pc:docMk/>
            <pc:sldMk cId="1707478755" sldId="299"/>
            <ac:graphicFrameMk id="4" creationId="{689F2044-8E26-DCF5-DE2D-9AD979C8C1EE}"/>
          </ac:graphicFrameMkLst>
        </pc:graphicFrameChg>
      </pc:sldChg>
    </pc:docChg>
  </pc:docChgLst>
  <pc:docChgLst>
    <pc:chgData name="Tiago Janela" userId="ee1a79fe-c79c-4f34-9602-7f6f2f0482b3" providerId="ADAL" clId="{97693404-9C1B-400A-95DF-A7B72570E7A0}"/>
    <pc:docChg chg="undo custSel addSld delSld modSld sldOrd">
      <pc:chgData name="Tiago Janela" userId="ee1a79fe-c79c-4f34-9602-7f6f2f0482b3" providerId="ADAL" clId="{97693404-9C1B-400A-95DF-A7B72570E7A0}" dt="2026-03-09T10:33:25.226" v="5259" actId="20577"/>
      <pc:docMkLst>
        <pc:docMk/>
      </pc:docMkLst>
      <pc:sldChg chg="modSp mod">
        <pc:chgData name="Tiago Janela" userId="ee1a79fe-c79c-4f34-9602-7f6f2f0482b3" providerId="ADAL" clId="{97693404-9C1B-400A-95DF-A7B72570E7A0}" dt="2026-03-09T10:32:29.235" v="5249" actId="20577"/>
        <pc:sldMkLst>
          <pc:docMk/>
          <pc:sldMk cId="721732568" sldId="298"/>
        </pc:sldMkLst>
        <pc:spChg chg="mod">
          <ac:chgData name="Tiago Janela" userId="ee1a79fe-c79c-4f34-9602-7f6f2f0482b3" providerId="ADAL" clId="{97693404-9C1B-400A-95DF-A7B72570E7A0}" dt="2026-03-09T10:32:29.235" v="5249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EC3DE1-3765-45C5-94E7-BC41A6E38B2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EBC085-3709-4EED-9401-54C6FC7AFF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496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63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819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738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57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2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4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5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6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24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pic>
        <p:nvPicPr>
          <p:cNvPr id="25" name="Picture 1"/>
          <p:cNvPicPr/>
          <p:nvPr/>
        </p:nvPicPr>
        <p:blipFill>
          <a:blip r:embed="rId17"/>
          <a:stretch/>
        </p:blipFill>
        <p:spPr>
          <a:xfrm>
            <a:off x="6580080" y="329400"/>
            <a:ext cx="1954080" cy="66708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My talk – first line</a:t>
            </a:r>
            <a:br/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second line</a:t>
            </a:r>
            <a:endParaRPr lang="en-US" sz="3200" b="0" strike="noStrike" spc="-1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27" name="Picture 4" descr="bit-lsi-logo-final"/>
          <p:cNvPicPr/>
          <p:nvPr/>
        </p:nvPicPr>
        <p:blipFill>
          <a:blip r:embed="rId18"/>
          <a:stretch/>
        </p:blipFill>
        <p:spPr>
          <a:xfrm>
            <a:off x="609480" y="317520"/>
            <a:ext cx="1433520" cy="1022760"/>
          </a:xfrm>
          <a:prstGeom prst="rect">
            <a:avLst/>
          </a:prstGeom>
          <a:ln w="0">
            <a:noFill/>
          </a:ln>
        </p:spPr>
      </p:pic>
      <p:sp>
        <p:nvSpPr>
          <p:cNvPr id="28" name="Line 7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29" name="Line 8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0" name="Line 9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1" name="Line 10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2" name="Line 11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3" name="Line 12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pic>
        <p:nvPicPr>
          <p:cNvPr id="54" name="Picture 5" descr="A blue and pink triangle on a black background&#10;&#10;Description automatically generated"/>
          <p:cNvPicPr/>
          <p:nvPr/>
        </p:nvPicPr>
        <p:blipFill>
          <a:blip r:embed="rId19"/>
          <a:stretch/>
        </p:blipFill>
        <p:spPr>
          <a:xfrm>
            <a:off x="2913840" y="76320"/>
            <a:ext cx="2455200" cy="135396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entury Gothic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94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95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96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97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8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9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0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1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2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3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4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5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6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7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8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9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0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1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2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3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4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5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116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Century Gothic"/>
              </a:rPr>
              <a:t>Click to edit the title text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Click to edit Master text styles</a:t>
            </a: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StarSymbol"/>
              <a:buChar char="-"/>
            </a:pPr>
            <a:r>
              <a:rPr lang="en-US" sz="1800" b="0" strike="noStrike" spc="-1">
                <a:solidFill>
                  <a:srgbClr val="000000"/>
                </a:solidFill>
                <a:latin typeface="Century Gothic"/>
              </a:rPr>
              <a:t>Second level</a:t>
            </a: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level</a:t>
            </a:r>
          </a:p>
          <a:p>
            <a:pPr marL="1600200" lvl="3" indent="-2286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Calibri"/>
              <a:buChar char="-"/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Fourth level</a:t>
            </a:r>
          </a:p>
          <a:p>
            <a:pPr marL="18288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Fifth level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F6156E8F-3799-4EE2-B4AD-B038F32766C1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GB" sz="3200" b="0" strike="noStrike" spc="-1" dirty="0">
                <a:solidFill>
                  <a:srgbClr val="0064C8"/>
                </a:solidFill>
                <a:latin typeface="Century Gothic"/>
                <a:ea typeface="Calibri"/>
              </a:rPr>
              <a:t>AI Agent for Chemical Explainability</a:t>
            </a:r>
            <a:endParaRPr lang="en-US" sz="320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subTitle"/>
          </p:nvPr>
        </p:nvSpPr>
        <p:spPr>
          <a:xfrm>
            <a:off x="686520" y="4361040"/>
            <a:ext cx="7997400" cy="17755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Department of Life Science Informatics, B-IT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Lamarr Institute for Machine Learning and Artificial Intelligence                   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LIMES Institute Program Unit Medicinal Chemistry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Rheinische Friedrich-Wilhelms-Universität Bonn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GB" sz="20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672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Project description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713065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Aim: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Design an agentic AI framework for interpretable AI applied to QSAR tasks  </a:t>
            </a: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6509" y="2127309"/>
            <a:ext cx="7810981" cy="3354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32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Project goals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Goal: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Showcase the utility of Agentic AI combined with XAI: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Provide access to interpretable AI for non-coding chemists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Highlight where using agentic AI can be a advantage over running analysis manually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2106" y="2982097"/>
            <a:ext cx="7159787" cy="3075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010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Project setup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79" y="1355697"/>
            <a:ext cx="5248644" cy="4643307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Framework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LM Studio + Open Source LLM  (</a:t>
            </a:r>
            <a:r>
              <a:rPr lang="en-US" sz="1600" b="1" spc="-1" dirty="0" err="1">
                <a:solidFill>
                  <a:srgbClr val="000000"/>
                </a:solidFill>
                <a:latin typeface="Century Gothic"/>
              </a:rPr>
              <a:t>Qwen</a:t>
            </a:r>
            <a:r>
              <a:rPr lang="en-US" sz="1600" b="1" spc="-1" dirty="0">
                <a:solidFill>
                  <a:srgbClr val="000000"/>
                </a:solidFill>
                <a:latin typeface="Century Gothic"/>
              </a:rPr>
              <a:t> 3.6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ML models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Traditional ML – RF, BRF, SVM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Deep learning – DNN, GNN (GCN, GAT etc.)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Datasets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Binary bioactivity classification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Multiclass selectivity prediction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Splitting strategies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Random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Scaffold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Explainability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 methods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SHAP (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Contrastive (Counterfactuals,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MolCE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20120A-93C6-EC45-A145-4081B130C30E}"/>
              </a:ext>
            </a:extLst>
          </p:cNvPr>
          <p:cNvSpPr/>
          <p:nvPr/>
        </p:nvSpPr>
        <p:spPr>
          <a:xfrm>
            <a:off x="6394432" y="2383926"/>
            <a:ext cx="1774658" cy="23100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 descr="Customer review with solid fill">
            <a:extLst>
              <a:ext uri="{FF2B5EF4-FFF2-40B4-BE49-F238E27FC236}">
                <a16:creationId xmlns:a16="http://schemas.microsoft.com/office/drawing/2014/main" id="{EDEA14B7-C0BC-9848-C63F-327BCC90C2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03967" y="3573203"/>
            <a:ext cx="965534" cy="9655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EC186C5-E5F9-A5FB-266D-877A0F3143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0822" y="2480129"/>
            <a:ext cx="1525117" cy="996871"/>
          </a:xfrm>
          <a:prstGeom prst="rect">
            <a:avLst/>
          </a:prstGeom>
        </p:spPr>
      </p:pic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800D65FB-8069-2F90-2859-B2A57A9BB2C4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4969565" y="1868557"/>
            <a:ext cx="1424867" cy="1670401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478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1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9FA20452-FA65-AFDC-8768-AEF2985C28BC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Goal: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Showcase that the AI agent is able to use tools correctly to reproduce known results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Can the agent derive verifiable, correct chemical insight from model explanations?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218E8154-7E95-D4BE-E8AA-D3B029A12B17}"/>
              </a:ext>
            </a:extLst>
          </p:cNvPr>
          <p:cNvSpPr/>
          <p:nvPr/>
        </p:nvSpPr>
        <p:spPr>
          <a:xfrm>
            <a:off x="2604811" y="3764035"/>
            <a:ext cx="5807670" cy="1382845"/>
          </a:xfrm>
          <a:prstGeom prst="wedgeRoundRectCallout">
            <a:avLst>
              <a:gd name="adj1" fmla="val -55184"/>
              <a:gd name="adj2" fmla="val 28620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 reproducibility study for compound selectivity prediction. The goal is to train a Balanced Random Forest Classifier to distinguish PI3K-delta (</a:t>
            </a:r>
            <a:r>
              <a:rPr lang="en-US" sz="1200" dirty="0" err="1"/>
              <a:t>UniProt</a:t>
            </a:r>
            <a:r>
              <a:rPr lang="en-US" sz="1200" dirty="0"/>
              <a:t> O00329) vs PI3K-gamma (</a:t>
            </a:r>
            <a:r>
              <a:rPr lang="en-US" sz="1200" dirty="0" err="1"/>
              <a:t>UniProt</a:t>
            </a:r>
            <a:r>
              <a:rPr lang="en-US" sz="1200" dirty="0"/>
              <a:t>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88479A3-3923-48AE-F836-EB227D56F8F3}"/>
              </a:ext>
            </a:extLst>
          </p:cNvPr>
          <p:cNvGrpSpPr/>
          <p:nvPr/>
        </p:nvGrpSpPr>
        <p:grpSpPr>
          <a:xfrm>
            <a:off x="481031" y="3667833"/>
            <a:ext cx="1774658" cy="2310063"/>
            <a:chOff x="990492" y="2511372"/>
            <a:chExt cx="1774658" cy="23100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142D64-B397-2830-786D-0D3574B657AC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 descr="Customer review with solid fill">
              <a:extLst>
                <a:ext uri="{FF2B5EF4-FFF2-40B4-BE49-F238E27FC236}">
                  <a16:creationId xmlns:a16="http://schemas.microsoft.com/office/drawing/2014/main" id="{64E33793-8C2A-2656-B0ED-A696739E7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B081600-3BCF-355C-CB19-D7A38C986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3164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1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7342E73-954A-CBBA-552E-E705A6E52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880" y="1423768"/>
            <a:ext cx="8110330" cy="4687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4760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9FA20452-FA65-AFDC-8768-AEF2985C28BC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Goal: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Demonstrate the ability of the agent to provide chemically intuitive explanations for model predictions 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Can the agent correctly interpret and compare explanations derived from different XAI methods?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218E8154-7E95-D4BE-E8AA-D3B029A12B17}"/>
              </a:ext>
            </a:extLst>
          </p:cNvPr>
          <p:cNvSpPr/>
          <p:nvPr/>
        </p:nvSpPr>
        <p:spPr>
          <a:xfrm>
            <a:off x="2604811" y="3708378"/>
            <a:ext cx="5799718" cy="1634901"/>
          </a:xfrm>
          <a:prstGeom prst="wedgeRoundRectCallout">
            <a:avLst>
              <a:gd name="adj1" fmla="val -55595"/>
              <a:gd name="adj2" fmla="val 23756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1200" dirty="0" err="1"/>
              <a:t>UniProt</a:t>
            </a:r>
            <a:r>
              <a:rPr lang="en-US" sz="1200" dirty="0"/>
              <a:t> P14416) from inactive compounds, evaluate its performance, and then directly compare two pairs of explainability methods on the same on the same correctly predicted active compound:  </a:t>
            </a:r>
            <a:r>
              <a:rPr lang="en-US" sz="1200" dirty="0" err="1"/>
              <a:t>Molanchor</a:t>
            </a:r>
            <a:r>
              <a:rPr lang="en-US" sz="1200" dirty="0"/>
              <a:t> vs SHAP and </a:t>
            </a:r>
            <a:r>
              <a:rPr lang="en-US" sz="1200" dirty="0" err="1"/>
              <a:t>MolCE</a:t>
            </a:r>
            <a:r>
              <a:rPr lang="en-US" sz="1200" dirty="0"/>
              <a:t> vs Counterfactuals. Summarize where the methods agree on the structural determinants of the predictions and where they disagree.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88479A3-3923-48AE-F836-EB227D56F8F3}"/>
              </a:ext>
            </a:extLst>
          </p:cNvPr>
          <p:cNvGrpSpPr/>
          <p:nvPr/>
        </p:nvGrpSpPr>
        <p:grpSpPr>
          <a:xfrm>
            <a:off x="481031" y="3667833"/>
            <a:ext cx="1774658" cy="2310063"/>
            <a:chOff x="990492" y="2511372"/>
            <a:chExt cx="1774658" cy="23100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142D64-B397-2830-786D-0D3574B657AC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 descr="Customer review with solid fill">
              <a:extLst>
                <a:ext uri="{FF2B5EF4-FFF2-40B4-BE49-F238E27FC236}">
                  <a16:creationId xmlns:a16="http://schemas.microsoft.com/office/drawing/2014/main" id="{64E33793-8C2A-2656-B0ED-A696739E7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B081600-3BCF-355C-CB19-D7A38C986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0935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40230FB-91FB-0DC9-7BD8-1BE8E2E79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880" y="1192696"/>
            <a:ext cx="8177259" cy="4495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639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6A81ED6-143C-EB03-E019-D2947E0A8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880" y="1192696"/>
            <a:ext cx="8169237" cy="48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898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</a:t>
            </a:r>
            <a:r>
              <a:rPr lang="en-US" sz="3200" spc="-1" dirty="0">
                <a:solidFill>
                  <a:srgbClr val="0064C8"/>
                </a:solidFill>
                <a:latin typeface="Century Gothic"/>
              </a:rPr>
              <a:t>3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9FA20452-FA65-AFDC-8768-AEF2985C28BC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# Provided by the best junior research group leader I know</a:t>
            </a:r>
          </a:p>
        </p:txBody>
      </p:sp>
    </p:spTree>
    <p:extLst>
      <p:ext uri="{BB962C8B-B14F-4D97-AF65-F5344CB8AC3E}">
        <p14:creationId xmlns:p14="http://schemas.microsoft.com/office/powerpoint/2010/main" val="2667024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Conclusion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11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44684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Aim: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Design an agentic AI framework for interpretable AI applied to QSAR tasks 	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The framework allows for the building of interpretable AI without coding experience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ChemicHAL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 was able to correctly choose tools and reproduce known results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The agent provided chemical interpretation for explanations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Concluded by our Japanese emissary 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975240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Future perspective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12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44684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Make an “organization repository” available for the whole lab to ease the integration of new components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Create a guide for lab members for the implementation of AI agents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609" y="2941982"/>
            <a:ext cx="7176621" cy="3082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724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Lessons learned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13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Setup inference on a work-station (hopefully cluster in future)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The quality and choice of LLM matters a lot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Proper design of docstrings and documentation is essential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727029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504</Words>
  <Application>Microsoft Office PowerPoint</Application>
  <PresentationFormat>On-screen Show (4:3)</PresentationFormat>
  <Paragraphs>73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Aptos</vt:lpstr>
      <vt:lpstr>Arial</vt:lpstr>
      <vt:lpstr>Calibri</vt:lpstr>
      <vt:lpstr>Century Gothic</vt:lpstr>
      <vt:lpstr>StarSymbol</vt:lpstr>
      <vt:lpstr>Symbol</vt:lpstr>
      <vt:lpstr>Times New Roman</vt:lpstr>
      <vt:lpstr>Wingdings</vt:lpstr>
      <vt:lpstr>Wingdings 2</vt:lpstr>
      <vt:lpstr>Office Theme</vt:lpstr>
      <vt:lpstr>Office Theme</vt:lpstr>
      <vt:lpstr>AI Agent for Chemical Explainability</vt:lpstr>
      <vt:lpstr>Project description</vt:lpstr>
      <vt:lpstr>Project goals</vt:lpstr>
      <vt:lpstr>Project setup</vt:lpstr>
      <vt:lpstr>Prompt 1</vt:lpstr>
      <vt:lpstr>Prompt 1</vt:lpstr>
      <vt:lpstr>Prompt 2</vt:lpstr>
      <vt:lpstr>Prompt 2</vt:lpstr>
      <vt:lpstr>Prompt 2</vt:lpstr>
      <vt:lpstr>Prompt 3</vt:lpstr>
      <vt:lpstr>Conclusion</vt:lpstr>
      <vt:lpstr>Future perspective</vt:lpstr>
      <vt:lpstr>Lessons learned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Alec Lamens</cp:lastModifiedBy>
  <cp:revision>1678</cp:revision>
  <cp:lastPrinted>2019-01-04T13:46:38Z</cp:lastPrinted>
  <dcterms:created xsi:type="dcterms:W3CDTF">2006-08-16T00:00:00Z</dcterms:created>
  <dcterms:modified xsi:type="dcterms:W3CDTF">2026-04-29T12:58:32Z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5</vt:i4>
  </property>
</Properties>
</file>